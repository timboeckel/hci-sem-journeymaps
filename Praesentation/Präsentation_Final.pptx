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notesSlides/notesSlide1.xml" ContentType="application/vnd.openxmlformats-officedocument.presentationml.notesSlide+xml"/>
  <Override PartName="/ppt/media/image3.jpg" ContentType="image/png"/>
  <Override PartName="/ppt/comments/comment3.xml" ContentType="application/vnd.openxmlformats-officedocument.presentationml.comments+xml"/>
  <Override PartName="/ppt/notesSlides/notesSlide2.xml" ContentType="application/vnd.openxmlformats-officedocument.presentationml.notesSlide+xml"/>
  <Override PartName="/ppt/media/image4.jpg" ContentType="image/png"/>
  <Override PartName="/ppt/notesSlides/notesSlide3.xml" ContentType="application/vnd.openxmlformats-officedocument.presentationml.notesSlide+xml"/>
  <Override PartName="/ppt/comments/comment4.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5.xml" ContentType="application/vnd.openxmlformats-officedocument.presentationml.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67" r:id="rId3"/>
    <p:sldId id="262" r:id="rId4"/>
    <p:sldId id="261" r:id="rId5"/>
    <p:sldId id="264" r:id="rId6"/>
    <p:sldId id="265" r:id="rId7"/>
    <p:sldId id="275" r:id="rId8"/>
    <p:sldId id="257" r:id="rId9"/>
    <p:sldId id="276" r:id="rId10"/>
    <p:sldId id="258" r:id="rId11"/>
    <p:sldId id="268" r:id="rId12"/>
    <p:sldId id="270" r:id="rId13"/>
    <p:sldId id="259" r:id="rId14"/>
    <p:sldId id="263" r:id="rId15"/>
    <p:sldId id="277" r:id="rId16"/>
    <p:sldId id="272" r:id="rId17"/>
    <p:sldId id="273" r:id="rId18"/>
    <p:sldId id="274"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m Böckel" initials="TB" lastIdx="8" clrIdx="0">
    <p:extLst>
      <p:ext uri="{19B8F6BF-5375-455C-9EA6-DF929625EA0E}">
        <p15:presenceInfo xmlns:p15="http://schemas.microsoft.com/office/powerpoint/2012/main" userId="139bf3991ca4732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78DE8C-2C75-418E-9ECD-2E577A5B4B2C}" v="3" dt="2021-06-07T16:19:25.5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45" autoAdjust="0"/>
    <p:restoredTop sz="94660"/>
  </p:normalViewPr>
  <p:slideViewPr>
    <p:cSldViewPr snapToGrid="0">
      <p:cViewPr varScale="1">
        <p:scale>
          <a:sx n="114" d="100"/>
          <a:sy n="114" d="100"/>
        </p:scale>
        <p:origin x="1992" y="102"/>
      </p:cViewPr>
      <p:guideLst/>
    </p:cSldViewPr>
  </p:slideViewPr>
  <p:notesTextViewPr>
    <p:cViewPr>
      <p:scale>
        <a:sx n="3" d="2"/>
        <a:sy n="3" d="2"/>
      </p:scale>
      <p:origin x="0" y="0"/>
    </p:cViewPr>
  </p:notesTextViewPr>
  <p:notesViewPr>
    <p:cSldViewPr snapToGrid="0">
      <p:cViewPr varScale="1">
        <p:scale>
          <a:sx n="87" d="100"/>
          <a:sy n="87" d="100"/>
        </p:scale>
        <p:origin x="576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Böckel" userId="139bf3991ca47324" providerId="LiveId" clId="{1678DE8C-2C75-418E-9ECD-2E577A5B4B2C}"/>
    <pc:docChg chg="custSel modSld">
      <pc:chgData name="Tim Böckel" userId="139bf3991ca47324" providerId="LiveId" clId="{1678DE8C-2C75-418E-9ECD-2E577A5B4B2C}" dt="2021-06-07T16:19:49.018" v="13" actId="3626"/>
      <pc:docMkLst>
        <pc:docMk/>
      </pc:docMkLst>
      <pc:sldChg chg="modSp mod">
        <pc:chgData name="Tim Böckel" userId="139bf3991ca47324" providerId="LiveId" clId="{1678DE8C-2C75-418E-9ECD-2E577A5B4B2C}" dt="2021-06-07T16:18:49.063" v="3" actId="20577"/>
        <pc:sldMkLst>
          <pc:docMk/>
          <pc:sldMk cId="4153221817" sldId="267"/>
        </pc:sldMkLst>
        <pc:spChg chg="mod">
          <ac:chgData name="Tim Böckel" userId="139bf3991ca47324" providerId="LiveId" clId="{1678DE8C-2C75-418E-9ECD-2E577A5B4B2C}" dt="2021-06-07T16:18:49.063" v="3" actId="20577"/>
          <ac:spMkLst>
            <pc:docMk/>
            <pc:sldMk cId="4153221817" sldId="267"/>
            <ac:spMk id="2" creationId="{72B91607-EDD2-4B4C-872C-E119B0F85B47}"/>
          </ac:spMkLst>
        </pc:spChg>
      </pc:sldChg>
      <pc:sldChg chg="modSp mod">
        <pc:chgData name="Tim Böckel" userId="139bf3991ca47324" providerId="LiveId" clId="{1678DE8C-2C75-418E-9ECD-2E577A5B4B2C}" dt="2021-06-07T16:19:49.018" v="13" actId="3626"/>
        <pc:sldMkLst>
          <pc:docMk/>
          <pc:sldMk cId="3298032880" sldId="273"/>
        </pc:sldMkLst>
        <pc:spChg chg="mod">
          <ac:chgData name="Tim Böckel" userId="139bf3991ca47324" providerId="LiveId" clId="{1678DE8C-2C75-418E-9ECD-2E577A5B4B2C}" dt="2021-06-07T16:19:49.018" v="13" actId="3626"/>
          <ac:spMkLst>
            <pc:docMk/>
            <pc:sldMk cId="3298032880" sldId="273"/>
            <ac:spMk id="4" creationId="{D3913042-6E3C-4BAE-9222-9464FF4BF8ED}"/>
          </ac:spMkLst>
        </pc:spChg>
      </pc:sldChg>
      <pc:sldChg chg="modSp mod">
        <pc:chgData name="Tim Böckel" userId="139bf3991ca47324" providerId="LiveId" clId="{1678DE8C-2C75-418E-9ECD-2E577A5B4B2C}" dt="2021-06-07T16:17:35.998" v="0" actId="27636"/>
        <pc:sldMkLst>
          <pc:docMk/>
          <pc:sldMk cId="0" sldId="275"/>
        </pc:sldMkLst>
        <pc:spChg chg="mod">
          <ac:chgData name="Tim Böckel" userId="139bf3991ca47324" providerId="LiveId" clId="{1678DE8C-2C75-418E-9ECD-2E577A5B4B2C}" dt="2021-06-07T16:17:35.998" v="0" actId="27636"/>
          <ac:spMkLst>
            <pc:docMk/>
            <pc:sldMk cId="0" sldId="275"/>
            <ac:spMk id="55" creationId="{00000000-0000-0000-0000-000000000000}"/>
          </ac:spMkLst>
        </pc:spChg>
      </pc:sldChg>
      <pc:sldChg chg="modSp mod">
        <pc:chgData name="Tim Böckel" userId="139bf3991ca47324" providerId="LiveId" clId="{1678DE8C-2C75-418E-9ECD-2E577A5B4B2C}" dt="2021-06-07T16:17:36.007" v="1" actId="27636"/>
        <pc:sldMkLst>
          <pc:docMk/>
          <pc:sldMk cId="0" sldId="276"/>
        </pc:sldMkLst>
        <pc:spChg chg="mod">
          <ac:chgData name="Tim Böckel" userId="139bf3991ca47324" providerId="LiveId" clId="{1678DE8C-2C75-418E-9ECD-2E577A5B4B2C}" dt="2021-06-07T16:17:36.007" v="1" actId="27636"/>
          <ac:spMkLst>
            <pc:docMk/>
            <pc:sldMk cId="0" sldId="276"/>
            <ac:spMk id="71" creationId="{00000000-0000-0000-0000-000000000000}"/>
          </ac:spMkLst>
        </pc:spChg>
      </pc:sldChg>
      <pc:sldChg chg="addSp modSp mod setBg">
        <pc:chgData name="Tim Böckel" userId="139bf3991ca47324" providerId="LiveId" clId="{1678DE8C-2C75-418E-9ECD-2E577A5B4B2C}" dt="2021-06-07T16:19:00.148" v="5" actId="1076"/>
        <pc:sldMkLst>
          <pc:docMk/>
          <pc:sldMk cId="0" sldId="277"/>
        </pc:sldMkLst>
        <pc:spChg chg="mod">
          <ac:chgData name="Tim Böckel" userId="139bf3991ca47324" providerId="LiveId" clId="{1678DE8C-2C75-418E-9ECD-2E577A5B4B2C}" dt="2021-06-07T16:18:56.638" v="4" actId="14100"/>
          <ac:spMkLst>
            <pc:docMk/>
            <pc:sldMk cId="0" sldId="277"/>
            <ac:spMk id="76" creationId="{00000000-0000-0000-0000-000000000000}"/>
          </ac:spMkLst>
        </pc:spChg>
        <pc:spChg chg="mod">
          <ac:chgData name="Tim Böckel" userId="139bf3991ca47324" providerId="LiveId" clId="{1678DE8C-2C75-418E-9ECD-2E577A5B4B2C}" dt="2021-06-07T16:19:00.148" v="5" actId="1076"/>
          <ac:spMkLst>
            <pc:docMk/>
            <pc:sldMk cId="0" sldId="277"/>
            <ac:spMk id="77" creationId="{00000000-0000-0000-0000-000000000000}"/>
          </ac:spMkLst>
        </pc:spChg>
        <pc:spChg chg="ord">
          <ac:chgData name="Tim Böckel" userId="139bf3991ca47324" providerId="LiveId" clId="{1678DE8C-2C75-418E-9ECD-2E577A5B4B2C}" dt="2021-06-07T16:18:34.068" v="2" actId="26606"/>
          <ac:spMkLst>
            <pc:docMk/>
            <pc:sldMk cId="0" sldId="277"/>
            <ac:spMk id="78" creationId="{00000000-0000-0000-0000-000000000000}"/>
          </ac:spMkLst>
        </pc:spChg>
        <pc:spChg chg="add">
          <ac:chgData name="Tim Böckel" userId="139bf3991ca47324" providerId="LiveId" clId="{1678DE8C-2C75-418E-9ECD-2E577A5B4B2C}" dt="2021-06-07T16:18:34.068" v="2" actId="26606"/>
          <ac:spMkLst>
            <pc:docMk/>
            <pc:sldMk cId="0" sldId="277"/>
            <ac:spMk id="84" creationId="{71FC7D98-7B8B-402A-90FC-F027482F2142}"/>
          </ac:spMkLst>
        </pc:spChg>
        <pc:spChg chg="add">
          <ac:chgData name="Tim Böckel" userId="139bf3991ca47324" providerId="LiveId" clId="{1678DE8C-2C75-418E-9ECD-2E577A5B4B2C}" dt="2021-06-07T16:18:34.068" v="2" actId="26606"/>
          <ac:spMkLst>
            <pc:docMk/>
            <pc:sldMk cId="0" sldId="277"/>
            <ac:spMk id="86" creationId="{AD7356EA-285B-4E5D-8FEC-104659A4FD2C}"/>
          </ac:spMkLst>
        </pc:spChg>
        <pc:picChg chg="mod">
          <ac:chgData name="Tim Böckel" userId="139bf3991ca47324" providerId="LiveId" clId="{1678DE8C-2C75-418E-9ECD-2E577A5B4B2C}" dt="2021-06-07T16:18:34.068" v="2" actId="26606"/>
          <ac:picMkLst>
            <pc:docMk/>
            <pc:sldMk cId="0" sldId="277"/>
            <ac:picMk id="79" creationId="{00000000-0000-0000-0000-000000000000}"/>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1-06-05T10:46:21.510" idx="6">
    <p:pos x="7680" y="0"/>
    <p:text/>
    <p:extLst>
      <p:ext uri="{C676402C-5697-4E1C-873F-D02D1690AC5C}">
        <p15:threadingInfo xmlns:p15="http://schemas.microsoft.com/office/powerpoint/2012/main" timeZoneBias="-1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1-06-05T10:34:05.596" idx="5">
    <p:pos x="10" y="10"/>
    <p:text/>
    <p:extLst>
      <p:ext uri="{C676402C-5697-4E1C-873F-D02D1690AC5C}">
        <p15:threadingInfo xmlns:p15="http://schemas.microsoft.com/office/powerpoint/2012/main" timeZoneBias="-1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1-06-05T10:55:24.717" idx="7">
    <p:pos x="10" y="10"/>
    <p:text/>
    <p:extLst>
      <p:ext uri="{C676402C-5697-4E1C-873F-D02D1690AC5C}">
        <p15:threadingInfo xmlns:p15="http://schemas.microsoft.com/office/powerpoint/2012/main" timeZoneBias="-1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1-06-03T15:53:08.607" idx="4">
    <p:pos x="10" y="10"/>
    <p:text/>
    <p:extLst>
      <p:ext uri="{C676402C-5697-4E1C-873F-D02D1690AC5C}">
        <p15:threadingInfo xmlns:p15="http://schemas.microsoft.com/office/powerpoint/2012/main" timeZoneBias="-12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1-06-06T16:02:57.356" idx="8">
    <p:pos x="10" y="10"/>
    <p:text/>
    <p:extLst>
      <p:ext uri="{C676402C-5697-4E1C-873F-D02D1690AC5C}">
        <p15:threadingInfo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2F76F7-C034-4697-B278-6F74D2DBBFE9}" type="datetimeFigureOut">
              <a:rPr lang="de-DE" smtClean="0"/>
              <a:t>07.06.2021</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AA3480-48A5-4E91-9E2F-9BA3DD398807}" type="slidenum">
              <a:rPr lang="de-DE" smtClean="0"/>
              <a:t>‹Nr.›</a:t>
            </a:fld>
            <a:endParaRPr lang="de-DE"/>
          </a:p>
        </p:txBody>
      </p:sp>
    </p:spTree>
    <p:extLst>
      <p:ext uri="{BB962C8B-B14F-4D97-AF65-F5344CB8AC3E}">
        <p14:creationId xmlns:p14="http://schemas.microsoft.com/office/powerpoint/2010/main" val="51883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Werbung: Zeitung vs. </a:t>
            </a:r>
            <a:r>
              <a:rPr lang="de-DE" dirty="0" err="1"/>
              <a:t>Social</a:t>
            </a:r>
            <a:r>
              <a:rPr lang="de-DE" dirty="0"/>
              <a:t> Media</a:t>
            </a:r>
          </a:p>
        </p:txBody>
      </p:sp>
      <p:sp>
        <p:nvSpPr>
          <p:cNvPr id="4" name="Foliennummernplatzhalter 3"/>
          <p:cNvSpPr>
            <a:spLocks noGrp="1"/>
          </p:cNvSpPr>
          <p:nvPr>
            <p:ph type="sldNum" sz="quarter" idx="5"/>
          </p:nvPr>
        </p:nvSpPr>
        <p:spPr/>
        <p:txBody>
          <a:bodyPr/>
          <a:lstStyle/>
          <a:p>
            <a:fld id="{8FAA3480-48A5-4E91-9E2F-9BA3DD398807}" type="slidenum">
              <a:rPr lang="de-DE" smtClean="0"/>
              <a:t>3</a:t>
            </a:fld>
            <a:endParaRPr lang="de-DE"/>
          </a:p>
        </p:txBody>
      </p:sp>
    </p:spTree>
    <p:extLst>
      <p:ext uri="{BB962C8B-B14F-4D97-AF65-F5344CB8AC3E}">
        <p14:creationId xmlns:p14="http://schemas.microsoft.com/office/powerpoint/2010/main" val="231398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8FAA3480-48A5-4E91-9E2F-9BA3DD398807}" type="slidenum">
              <a:rPr lang="de-DE" smtClean="0"/>
              <a:t>4</a:t>
            </a:fld>
            <a:endParaRPr lang="de-DE"/>
          </a:p>
        </p:txBody>
      </p:sp>
    </p:spTree>
    <p:extLst>
      <p:ext uri="{BB962C8B-B14F-4D97-AF65-F5344CB8AC3E}">
        <p14:creationId xmlns:p14="http://schemas.microsoft.com/office/powerpoint/2010/main" val="2383308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err="1"/>
              <a:t>Bestandteile</a:t>
            </a:r>
            <a:r>
              <a:rPr lang="en-US" dirty="0"/>
              <a:t>:</a:t>
            </a:r>
          </a:p>
          <a:p>
            <a:endParaRPr lang="en-US" dirty="0"/>
          </a:p>
          <a:p>
            <a:r>
              <a:rPr lang="en-US" dirty="0"/>
              <a:t>Journey </a:t>
            </a:r>
            <a:r>
              <a:rPr lang="en-US" dirty="0">
                <a:sym typeface="Wingdings" panose="05000000000000000000" pitchFamily="2" charset="2"/>
              </a:rPr>
              <a:t> </a:t>
            </a:r>
            <a:r>
              <a:rPr lang="en-US" dirty="0" err="1">
                <a:sym typeface="Wingdings" panose="05000000000000000000" pitchFamily="2" charset="2"/>
              </a:rPr>
              <a:t>Alles</a:t>
            </a:r>
            <a:r>
              <a:rPr lang="en-US" dirty="0">
                <a:sym typeface="Wingdings" panose="05000000000000000000" pitchFamily="2" charset="2"/>
              </a:rPr>
              <a:t> (</a:t>
            </a:r>
            <a:r>
              <a:rPr lang="en-US" dirty="0" err="1">
                <a:sym typeface="Wingdings" panose="05000000000000000000" pitchFamily="2" charset="2"/>
              </a:rPr>
              <a:t>Optimale</a:t>
            </a:r>
            <a:r>
              <a:rPr lang="en-US" dirty="0">
                <a:sym typeface="Wingdings" panose="05000000000000000000" pitchFamily="2" charset="2"/>
              </a:rPr>
              <a:t> vs. </a:t>
            </a:r>
            <a:r>
              <a:rPr lang="en-US" dirty="0" err="1">
                <a:sym typeface="Wingdings" panose="05000000000000000000" pitchFamily="2" charset="2"/>
              </a:rPr>
              <a:t>Wirkliche</a:t>
            </a:r>
            <a:r>
              <a:rPr lang="en-US" dirty="0">
                <a:sym typeface="Wingdings" panose="05000000000000000000" pitchFamily="2" charset="2"/>
              </a:rPr>
              <a:t> Journey)</a:t>
            </a:r>
            <a:endParaRPr lang="en-US" dirty="0"/>
          </a:p>
          <a:p>
            <a:r>
              <a:rPr lang="en-US" dirty="0"/>
              <a:t>Touchpoints </a:t>
            </a:r>
            <a:r>
              <a:rPr lang="en-US" dirty="0">
                <a:sym typeface="Wingdings" panose="05000000000000000000" pitchFamily="2" charset="2"/>
              </a:rPr>
              <a:t> </a:t>
            </a:r>
            <a:r>
              <a:rPr lang="en-US" dirty="0" err="1">
                <a:sym typeface="Wingdings" panose="05000000000000000000" pitchFamily="2" charset="2"/>
              </a:rPr>
              <a:t>Berührungspunkt</a:t>
            </a:r>
            <a:endParaRPr lang="en-US" dirty="0">
              <a:sym typeface="Wingdings" panose="05000000000000000000" pitchFamily="2" charset="2"/>
            </a:endParaRPr>
          </a:p>
          <a:p>
            <a:r>
              <a:rPr lang="en-US" dirty="0">
                <a:sym typeface="Wingdings" panose="05000000000000000000" pitchFamily="2" charset="2"/>
              </a:rPr>
              <a:t>Goal  </a:t>
            </a:r>
            <a:r>
              <a:rPr lang="en-US" dirty="0" err="1">
                <a:sym typeface="Wingdings" panose="05000000000000000000" pitchFamily="2" charset="2"/>
              </a:rPr>
              <a:t>Ziel</a:t>
            </a:r>
            <a:endParaRPr lang="en-US" dirty="0">
              <a:sym typeface="Wingdings" panose="05000000000000000000" pitchFamily="2" charset="2"/>
            </a:endParaRPr>
          </a:p>
          <a:p>
            <a:r>
              <a:rPr lang="en-US" dirty="0">
                <a:sym typeface="Wingdings" panose="05000000000000000000" pitchFamily="2" charset="2"/>
              </a:rPr>
              <a:t>Experience  </a:t>
            </a:r>
            <a:r>
              <a:rPr lang="en-US" dirty="0" err="1">
                <a:sym typeface="Wingdings" panose="05000000000000000000" pitchFamily="2" charset="2"/>
              </a:rPr>
              <a:t>Emotionen</a:t>
            </a:r>
            <a:r>
              <a:rPr lang="en-US" dirty="0">
                <a:sym typeface="Wingdings" panose="05000000000000000000" pitchFamily="2" charset="2"/>
              </a:rPr>
              <a:t> des Users</a:t>
            </a:r>
          </a:p>
          <a:p>
            <a:r>
              <a:rPr lang="en-US" dirty="0">
                <a:sym typeface="Wingdings" panose="05000000000000000000" pitchFamily="2" charset="2"/>
              </a:rPr>
              <a:t>Channel  </a:t>
            </a:r>
            <a:r>
              <a:rPr lang="en-US" dirty="0" err="1">
                <a:sym typeface="Wingdings" panose="05000000000000000000" pitchFamily="2" charset="2"/>
              </a:rPr>
              <a:t>Bsp</a:t>
            </a:r>
            <a:r>
              <a:rPr lang="en-US" dirty="0">
                <a:sym typeface="Wingdings" panose="05000000000000000000" pitchFamily="2" charset="2"/>
              </a:rPr>
              <a:t>. </a:t>
            </a:r>
            <a:r>
              <a:rPr lang="en-US" dirty="0" err="1">
                <a:sym typeface="Wingdings" panose="05000000000000000000" pitchFamily="2" charset="2"/>
              </a:rPr>
              <a:t>Werbekanäle</a:t>
            </a:r>
            <a:endParaRPr lang="en-US" dirty="0">
              <a:sym typeface="Wingdings" panose="05000000000000000000" pitchFamily="2" charset="2"/>
            </a:endParaRPr>
          </a:p>
          <a:p>
            <a:r>
              <a:rPr lang="en-US" dirty="0">
                <a:sym typeface="Wingdings" panose="05000000000000000000" pitchFamily="2" charset="2"/>
              </a:rPr>
              <a:t>User</a:t>
            </a:r>
            <a:endParaRPr lang="en-US" dirty="0"/>
          </a:p>
          <a:p>
            <a:endParaRPr lang="en-US" dirty="0"/>
          </a:p>
          <a:p>
            <a:endParaRPr lang="en-US" dirty="0"/>
          </a:p>
        </p:txBody>
      </p:sp>
      <p:sp>
        <p:nvSpPr>
          <p:cNvPr id="4" name="Foliennummernplatzhalter 3"/>
          <p:cNvSpPr>
            <a:spLocks noGrp="1"/>
          </p:cNvSpPr>
          <p:nvPr>
            <p:ph type="sldNum" sz="quarter" idx="5"/>
          </p:nvPr>
        </p:nvSpPr>
        <p:spPr/>
        <p:txBody>
          <a:bodyPr/>
          <a:lstStyle/>
          <a:p>
            <a:fld id="{8FAA3480-48A5-4E91-9E2F-9BA3DD398807}" type="slidenum">
              <a:rPr lang="de-DE" smtClean="0"/>
              <a:t>5</a:t>
            </a:fld>
            <a:endParaRPr lang="de-DE"/>
          </a:p>
        </p:txBody>
      </p:sp>
    </p:spTree>
    <p:extLst>
      <p:ext uri="{BB962C8B-B14F-4D97-AF65-F5344CB8AC3E}">
        <p14:creationId xmlns:p14="http://schemas.microsoft.com/office/powerpoint/2010/main" val="2080184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8FAA3480-48A5-4E91-9E2F-9BA3DD398807}" type="slidenum">
              <a:rPr lang="de-DE" smtClean="0"/>
              <a:t>6</a:t>
            </a:fld>
            <a:endParaRPr lang="de-DE"/>
          </a:p>
        </p:txBody>
      </p:sp>
    </p:spTree>
    <p:extLst>
      <p:ext uri="{BB962C8B-B14F-4D97-AF65-F5344CB8AC3E}">
        <p14:creationId xmlns:p14="http://schemas.microsoft.com/office/powerpoint/2010/main" val="1893033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de5652ff30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de5652ff30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deef1614cd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deef1614c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deef1614cd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deef1614cd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dirty="0">
                <a:solidFill>
                  <a:srgbClr val="000000"/>
                </a:solidFill>
              </a:rPr>
              <a:t>Der Wert der ethnografischen Forschung liegt in ihrer Fähigkeit, reichhaltige Daten über individuelle Kundeninteraktionen zu liefern. Ethnografie ist für die explorative Forschung förderlich, da sie unbekannte Probleme und Einblicke in das Kundenverhalten aufdecken kann</a:t>
            </a:r>
          </a:p>
          <a:p>
            <a:endParaRPr lang="de-DE" dirty="0">
              <a:solidFill>
                <a:srgbClr val="000000"/>
              </a:solidFill>
            </a:endParaRPr>
          </a:p>
          <a:p>
            <a:r>
              <a:rPr lang="de-DE" sz="1200" dirty="0">
                <a:solidFill>
                  <a:srgbClr val="000000"/>
                </a:solidFill>
                <a:sym typeface="Wingdings" panose="05000000000000000000" pitchFamily="2" charset="2"/>
              </a:rPr>
              <a:t> Focus Groups -&gt; Gruppeninterviews</a:t>
            </a:r>
            <a:endParaRPr lang="en-US" sz="1200" dirty="0">
              <a:solidFill>
                <a:srgbClr val="000000"/>
              </a:solidFill>
            </a:endParaRPr>
          </a:p>
          <a:p>
            <a:endParaRPr lang="de-DE" dirty="0"/>
          </a:p>
        </p:txBody>
      </p:sp>
      <p:sp>
        <p:nvSpPr>
          <p:cNvPr id="4" name="Foliennummernplatzhalter 3"/>
          <p:cNvSpPr>
            <a:spLocks noGrp="1"/>
          </p:cNvSpPr>
          <p:nvPr>
            <p:ph type="sldNum" sz="quarter" idx="5"/>
          </p:nvPr>
        </p:nvSpPr>
        <p:spPr/>
        <p:txBody>
          <a:bodyPr/>
          <a:lstStyle/>
          <a:p>
            <a:fld id="{8FAA3480-48A5-4E91-9E2F-9BA3DD398807}" type="slidenum">
              <a:rPr lang="de-DE" smtClean="0"/>
              <a:t>10</a:t>
            </a:fld>
            <a:endParaRPr lang="de-DE"/>
          </a:p>
        </p:txBody>
      </p:sp>
    </p:spTree>
    <p:extLst>
      <p:ext uri="{BB962C8B-B14F-4D97-AF65-F5344CB8AC3E}">
        <p14:creationId xmlns:p14="http://schemas.microsoft.com/office/powerpoint/2010/main" val="31824244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8FAA3480-48A5-4E91-9E2F-9BA3DD398807}" type="slidenum">
              <a:rPr lang="de-DE" smtClean="0"/>
              <a:t>11</a:t>
            </a:fld>
            <a:endParaRPr lang="de-DE"/>
          </a:p>
        </p:txBody>
      </p:sp>
    </p:spTree>
    <p:extLst>
      <p:ext uri="{BB962C8B-B14F-4D97-AF65-F5344CB8AC3E}">
        <p14:creationId xmlns:p14="http://schemas.microsoft.com/office/powerpoint/2010/main" val="1607121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df027a7cc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df027a7cc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8FAA3480-48A5-4E91-9E2F-9BA3DD398807}" type="slidenum">
              <a:rPr lang="de-DE" smtClean="0"/>
              <a:t>17</a:t>
            </a:fld>
            <a:endParaRPr lang="de-DE"/>
          </a:p>
        </p:txBody>
      </p:sp>
    </p:spTree>
    <p:extLst>
      <p:ext uri="{BB962C8B-B14F-4D97-AF65-F5344CB8AC3E}">
        <p14:creationId xmlns:p14="http://schemas.microsoft.com/office/powerpoint/2010/main" val="3120331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EF576F-1325-4687-BE49-C688D777784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40E492D0-BE84-4852-A711-C625FF4E5B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BD83BEB6-0104-496C-97F0-1FB01E31C90F}"/>
              </a:ext>
            </a:extLst>
          </p:cNvPr>
          <p:cNvSpPr>
            <a:spLocks noGrp="1"/>
          </p:cNvSpPr>
          <p:nvPr>
            <p:ph type="dt" sz="half" idx="10"/>
          </p:nvPr>
        </p:nvSpPr>
        <p:spPr/>
        <p:txBody>
          <a:bodyPr/>
          <a:lstStyle/>
          <a:p>
            <a:fld id="{17C00E64-5C16-42B5-9904-0AE197F57232}" type="datetime1">
              <a:rPr lang="de-DE" smtClean="0"/>
              <a:t>07.06.2021</a:t>
            </a:fld>
            <a:endParaRPr lang="de-DE"/>
          </a:p>
        </p:txBody>
      </p:sp>
      <p:sp>
        <p:nvSpPr>
          <p:cNvPr id="5" name="Fußzeilenplatzhalter 4">
            <a:extLst>
              <a:ext uri="{FF2B5EF4-FFF2-40B4-BE49-F238E27FC236}">
                <a16:creationId xmlns:a16="http://schemas.microsoft.com/office/drawing/2014/main" id="{B5627F26-94F9-4282-B367-A2F98FFADC8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EDED3DB-9AAD-4319-90B8-D0B0EC7D5B7F}"/>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1591456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C3646D-4587-4C26-B998-B0B87E8BE476}"/>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64023765-7080-4E00-8020-4903D08CEE7C}"/>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48018BA-06DF-406C-B486-F4A701082479}"/>
              </a:ext>
            </a:extLst>
          </p:cNvPr>
          <p:cNvSpPr>
            <a:spLocks noGrp="1"/>
          </p:cNvSpPr>
          <p:nvPr>
            <p:ph type="dt" sz="half" idx="10"/>
          </p:nvPr>
        </p:nvSpPr>
        <p:spPr/>
        <p:txBody>
          <a:bodyPr/>
          <a:lstStyle/>
          <a:p>
            <a:fld id="{3109F62F-2DA5-485B-A203-92CD96D98FD4}" type="datetime1">
              <a:rPr lang="de-DE" smtClean="0"/>
              <a:t>07.06.2021</a:t>
            </a:fld>
            <a:endParaRPr lang="de-DE"/>
          </a:p>
        </p:txBody>
      </p:sp>
      <p:sp>
        <p:nvSpPr>
          <p:cNvPr id="5" name="Fußzeilenplatzhalter 4">
            <a:extLst>
              <a:ext uri="{FF2B5EF4-FFF2-40B4-BE49-F238E27FC236}">
                <a16:creationId xmlns:a16="http://schemas.microsoft.com/office/drawing/2014/main" id="{5AD15D08-720C-4884-A954-F5DE7DD84D0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2D01813-7E57-4EA9-ABDC-0F1CB15189FE}"/>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2887706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BF8DC9-D8C8-4AAE-8547-4741330B655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59328222-7CB8-4A21-A196-A8E64C33A4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F87CC211-7D72-43FC-8CE1-2888EC8E2D3F}"/>
              </a:ext>
            </a:extLst>
          </p:cNvPr>
          <p:cNvSpPr>
            <a:spLocks noGrp="1"/>
          </p:cNvSpPr>
          <p:nvPr>
            <p:ph type="dt" sz="half" idx="10"/>
          </p:nvPr>
        </p:nvSpPr>
        <p:spPr/>
        <p:txBody>
          <a:bodyPr/>
          <a:lstStyle/>
          <a:p>
            <a:fld id="{8AD3ECF5-957F-44B6-86C1-AF74B8837FFD}" type="datetime1">
              <a:rPr lang="de-DE" smtClean="0"/>
              <a:t>07.06.2021</a:t>
            </a:fld>
            <a:endParaRPr lang="de-DE"/>
          </a:p>
        </p:txBody>
      </p:sp>
      <p:sp>
        <p:nvSpPr>
          <p:cNvPr id="5" name="Fußzeilenplatzhalter 4">
            <a:extLst>
              <a:ext uri="{FF2B5EF4-FFF2-40B4-BE49-F238E27FC236}">
                <a16:creationId xmlns:a16="http://schemas.microsoft.com/office/drawing/2014/main" id="{1EF7FD1F-71FC-4359-8D34-7020DB5951D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FA12901-BC28-42B1-8E04-6A647030DDE3}"/>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4180722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181C51-BC88-4C7A-812A-24725552E04E}"/>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FC45452F-2BA6-4BA3-A34D-745AF3B713B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06104EF3-D6A4-4984-A508-D3FAD32B26DE}"/>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098D4316-7D67-4E1F-A126-07F5F02E967B}"/>
              </a:ext>
            </a:extLst>
          </p:cNvPr>
          <p:cNvSpPr>
            <a:spLocks noGrp="1"/>
          </p:cNvSpPr>
          <p:nvPr>
            <p:ph type="dt" sz="half" idx="10"/>
          </p:nvPr>
        </p:nvSpPr>
        <p:spPr/>
        <p:txBody>
          <a:bodyPr/>
          <a:lstStyle/>
          <a:p>
            <a:fld id="{F68A17FD-0F90-482D-8BCC-B5E1C7E64A83}" type="datetime1">
              <a:rPr lang="de-DE" smtClean="0"/>
              <a:t>07.06.2021</a:t>
            </a:fld>
            <a:endParaRPr lang="de-DE"/>
          </a:p>
        </p:txBody>
      </p:sp>
      <p:sp>
        <p:nvSpPr>
          <p:cNvPr id="6" name="Fußzeilenplatzhalter 5">
            <a:extLst>
              <a:ext uri="{FF2B5EF4-FFF2-40B4-BE49-F238E27FC236}">
                <a16:creationId xmlns:a16="http://schemas.microsoft.com/office/drawing/2014/main" id="{24A1B68B-EE0B-47AD-8F8A-00E7806F0579}"/>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824AA98-C049-4362-A9A0-F4763459820B}"/>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3441990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FEAC1D-8860-4556-9E9F-16C64C6B4CB2}"/>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28CDC8AA-D9B1-44FA-9A43-944513FBA5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1CBFE90-243A-4349-854B-654EE720C38C}"/>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7BBFE4CF-96A6-4FC3-951C-7827E042AA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E08C4A65-1C59-4E79-B1CC-9D3AADB0BAD1}"/>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335B41B0-79CF-488D-9846-B02C53F13576}"/>
              </a:ext>
            </a:extLst>
          </p:cNvPr>
          <p:cNvSpPr>
            <a:spLocks noGrp="1"/>
          </p:cNvSpPr>
          <p:nvPr>
            <p:ph type="dt" sz="half" idx="10"/>
          </p:nvPr>
        </p:nvSpPr>
        <p:spPr/>
        <p:txBody>
          <a:bodyPr/>
          <a:lstStyle/>
          <a:p>
            <a:fld id="{74147AE6-904F-4028-8B92-C7DCE538CC58}" type="datetime1">
              <a:rPr lang="de-DE" smtClean="0"/>
              <a:t>07.06.2021</a:t>
            </a:fld>
            <a:endParaRPr lang="de-DE"/>
          </a:p>
        </p:txBody>
      </p:sp>
      <p:sp>
        <p:nvSpPr>
          <p:cNvPr id="8" name="Fußzeilenplatzhalter 7">
            <a:extLst>
              <a:ext uri="{FF2B5EF4-FFF2-40B4-BE49-F238E27FC236}">
                <a16:creationId xmlns:a16="http://schemas.microsoft.com/office/drawing/2014/main" id="{69961BDE-3E32-4151-8C2A-51F339FD6927}"/>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AF507B42-092A-4A99-8D8F-65F223F17F51}"/>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1808650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060067-4E7E-4AED-A08A-6D6AB3242172}"/>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95E6AFB9-008B-4D29-8C69-2674A75F5F54}"/>
              </a:ext>
            </a:extLst>
          </p:cNvPr>
          <p:cNvSpPr>
            <a:spLocks noGrp="1"/>
          </p:cNvSpPr>
          <p:nvPr>
            <p:ph type="dt" sz="half" idx="10"/>
          </p:nvPr>
        </p:nvSpPr>
        <p:spPr/>
        <p:txBody>
          <a:bodyPr/>
          <a:lstStyle/>
          <a:p>
            <a:fld id="{22A908A4-CD3B-406C-8EA4-C1B6D6DD7A7A}" type="datetime1">
              <a:rPr lang="de-DE" smtClean="0"/>
              <a:t>07.06.2021</a:t>
            </a:fld>
            <a:endParaRPr lang="de-DE"/>
          </a:p>
        </p:txBody>
      </p:sp>
      <p:sp>
        <p:nvSpPr>
          <p:cNvPr id="4" name="Fußzeilenplatzhalter 3">
            <a:extLst>
              <a:ext uri="{FF2B5EF4-FFF2-40B4-BE49-F238E27FC236}">
                <a16:creationId xmlns:a16="http://schemas.microsoft.com/office/drawing/2014/main" id="{047398D8-BF6E-43DB-8A91-EE79F9803534}"/>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BB88119C-0D0A-4C07-9441-367B56FCC840}"/>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567068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30CDB713-D077-4CC8-8397-0C0AF4BB88F0}"/>
              </a:ext>
            </a:extLst>
          </p:cNvPr>
          <p:cNvSpPr>
            <a:spLocks noGrp="1"/>
          </p:cNvSpPr>
          <p:nvPr>
            <p:ph type="dt" sz="half" idx="10"/>
          </p:nvPr>
        </p:nvSpPr>
        <p:spPr/>
        <p:txBody>
          <a:bodyPr/>
          <a:lstStyle/>
          <a:p>
            <a:fld id="{B02A6882-A0E3-4ED1-9504-4082CE58B939}" type="datetime1">
              <a:rPr lang="de-DE" smtClean="0"/>
              <a:t>07.06.2021</a:t>
            </a:fld>
            <a:endParaRPr lang="de-DE"/>
          </a:p>
        </p:txBody>
      </p:sp>
      <p:sp>
        <p:nvSpPr>
          <p:cNvPr id="3" name="Fußzeilenplatzhalter 2">
            <a:extLst>
              <a:ext uri="{FF2B5EF4-FFF2-40B4-BE49-F238E27FC236}">
                <a16:creationId xmlns:a16="http://schemas.microsoft.com/office/drawing/2014/main" id="{D56EEC7F-4381-4BE3-8286-996D1A7B9FCA}"/>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4A8004A4-6381-44E6-A7D1-635EB2024B09}"/>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1956653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688797-061F-48C0-B28C-9F420D5FA1F3}"/>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D5F15F49-8559-4185-87C4-FCDA7272D1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E29DB8F5-4A07-4F9B-AAEE-DB7C5CAF86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45FF34F0-BA92-4857-8078-49CE1AEB5203}"/>
              </a:ext>
            </a:extLst>
          </p:cNvPr>
          <p:cNvSpPr>
            <a:spLocks noGrp="1"/>
          </p:cNvSpPr>
          <p:nvPr>
            <p:ph type="dt" sz="half" idx="10"/>
          </p:nvPr>
        </p:nvSpPr>
        <p:spPr/>
        <p:txBody>
          <a:bodyPr/>
          <a:lstStyle/>
          <a:p>
            <a:fld id="{75BB3244-A09F-473D-B679-256137A18B7E}" type="datetime1">
              <a:rPr lang="de-DE" smtClean="0"/>
              <a:t>07.06.2021</a:t>
            </a:fld>
            <a:endParaRPr lang="de-DE"/>
          </a:p>
        </p:txBody>
      </p:sp>
      <p:sp>
        <p:nvSpPr>
          <p:cNvPr id="6" name="Fußzeilenplatzhalter 5">
            <a:extLst>
              <a:ext uri="{FF2B5EF4-FFF2-40B4-BE49-F238E27FC236}">
                <a16:creationId xmlns:a16="http://schemas.microsoft.com/office/drawing/2014/main" id="{CEE7D031-57AA-41D8-9E9C-746CAA62BEE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FD40B73-0BB8-4E25-A931-2188E8E8930B}"/>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1508704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AE27CA-F89F-4718-B1F4-8ED1C28AD318}"/>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7D60E22C-BA55-44CD-BABC-ED762268FE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F4E2BB3A-D887-4617-A6F2-B0CDF61867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AD2AF5BA-FCD6-4E46-91DA-B001D3D18837}"/>
              </a:ext>
            </a:extLst>
          </p:cNvPr>
          <p:cNvSpPr>
            <a:spLocks noGrp="1"/>
          </p:cNvSpPr>
          <p:nvPr>
            <p:ph type="dt" sz="half" idx="10"/>
          </p:nvPr>
        </p:nvSpPr>
        <p:spPr/>
        <p:txBody>
          <a:bodyPr/>
          <a:lstStyle/>
          <a:p>
            <a:fld id="{13014F91-6D4E-4F1E-A9DF-C3C70839EE92}" type="datetime1">
              <a:rPr lang="de-DE" smtClean="0"/>
              <a:t>07.06.2021</a:t>
            </a:fld>
            <a:endParaRPr lang="de-DE"/>
          </a:p>
        </p:txBody>
      </p:sp>
      <p:sp>
        <p:nvSpPr>
          <p:cNvPr id="6" name="Fußzeilenplatzhalter 5">
            <a:extLst>
              <a:ext uri="{FF2B5EF4-FFF2-40B4-BE49-F238E27FC236}">
                <a16:creationId xmlns:a16="http://schemas.microsoft.com/office/drawing/2014/main" id="{CDF7DD22-93A9-46E5-AC4C-F2B3E1A3DAF6}"/>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C0875571-75E3-49DB-930A-C1FA9F1F00A0}"/>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3518812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63B556-3C37-4156-876E-F686073D2AF4}"/>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108E4ABF-15A4-4A48-8305-00171BA74ACD}"/>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C448675-9A85-430B-87CA-3591D9F80B54}"/>
              </a:ext>
            </a:extLst>
          </p:cNvPr>
          <p:cNvSpPr>
            <a:spLocks noGrp="1"/>
          </p:cNvSpPr>
          <p:nvPr>
            <p:ph type="dt" sz="half" idx="10"/>
          </p:nvPr>
        </p:nvSpPr>
        <p:spPr/>
        <p:txBody>
          <a:bodyPr/>
          <a:lstStyle/>
          <a:p>
            <a:fld id="{4A6C0110-7729-4D3B-9603-F69B680D5E6E}" type="datetime1">
              <a:rPr lang="de-DE" smtClean="0"/>
              <a:t>07.06.2021</a:t>
            </a:fld>
            <a:endParaRPr lang="de-DE"/>
          </a:p>
        </p:txBody>
      </p:sp>
      <p:sp>
        <p:nvSpPr>
          <p:cNvPr id="5" name="Fußzeilenplatzhalter 4">
            <a:extLst>
              <a:ext uri="{FF2B5EF4-FFF2-40B4-BE49-F238E27FC236}">
                <a16:creationId xmlns:a16="http://schemas.microsoft.com/office/drawing/2014/main" id="{E2E1D29B-C6B9-4A76-8D91-F9700F7F60E4}"/>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5E2D050F-DD06-4F67-B38C-5D63CB14F9F3}"/>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2299783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20B31FA-A5A4-493A-8DC8-B193CB8CFB0F}"/>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756FC12D-E28F-4183-9BCE-ADFC20072DBC}"/>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B5CCBC7-28C8-487E-BA7B-EB13004D5976}"/>
              </a:ext>
            </a:extLst>
          </p:cNvPr>
          <p:cNvSpPr>
            <a:spLocks noGrp="1"/>
          </p:cNvSpPr>
          <p:nvPr>
            <p:ph type="dt" sz="half" idx="10"/>
          </p:nvPr>
        </p:nvSpPr>
        <p:spPr/>
        <p:txBody>
          <a:bodyPr/>
          <a:lstStyle/>
          <a:p>
            <a:fld id="{2B2562E4-7120-4BA1-B2F9-A0C9C38E51CE}" type="datetime1">
              <a:rPr lang="de-DE" smtClean="0"/>
              <a:t>07.06.2021</a:t>
            </a:fld>
            <a:endParaRPr lang="de-DE"/>
          </a:p>
        </p:txBody>
      </p:sp>
      <p:sp>
        <p:nvSpPr>
          <p:cNvPr id="5" name="Fußzeilenplatzhalter 4">
            <a:extLst>
              <a:ext uri="{FF2B5EF4-FFF2-40B4-BE49-F238E27FC236}">
                <a16:creationId xmlns:a16="http://schemas.microsoft.com/office/drawing/2014/main" id="{DAEE15F2-CB29-44A5-95C4-392C9791CA7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875128B-D6BE-40F9-A718-7075FEE025E4}"/>
              </a:ext>
            </a:extLst>
          </p:cNvPr>
          <p:cNvSpPr>
            <a:spLocks noGrp="1"/>
          </p:cNvSpPr>
          <p:nvPr>
            <p:ph type="sldNum" sz="quarter" idx="12"/>
          </p:nvPr>
        </p:nvSpPr>
        <p:spPr/>
        <p:txBody>
          <a:bodyPr/>
          <a:lstStyle/>
          <a:p>
            <a:fld id="{F68080B1-9218-45CE-BE7E-F8224E1D2069}" type="slidenum">
              <a:rPr lang="de-DE" smtClean="0"/>
              <a:t>‹Nr.›</a:t>
            </a:fld>
            <a:endParaRPr lang="de-DE"/>
          </a:p>
        </p:txBody>
      </p:sp>
    </p:spTree>
    <p:extLst>
      <p:ext uri="{BB962C8B-B14F-4D97-AF65-F5344CB8AC3E}">
        <p14:creationId xmlns:p14="http://schemas.microsoft.com/office/powerpoint/2010/main" val="13066803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DE" smtClean="0"/>
              <a:pPr/>
              <a:t>‹Nr.›</a:t>
            </a:fld>
            <a:endParaRPr lang="de-DE"/>
          </a:p>
        </p:txBody>
      </p:sp>
    </p:spTree>
    <p:extLst>
      <p:ext uri="{BB962C8B-B14F-4D97-AF65-F5344CB8AC3E}">
        <p14:creationId xmlns:p14="http://schemas.microsoft.com/office/powerpoint/2010/main" val="1147621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C1ED44DA-AF92-41C9-85A1-139E97889E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9E670303-FB68-47EA-8B2E-A67AF2BAEA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97A2939-19F9-4724-94F2-A456560E4C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C3D18B-32BD-4C85-8AD7-78C16C3FB3D9}" type="datetime1">
              <a:rPr lang="de-DE" smtClean="0"/>
              <a:t>07.06.2021</a:t>
            </a:fld>
            <a:endParaRPr lang="de-DE"/>
          </a:p>
        </p:txBody>
      </p:sp>
      <p:sp>
        <p:nvSpPr>
          <p:cNvPr id="5" name="Fußzeilenplatzhalter 4">
            <a:extLst>
              <a:ext uri="{FF2B5EF4-FFF2-40B4-BE49-F238E27FC236}">
                <a16:creationId xmlns:a16="http://schemas.microsoft.com/office/drawing/2014/main" id="{DE3B6E30-0813-4E81-8C1A-1F2077ED15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BE5C5BCD-A34D-465D-9704-3C68DD2F71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080B1-9218-45CE-BE7E-F8224E1D2069}" type="slidenum">
              <a:rPr lang="de-DE" smtClean="0"/>
              <a:t>‹Nr.›</a:t>
            </a:fld>
            <a:endParaRPr lang="de-DE"/>
          </a:p>
        </p:txBody>
      </p:sp>
    </p:spTree>
    <p:extLst>
      <p:ext uri="{BB962C8B-B14F-4D97-AF65-F5344CB8AC3E}">
        <p14:creationId xmlns:p14="http://schemas.microsoft.com/office/powerpoint/2010/main" val="3031107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comments" Target="../comments/commen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omments" Target="../comments/commen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comments" Target="../comments/comment5.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18">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fik 4">
            <a:extLst>
              <a:ext uri="{FF2B5EF4-FFF2-40B4-BE49-F238E27FC236}">
                <a16:creationId xmlns:a16="http://schemas.microsoft.com/office/drawing/2014/main" id="{5593695E-FAA8-49B8-A2CB-C3FEF5AA81D5}"/>
              </a:ext>
            </a:extLst>
          </p:cNvPr>
          <p:cNvPicPr>
            <a:picLocks noChangeAspect="1"/>
          </p:cNvPicPr>
          <p:nvPr/>
        </p:nvPicPr>
        <p:blipFill rotWithShape="1">
          <a:blip r:embed="rId2">
            <a:extLst>
              <a:ext uri="{28A0092B-C50C-407E-A947-70E740481C1C}">
                <a14:useLocalDpi xmlns:a14="http://schemas.microsoft.com/office/drawing/2010/main" val="0"/>
              </a:ext>
            </a:extLst>
          </a:blip>
          <a:srcRect l="9397" r="10234"/>
          <a:stretch/>
        </p:blipFill>
        <p:spPr>
          <a:xfrm>
            <a:off x="2522358" y="10"/>
            <a:ext cx="9669642" cy="6857990"/>
          </a:xfrm>
          <a:prstGeom prst="rect">
            <a:avLst/>
          </a:prstGeom>
        </p:spPr>
      </p:pic>
      <p:sp>
        <p:nvSpPr>
          <p:cNvPr id="39" name="Rectangle 2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EE25B563-104F-48A5-BBE7-A4FED326DA29}"/>
              </a:ext>
            </a:extLst>
          </p:cNvPr>
          <p:cNvSpPr>
            <a:spLocks noGrp="1"/>
          </p:cNvSpPr>
          <p:nvPr>
            <p:ph type="ctrTitle"/>
          </p:nvPr>
        </p:nvSpPr>
        <p:spPr>
          <a:xfrm>
            <a:off x="717336" y="626001"/>
            <a:ext cx="3973385" cy="1907474"/>
          </a:xfrm>
          <a:noFill/>
        </p:spPr>
        <p:txBody>
          <a:bodyPr>
            <a:normAutofit/>
          </a:bodyPr>
          <a:lstStyle/>
          <a:p>
            <a:pPr algn="l"/>
            <a:r>
              <a:rPr lang="de-DE" sz="5200" dirty="0"/>
              <a:t>Customer Journey Maps</a:t>
            </a:r>
          </a:p>
        </p:txBody>
      </p:sp>
      <p:sp>
        <p:nvSpPr>
          <p:cNvPr id="3" name="Untertitel 2">
            <a:extLst>
              <a:ext uri="{FF2B5EF4-FFF2-40B4-BE49-F238E27FC236}">
                <a16:creationId xmlns:a16="http://schemas.microsoft.com/office/drawing/2014/main" id="{7ABAC26B-C6B4-48DA-A2D9-1412FCD8B72B}"/>
              </a:ext>
            </a:extLst>
          </p:cNvPr>
          <p:cNvSpPr>
            <a:spLocks noGrp="1"/>
          </p:cNvSpPr>
          <p:nvPr>
            <p:ph type="subTitle" idx="1"/>
          </p:nvPr>
        </p:nvSpPr>
        <p:spPr>
          <a:xfrm>
            <a:off x="426608" y="3394358"/>
            <a:ext cx="4690676" cy="3004747"/>
          </a:xfrm>
          <a:noFill/>
        </p:spPr>
        <p:txBody>
          <a:bodyPr>
            <a:noAutofit/>
          </a:bodyPr>
          <a:lstStyle/>
          <a:p>
            <a:pPr algn="l"/>
            <a:r>
              <a:rPr lang="de-DE" sz="1800" b="0" i="0" u="none" strike="noStrike" baseline="0" dirty="0"/>
              <a:t>Die Customer Journey </a:t>
            </a:r>
            <a:r>
              <a:rPr lang="de-DE" sz="1800" b="0" i="0" u="none" strike="noStrike" baseline="0" dirty="0" err="1"/>
              <a:t>Map</a:t>
            </a:r>
            <a:r>
              <a:rPr lang="de-DE" sz="1800" b="0" i="0" u="none" strike="noStrike" baseline="0" dirty="0"/>
              <a:t> (CJM) visuelle Darstellung der User Journey und der Erfahrung bei der Nutzung eines Dienstes oder Bereichs.</a:t>
            </a:r>
          </a:p>
          <a:p>
            <a:pPr algn="l"/>
            <a:r>
              <a:rPr lang="de-DE" sz="1800" b="0" i="0" u="none" strike="noStrike" baseline="0" dirty="0"/>
              <a:t>Die CJM visualisiert die User Journey von Anfang bis Ende einer Aufgabe, um die verschiedenen Phasen, Schritte und Touchpoints, die ein Benutzer durchlaufen muss, um eine Aufgabe zu erledigen, hervorzuheben und zu verstehen.</a:t>
            </a:r>
            <a:endParaRPr lang="de-DE" sz="1800" dirty="0"/>
          </a:p>
        </p:txBody>
      </p:sp>
    </p:spTree>
    <p:extLst>
      <p:ext uri="{BB962C8B-B14F-4D97-AF65-F5344CB8AC3E}">
        <p14:creationId xmlns:p14="http://schemas.microsoft.com/office/powerpoint/2010/main" val="180445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B91607-EDD2-4B4C-872C-E119B0F85B47}"/>
              </a:ext>
            </a:extLst>
          </p:cNvPr>
          <p:cNvSpPr>
            <a:spLocks noGrp="1"/>
          </p:cNvSpPr>
          <p:nvPr>
            <p:ph type="ctrTitle"/>
          </p:nvPr>
        </p:nvSpPr>
        <p:spPr>
          <a:xfrm>
            <a:off x="590206" y="1669500"/>
            <a:ext cx="3505495" cy="1622321"/>
          </a:xfrm>
        </p:spPr>
        <p:txBody>
          <a:bodyPr vert="horz" lIns="91440" tIns="45720" rIns="91440" bIns="45720" rtlCol="0" anchor="ctr">
            <a:normAutofit/>
          </a:bodyPr>
          <a:lstStyle/>
          <a:p>
            <a:pPr algn="l"/>
            <a:r>
              <a:rPr lang="en-US" sz="3700" kern="1200" dirty="0" err="1">
                <a:solidFill>
                  <a:schemeClr val="tx1"/>
                </a:solidFill>
                <a:latin typeface="+mj-lt"/>
                <a:ea typeface="+mj-ea"/>
                <a:cs typeface="+mj-cs"/>
              </a:rPr>
              <a:t>Warum</a:t>
            </a:r>
            <a:r>
              <a:rPr lang="en-US" sz="3700" kern="1200" dirty="0">
                <a:solidFill>
                  <a:schemeClr val="tx1"/>
                </a:solidFill>
                <a:latin typeface="+mj-lt"/>
                <a:ea typeface="+mj-ea"/>
                <a:cs typeface="+mj-cs"/>
              </a:rPr>
              <a:t> Customer Journey Maps?</a:t>
            </a:r>
          </a:p>
        </p:txBody>
      </p:sp>
      <p:sp>
        <p:nvSpPr>
          <p:cNvPr id="16" name="Rectangle 15">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feld 8">
            <a:extLst>
              <a:ext uri="{FF2B5EF4-FFF2-40B4-BE49-F238E27FC236}">
                <a16:creationId xmlns:a16="http://schemas.microsoft.com/office/drawing/2014/main" id="{245E1114-0D50-4F21-9E82-2A8FEE02D909}"/>
              </a:ext>
            </a:extLst>
          </p:cNvPr>
          <p:cNvSpPr txBox="1"/>
          <p:nvPr/>
        </p:nvSpPr>
        <p:spPr>
          <a:xfrm>
            <a:off x="5235777" y="6400800"/>
            <a:ext cx="6357807" cy="3774234"/>
          </a:xfrm>
          <a:prstGeom prst="rect">
            <a:avLst/>
          </a:prstGeom>
        </p:spPr>
        <p:txBody>
          <a:bodyPr vert="horz" lIns="91440" tIns="45720" rIns="91440" bIns="45720" rtlCol="0">
            <a:normAutofit/>
          </a:bodyPr>
          <a:lstStyle/>
          <a:p>
            <a:pPr>
              <a:lnSpc>
                <a:spcPct val="90000"/>
              </a:lnSpc>
              <a:spcAft>
                <a:spcPts val="600"/>
              </a:spcAft>
            </a:pPr>
            <a:r>
              <a:rPr lang="de-DE" sz="900" b="0" i="0" dirty="0">
                <a:effectLst/>
                <a:latin typeface="Arial" panose="020B0604020202020204" pitchFamily="34" charset="0"/>
              </a:rPr>
              <a:t>[Institut der deutschen Wirtschaft 2021] </a:t>
            </a:r>
            <a:endParaRPr lang="en-US" sz="2000" dirty="0"/>
          </a:p>
        </p:txBody>
      </p:sp>
      <p:sp>
        <p:nvSpPr>
          <p:cNvPr id="14"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fik 7">
            <a:extLst>
              <a:ext uri="{FF2B5EF4-FFF2-40B4-BE49-F238E27FC236}">
                <a16:creationId xmlns:a16="http://schemas.microsoft.com/office/drawing/2014/main" id="{71345C35-956C-44B6-93CE-A7F14FA6BD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5862" y="1049741"/>
            <a:ext cx="6019331" cy="4755271"/>
          </a:xfrm>
          <a:prstGeom prst="rect">
            <a:avLst/>
          </a:prstGeom>
          <a:effectLst/>
        </p:spPr>
      </p:pic>
    </p:spTree>
    <p:extLst>
      <p:ext uri="{BB962C8B-B14F-4D97-AF65-F5344CB8AC3E}">
        <p14:creationId xmlns:p14="http://schemas.microsoft.com/office/powerpoint/2010/main" val="4153221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9">
            <a:extLst>
              <a:ext uri="{FF2B5EF4-FFF2-40B4-BE49-F238E27FC236}">
                <a16:creationId xmlns:a16="http://schemas.microsoft.com/office/drawing/2014/main" id="{22587ECF-85E9-4393-9D87-8EB6F3F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785D4A5-B972-43CC-BD41-52A866229F36}"/>
              </a:ext>
            </a:extLst>
          </p:cNvPr>
          <p:cNvSpPr>
            <a:spLocks noGrp="1"/>
          </p:cNvSpPr>
          <p:nvPr>
            <p:ph type="title"/>
          </p:nvPr>
        </p:nvSpPr>
        <p:spPr>
          <a:xfrm>
            <a:off x="838199" y="537883"/>
            <a:ext cx="4783697" cy="1942810"/>
          </a:xfrm>
        </p:spPr>
        <p:txBody>
          <a:bodyPr anchor="b">
            <a:normAutofit/>
          </a:bodyPr>
          <a:lstStyle/>
          <a:p>
            <a:r>
              <a:rPr lang="de-DE" sz="4000"/>
              <a:t>Ziel einer Customer Journey Map</a:t>
            </a:r>
          </a:p>
        </p:txBody>
      </p:sp>
      <p:sp>
        <p:nvSpPr>
          <p:cNvPr id="3" name="Inhaltsplatzhalter 2">
            <a:extLst>
              <a:ext uri="{FF2B5EF4-FFF2-40B4-BE49-F238E27FC236}">
                <a16:creationId xmlns:a16="http://schemas.microsoft.com/office/drawing/2014/main" id="{6610B3B9-FEB1-4A6D-A35C-2BBE1077D41E}"/>
              </a:ext>
            </a:extLst>
          </p:cNvPr>
          <p:cNvSpPr>
            <a:spLocks noGrp="1"/>
          </p:cNvSpPr>
          <p:nvPr>
            <p:ph idx="1"/>
          </p:nvPr>
        </p:nvSpPr>
        <p:spPr>
          <a:xfrm>
            <a:off x="838199" y="2686323"/>
            <a:ext cx="4783697" cy="3433583"/>
          </a:xfrm>
        </p:spPr>
        <p:txBody>
          <a:bodyPr>
            <a:normAutofit/>
          </a:bodyPr>
          <a:lstStyle/>
          <a:p>
            <a:pPr marL="0" indent="0">
              <a:buNone/>
            </a:pPr>
            <a:endParaRPr lang="de-DE" sz="1700" dirty="0"/>
          </a:p>
          <a:p>
            <a:r>
              <a:rPr lang="de-DE" sz="1700" dirty="0"/>
              <a:t>Analyse welche Berührungspunkte mit dem Produkt besonders ausschlaggebend für den Kauf/die Nutzung waren </a:t>
            </a:r>
          </a:p>
          <a:p>
            <a:endParaRPr lang="de-DE" sz="1700" dirty="0"/>
          </a:p>
          <a:p>
            <a:r>
              <a:rPr lang="de-DE" sz="1700" dirty="0"/>
              <a:t>Möglichkeit die Wirkung verschiedener Kanäle aufeinander zu observieren </a:t>
            </a:r>
          </a:p>
          <a:p>
            <a:endParaRPr lang="de-DE" sz="1700" dirty="0"/>
          </a:p>
          <a:p>
            <a:r>
              <a:rPr lang="de-DE" sz="1700" dirty="0"/>
              <a:t>Gewinnung von Erkenntnissen über das Verhalten und die Präferenzen der Zielgruppe bezüglich der Nutzung und Reaktionen auf Werbung gewonnen</a:t>
            </a:r>
          </a:p>
        </p:txBody>
      </p:sp>
      <p:pic>
        <p:nvPicPr>
          <p:cNvPr id="5" name="Grafik 4" descr="Ein Bild, das Pfeil enthält.&#10;&#10;Automatisch generierte Beschreibung">
            <a:extLst>
              <a:ext uri="{FF2B5EF4-FFF2-40B4-BE49-F238E27FC236}">
                <a16:creationId xmlns:a16="http://schemas.microsoft.com/office/drawing/2014/main" id="{B6040C19-5775-4FBD-9565-74EF571544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8424" y="2211106"/>
            <a:ext cx="5706413" cy="2377671"/>
          </a:xfrm>
          <a:prstGeom prst="rect">
            <a:avLst/>
          </a:prstGeom>
        </p:spPr>
      </p:pic>
    </p:spTree>
    <p:extLst>
      <p:ext uri="{BB962C8B-B14F-4D97-AF65-F5344CB8AC3E}">
        <p14:creationId xmlns:p14="http://schemas.microsoft.com/office/powerpoint/2010/main" val="3884062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D19BB8BE-1351-4D9B-B761-F84A0B5B6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FA12B39D-1DCF-4862-8C4D-ABBC433A2EF6}"/>
              </a:ext>
            </a:extLst>
          </p:cNvPr>
          <p:cNvSpPr>
            <a:spLocks noGrp="1"/>
          </p:cNvSpPr>
          <p:nvPr>
            <p:ph type="title"/>
          </p:nvPr>
        </p:nvSpPr>
        <p:spPr>
          <a:xfrm>
            <a:off x="838199" y="573741"/>
            <a:ext cx="3785554" cy="2199341"/>
          </a:xfrm>
        </p:spPr>
        <p:txBody>
          <a:bodyPr anchor="b">
            <a:normAutofit/>
          </a:bodyPr>
          <a:lstStyle/>
          <a:p>
            <a:r>
              <a:rPr lang="de-DE" sz="4000"/>
              <a:t>Aktueller Einsatz in der Industrie</a:t>
            </a:r>
          </a:p>
        </p:txBody>
      </p:sp>
      <p:sp>
        <p:nvSpPr>
          <p:cNvPr id="3" name="Inhaltsplatzhalter 2">
            <a:extLst>
              <a:ext uri="{FF2B5EF4-FFF2-40B4-BE49-F238E27FC236}">
                <a16:creationId xmlns:a16="http://schemas.microsoft.com/office/drawing/2014/main" id="{B752ADDD-2B26-4BB0-AC45-5A3D985C19CF}"/>
              </a:ext>
            </a:extLst>
          </p:cNvPr>
          <p:cNvSpPr>
            <a:spLocks noGrp="1"/>
          </p:cNvSpPr>
          <p:nvPr>
            <p:ph idx="1"/>
          </p:nvPr>
        </p:nvSpPr>
        <p:spPr>
          <a:xfrm>
            <a:off x="838199" y="2982260"/>
            <a:ext cx="3748441" cy="3149600"/>
          </a:xfrm>
        </p:spPr>
        <p:txBody>
          <a:bodyPr>
            <a:normAutofit/>
          </a:bodyPr>
          <a:lstStyle/>
          <a:p>
            <a:r>
              <a:rPr lang="de-DE" sz="2000" dirty="0"/>
              <a:t>Datengetriebene Analyse der Kunden nimmt in der Industrie immer weiter zu</a:t>
            </a:r>
          </a:p>
          <a:p>
            <a:pPr marL="0" indent="0">
              <a:buNone/>
            </a:pPr>
            <a:endParaRPr lang="de-DE" sz="2000" dirty="0"/>
          </a:p>
          <a:p>
            <a:r>
              <a:rPr lang="de-DE" sz="2000" dirty="0"/>
              <a:t>Zusätzlich erlauben verschiedenste digitale Kanäle der Industrie Daten auf unterschiedle Weise zu sammeln und zu verbreiten</a:t>
            </a:r>
          </a:p>
        </p:txBody>
      </p:sp>
      <p:pic>
        <p:nvPicPr>
          <p:cNvPr id="5" name="Grafik 4">
            <a:extLst>
              <a:ext uri="{FF2B5EF4-FFF2-40B4-BE49-F238E27FC236}">
                <a16:creationId xmlns:a16="http://schemas.microsoft.com/office/drawing/2014/main" id="{2A210FEA-70EE-432E-9791-E09D0B5874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1801" y="1838500"/>
            <a:ext cx="6362000" cy="3181000"/>
          </a:xfrm>
          <a:prstGeom prst="rect">
            <a:avLst/>
          </a:prstGeom>
        </p:spPr>
      </p:pic>
    </p:spTree>
    <p:extLst>
      <p:ext uri="{BB962C8B-B14F-4D97-AF65-F5344CB8AC3E}">
        <p14:creationId xmlns:p14="http://schemas.microsoft.com/office/powerpoint/2010/main" val="1665137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79D8D2-07EF-416C-A247-81F1C89A4FAF}"/>
              </a:ext>
            </a:extLst>
          </p:cNvPr>
          <p:cNvSpPr>
            <a:spLocks noGrp="1"/>
          </p:cNvSpPr>
          <p:nvPr>
            <p:ph type="title"/>
          </p:nvPr>
        </p:nvSpPr>
        <p:spPr/>
        <p:txBody>
          <a:bodyPr/>
          <a:lstStyle/>
          <a:p>
            <a:pPr algn="ctr"/>
            <a:r>
              <a:rPr lang="de-DE" dirty="0"/>
              <a:t>Bestandteile einer CJM</a:t>
            </a:r>
          </a:p>
        </p:txBody>
      </p:sp>
      <p:sp>
        <p:nvSpPr>
          <p:cNvPr id="4" name="Textfeld 3">
            <a:extLst>
              <a:ext uri="{FF2B5EF4-FFF2-40B4-BE49-F238E27FC236}">
                <a16:creationId xmlns:a16="http://schemas.microsoft.com/office/drawing/2014/main" id="{F2778520-16A5-442E-8B6F-13AB50F62432}"/>
              </a:ext>
            </a:extLst>
          </p:cNvPr>
          <p:cNvSpPr txBox="1"/>
          <p:nvPr/>
        </p:nvSpPr>
        <p:spPr>
          <a:xfrm>
            <a:off x="218900" y="6488668"/>
            <a:ext cx="10382250" cy="523220"/>
          </a:xfrm>
          <a:prstGeom prst="rect">
            <a:avLst/>
          </a:prstGeom>
          <a:noFill/>
        </p:spPr>
        <p:txBody>
          <a:bodyPr wrap="square" rtlCol="0">
            <a:spAutoFit/>
          </a:bodyPr>
          <a:lstStyle/>
          <a:p>
            <a:r>
              <a:rPr lang="de-DE" sz="1000" b="0" i="0" dirty="0">
                <a:effectLst/>
                <a:latin typeface="Arial" panose="020B0604020202020204" pitchFamily="34" charset="0"/>
              </a:rPr>
              <a:t>[</a:t>
            </a:r>
            <a:r>
              <a:rPr lang="de-DE" sz="1000" b="0" i="0" dirty="0" err="1">
                <a:effectLst/>
                <a:latin typeface="Arial" panose="020B0604020202020204" pitchFamily="34" charset="0"/>
              </a:rPr>
              <a:t>Haugstveitet</a:t>
            </a:r>
            <a:r>
              <a:rPr lang="de-DE" sz="1000" b="0" i="0" dirty="0">
                <a:effectLst/>
                <a:latin typeface="Arial" panose="020B0604020202020204" pitchFamily="34" charset="0"/>
              </a:rPr>
              <a:t> al.2016]</a:t>
            </a:r>
            <a:br>
              <a:rPr lang="de-DE" dirty="0"/>
            </a:br>
            <a:endParaRPr lang="de-DE" dirty="0"/>
          </a:p>
        </p:txBody>
      </p:sp>
      <p:pic>
        <p:nvPicPr>
          <p:cNvPr id="6" name="Grafik 5">
            <a:extLst>
              <a:ext uri="{FF2B5EF4-FFF2-40B4-BE49-F238E27FC236}">
                <a16:creationId xmlns:a16="http://schemas.microsoft.com/office/drawing/2014/main" id="{DFBA434E-0D0C-492E-84F2-A7F34BA165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2992" y="1516388"/>
            <a:ext cx="8226016" cy="5079346"/>
          </a:xfrm>
          <a:prstGeom prst="rect">
            <a:avLst/>
          </a:prstGeom>
        </p:spPr>
      </p:pic>
    </p:spTree>
    <p:extLst>
      <p:ext uri="{BB962C8B-B14F-4D97-AF65-F5344CB8AC3E}">
        <p14:creationId xmlns:p14="http://schemas.microsoft.com/office/powerpoint/2010/main" val="1054796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8E8795-993C-4B30-AC29-47D69707DE28}"/>
              </a:ext>
            </a:extLst>
          </p:cNvPr>
          <p:cNvSpPr>
            <a:spLocks noGrp="1"/>
          </p:cNvSpPr>
          <p:nvPr>
            <p:ph type="title"/>
          </p:nvPr>
        </p:nvSpPr>
        <p:spPr/>
        <p:txBody>
          <a:bodyPr/>
          <a:lstStyle/>
          <a:p>
            <a:pPr algn="ctr"/>
            <a:r>
              <a:rPr lang="de-DE" dirty="0"/>
              <a:t>Bestandteile einer CJM</a:t>
            </a:r>
          </a:p>
        </p:txBody>
      </p:sp>
      <p:pic>
        <p:nvPicPr>
          <p:cNvPr id="5" name="Grafik 4">
            <a:extLst>
              <a:ext uri="{FF2B5EF4-FFF2-40B4-BE49-F238E27FC236}">
                <a16:creationId xmlns:a16="http://schemas.microsoft.com/office/drawing/2014/main" id="{406F8EC9-3B1B-4E95-AB6B-BF3A21CCA0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5041" y="1796663"/>
            <a:ext cx="8792802" cy="4086795"/>
          </a:xfrm>
          <a:prstGeom prst="rect">
            <a:avLst/>
          </a:prstGeom>
        </p:spPr>
      </p:pic>
      <p:sp>
        <p:nvSpPr>
          <p:cNvPr id="7" name="Textfeld 6">
            <a:extLst>
              <a:ext uri="{FF2B5EF4-FFF2-40B4-BE49-F238E27FC236}">
                <a16:creationId xmlns:a16="http://schemas.microsoft.com/office/drawing/2014/main" id="{163356FB-8450-43EE-B42D-F347717A41C6}"/>
              </a:ext>
            </a:extLst>
          </p:cNvPr>
          <p:cNvSpPr txBox="1"/>
          <p:nvPr/>
        </p:nvSpPr>
        <p:spPr>
          <a:xfrm>
            <a:off x="218900" y="6488668"/>
            <a:ext cx="10382250" cy="523220"/>
          </a:xfrm>
          <a:prstGeom prst="rect">
            <a:avLst/>
          </a:prstGeom>
          <a:noFill/>
        </p:spPr>
        <p:txBody>
          <a:bodyPr wrap="square" rtlCol="0">
            <a:spAutoFit/>
          </a:bodyPr>
          <a:lstStyle/>
          <a:p>
            <a:r>
              <a:rPr lang="de-DE" sz="1000" b="0" i="0" dirty="0">
                <a:effectLst/>
                <a:latin typeface="Arial" panose="020B0604020202020204" pitchFamily="34" charset="0"/>
              </a:rPr>
              <a:t>[</a:t>
            </a:r>
            <a:r>
              <a:rPr lang="de-DE" sz="1000" b="0" i="0" dirty="0" err="1">
                <a:effectLst/>
                <a:latin typeface="Arial" panose="020B0604020202020204" pitchFamily="34" charset="0"/>
              </a:rPr>
              <a:t>Haugstveitet</a:t>
            </a:r>
            <a:r>
              <a:rPr lang="de-DE" sz="1000" b="0" i="0" dirty="0">
                <a:effectLst/>
                <a:latin typeface="Arial" panose="020B0604020202020204" pitchFamily="34" charset="0"/>
              </a:rPr>
              <a:t> al.2016]</a:t>
            </a:r>
            <a:br>
              <a:rPr lang="de-DE" dirty="0"/>
            </a:br>
            <a:endParaRPr lang="de-DE" dirty="0"/>
          </a:p>
        </p:txBody>
      </p:sp>
    </p:spTree>
    <p:extLst>
      <p:ext uri="{BB962C8B-B14F-4D97-AF65-F5344CB8AC3E}">
        <p14:creationId xmlns:p14="http://schemas.microsoft.com/office/powerpoint/2010/main" val="979458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pPr algn="ctr"/>
            <a:r>
              <a:rPr lang="de"/>
              <a:t>Die Phasen - Welche Schritte geht ein Kunde?</a:t>
            </a:r>
            <a:endParaRPr/>
          </a:p>
        </p:txBody>
      </p:sp>
      <p:sp>
        <p:nvSpPr>
          <p:cNvPr id="55" name="Google Shape;55;p13"/>
          <p:cNvSpPr txBox="1">
            <a:spLocks noGrp="1"/>
          </p:cNvSpPr>
          <p:nvPr>
            <p:ph type="body" idx="1"/>
          </p:nvPr>
        </p:nvSpPr>
        <p:spPr>
          <a:xfrm>
            <a:off x="332567" y="2225100"/>
            <a:ext cx="4690400" cy="3163200"/>
          </a:xfrm>
          <a:prstGeom prst="rect">
            <a:avLst/>
          </a:prstGeom>
        </p:spPr>
        <p:txBody>
          <a:bodyPr spcFirstLastPara="1" vert="horz" wrap="square" lIns="121900" tIns="121900" rIns="121900" bIns="121900" rtlCol="0" anchor="t" anchorCtr="0">
            <a:normAutofit fontScale="92500" lnSpcReduction="20000"/>
          </a:bodyPr>
          <a:lstStyle/>
          <a:p>
            <a:pPr marL="0" indent="0">
              <a:buNone/>
            </a:pPr>
            <a:r>
              <a:rPr lang="de" sz="1467">
                <a:solidFill>
                  <a:schemeClr val="dk1"/>
                </a:solidFill>
              </a:rPr>
              <a:t>Phasen: </a:t>
            </a:r>
            <a:br>
              <a:rPr lang="de" sz="1467">
                <a:solidFill>
                  <a:schemeClr val="dk1"/>
                </a:solidFill>
              </a:rPr>
            </a:br>
            <a:r>
              <a:rPr lang="de" sz="1467">
                <a:solidFill>
                  <a:schemeClr val="dk1"/>
                </a:solidFill>
              </a:rPr>
              <a:t>Pre-Touch, First Touch, Core Touch, Last Touch in Touch </a:t>
            </a:r>
            <a:endParaRPr sz="1467">
              <a:solidFill>
                <a:schemeClr val="dk1"/>
              </a:solidFill>
            </a:endParaRPr>
          </a:p>
          <a:p>
            <a:pPr marL="0" indent="0">
              <a:spcBef>
                <a:spcPts val="1600"/>
              </a:spcBef>
              <a:buNone/>
            </a:pPr>
            <a:r>
              <a:rPr lang="de" sz="1467">
                <a:solidFill>
                  <a:schemeClr val="dk1"/>
                </a:solidFill>
              </a:rPr>
              <a:t>Feelings:</a:t>
            </a:r>
            <a:br>
              <a:rPr lang="de" sz="1467">
                <a:solidFill>
                  <a:schemeClr val="dk1"/>
                </a:solidFill>
              </a:rPr>
            </a:br>
            <a:r>
              <a:rPr lang="de" sz="1467">
                <a:solidFill>
                  <a:schemeClr val="dk1"/>
                </a:solidFill>
              </a:rPr>
              <a:t>Eine Form der Gewichtung der Touchpoints</a:t>
            </a:r>
            <a:endParaRPr sz="1467">
              <a:solidFill>
                <a:schemeClr val="dk1"/>
              </a:solidFill>
            </a:endParaRPr>
          </a:p>
          <a:p>
            <a:pPr marL="0" indent="0">
              <a:spcBef>
                <a:spcPts val="1600"/>
              </a:spcBef>
              <a:buNone/>
            </a:pPr>
            <a:r>
              <a:rPr lang="de" sz="1467">
                <a:solidFill>
                  <a:schemeClr val="dk1"/>
                </a:solidFill>
              </a:rPr>
              <a:t>Channels:</a:t>
            </a:r>
            <a:br>
              <a:rPr lang="de" sz="1467">
                <a:solidFill>
                  <a:schemeClr val="dk1"/>
                </a:solidFill>
              </a:rPr>
            </a:br>
            <a:r>
              <a:rPr lang="de" sz="1467">
                <a:solidFill>
                  <a:schemeClr val="dk1"/>
                </a:solidFill>
              </a:rPr>
              <a:t>Die Form der Interaktion mit dem Unternehmen</a:t>
            </a:r>
            <a:endParaRPr sz="1467">
              <a:solidFill>
                <a:schemeClr val="dk1"/>
              </a:solidFill>
            </a:endParaRPr>
          </a:p>
          <a:p>
            <a:pPr marL="0" indent="0">
              <a:spcBef>
                <a:spcPts val="1600"/>
              </a:spcBef>
              <a:spcAft>
                <a:spcPts val="1600"/>
              </a:spcAft>
              <a:buNone/>
            </a:pPr>
            <a:r>
              <a:rPr lang="de" sz="1467">
                <a:solidFill>
                  <a:schemeClr val="dk1"/>
                </a:solidFill>
              </a:rPr>
              <a:t>Doing &amp; Saying:</a:t>
            </a:r>
            <a:br>
              <a:rPr lang="de" sz="1467">
                <a:solidFill>
                  <a:schemeClr val="dk1"/>
                </a:solidFill>
              </a:rPr>
            </a:br>
            <a:r>
              <a:rPr lang="de" sz="1467">
                <a:solidFill>
                  <a:schemeClr val="dk1"/>
                </a:solidFill>
              </a:rPr>
              <a:t>Beschreibung dessen was der Kunde bei der jeweiligen Interaktion denkt</a:t>
            </a:r>
            <a:br>
              <a:rPr lang="de" sz="1467">
                <a:solidFill>
                  <a:schemeClr val="dk1"/>
                </a:solidFill>
              </a:rPr>
            </a:br>
            <a:br>
              <a:rPr lang="de" sz="1467">
                <a:solidFill>
                  <a:schemeClr val="dk1"/>
                </a:solidFill>
              </a:rPr>
            </a:br>
            <a:r>
              <a:rPr lang="de" sz="1467">
                <a:solidFill>
                  <a:schemeClr val="dk1"/>
                </a:solidFill>
              </a:rPr>
              <a:t>Thinking</a:t>
            </a:r>
            <a:r>
              <a:rPr lang="de" sz="1611">
                <a:solidFill>
                  <a:schemeClr val="dk1"/>
                </a:solidFill>
              </a:rPr>
              <a:t>:</a:t>
            </a:r>
            <a:br>
              <a:rPr lang="de" sz="1611">
                <a:solidFill>
                  <a:schemeClr val="dk1"/>
                </a:solidFill>
              </a:rPr>
            </a:br>
            <a:r>
              <a:rPr lang="de" sz="1611">
                <a:solidFill>
                  <a:schemeClr val="dk1"/>
                </a:solidFill>
              </a:rPr>
              <a:t>Was ist der Gedanke des Kunden während der einzelnen Phasen</a:t>
            </a:r>
            <a:endParaRPr sz="1611">
              <a:solidFill>
                <a:schemeClr val="dk1"/>
              </a:solidFill>
            </a:endParaRPr>
          </a:p>
        </p:txBody>
      </p:sp>
      <p:pic>
        <p:nvPicPr>
          <p:cNvPr id="56" name="Google Shape;56;p13"/>
          <p:cNvPicPr preferRelativeResize="0"/>
          <p:nvPr/>
        </p:nvPicPr>
        <p:blipFill>
          <a:blip r:embed="rId3">
            <a:alphaModFix/>
          </a:blip>
          <a:stretch>
            <a:fillRect/>
          </a:stretch>
        </p:blipFill>
        <p:spPr>
          <a:xfrm>
            <a:off x="5022967" y="1751867"/>
            <a:ext cx="6753435" cy="3518360"/>
          </a:xfrm>
          <a:prstGeom prst="rect">
            <a:avLst/>
          </a:prstGeom>
          <a:noFill/>
          <a:ln>
            <a:noFill/>
          </a:ln>
        </p:spPr>
      </p:pic>
      <p:sp>
        <p:nvSpPr>
          <p:cNvPr id="57" name="Google Shape;57;p13"/>
          <p:cNvSpPr txBox="1"/>
          <p:nvPr/>
        </p:nvSpPr>
        <p:spPr>
          <a:xfrm>
            <a:off x="5060000" y="5250933"/>
            <a:ext cx="6546400" cy="790048"/>
          </a:xfrm>
          <a:prstGeom prst="rect">
            <a:avLst/>
          </a:prstGeom>
          <a:noFill/>
          <a:ln>
            <a:noFill/>
          </a:ln>
        </p:spPr>
        <p:txBody>
          <a:bodyPr spcFirstLastPara="1" wrap="square" lIns="121900" tIns="121900" rIns="121900" bIns="121900" anchor="t" anchorCtr="0">
            <a:spAutoFit/>
          </a:bodyPr>
          <a:lstStyle/>
          <a:p>
            <a:pPr>
              <a:lnSpc>
                <a:spcPct val="115000"/>
              </a:lnSpc>
              <a:spcBef>
                <a:spcPts val="2400"/>
              </a:spcBef>
            </a:pPr>
            <a:r>
              <a:rPr lang="de" sz="667">
                <a:solidFill>
                  <a:schemeClr val="dk1"/>
                </a:solidFill>
                <a:highlight>
                  <a:srgbClr val="FFFFFF"/>
                </a:highlight>
              </a:rPr>
              <a:t>Grafik:</a:t>
            </a:r>
            <a:br>
              <a:rPr lang="de" sz="667">
                <a:solidFill>
                  <a:schemeClr val="dk1"/>
                </a:solidFill>
                <a:highlight>
                  <a:srgbClr val="FFFFFF"/>
                </a:highlight>
              </a:rPr>
            </a:br>
            <a:r>
              <a:rPr lang="de" sz="667">
                <a:solidFill>
                  <a:schemeClr val="dk1"/>
                </a:solidFill>
                <a:highlight>
                  <a:srgbClr val="FFFFFF"/>
                </a:highlight>
              </a:rPr>
              <a:t>Aus: Evaluating Customer Experience through Customer Journey Mapping and Service Blueprinting at Edmonton Public Library An Exploratory Study. Erste Abbildung</a:t>
            </a:r>
            <a:endParaRPr sz="933"/>
          </a:p>
        </p:txBody>
      </p:sp>
      <p:sp>
        <p:nvSpPr>
          <p:cNvPr id="58" name="Google Shape;58;p13"/>
          <p:cNvSpPr txBox="1"/>
          <p:nvPr/>
        </p:nvSpPr>
        <p:spPr>
          <a:xfrm>
            <a:off x="403900" y="5621034"/>
            <a:ext cx="4064400" cy="984845"/>
          </a:xfrm>
          <a:prstGeom prst="rect">
            <a:avLst/>
          </a:prstGeom>
          <a:noFill/>
          <a:ln>
            <a:noFill/>
          </a:ln>
        </p:spPr>
        <p:txBody>
          <a:bodyPr spcFirstLastPara="1" wrap="square" lIns="121900" tIns="121900" rIns="121900" bIns="121900" anchor="t" anchorCtr="0">
            <a:spAutoFit/>
          </a:bodyPr>
          <a:lstStyle/>
          <a:p>
            <a:r>
              <a:rPr lang="de" sz="2400" u="sng"/>
              <a:t>Nur eine von vielen möglichen Repräsentation!!!</a:t>
            </a:r>
            <a:endParaRPr sz="2400" u="sng"/>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pPr algn="ctr"/>
            <a:r>
              <a:rPr lang="de"/>
              <a:t>Andere Beispiele</a:t>
            </a:r>
            <a:endParaRPr/>
          </a:p>
        </p:txBody>
      </p:sp>
      <p:pic>
        <p:nvPicPr>
          <p:cNvPr id="64" name="Google Shape;64;p14"/>
          <p:cNvPicPr preferRelativeResize="0"/>
          <p:nvPr/>
        </p:nvPicPr>
        <p:blipFill>
          <a:blip r:embed="rId3">
            <a:alphaModFix/>
          </a:blip>
          <a:stretch>
            <a:fillRect/>
          </a:stretch>
        </p:blipFill>
        <p:spPr>
          <a:xfrm>
            <a:off x="6225601" y="1356967"/>
            <a:ext cx="5550801" cy="4163099"/>
          </a:xfrm>
          <a:prstGeom prst="rect">
            <a:avLst/>
          </a:prstGeom>
          <a:noFill/>
          <a:ln>
            <a:noFill/>
          </a:ln>
        </p:spPr>
      </p:pic>
      <p:pic>
        <p:nvPicPr>
          <p:cNvPr id="65" name="Google Shape;65;p14"/>
          <p:cNvPicPr preferRelativeResize="0"/>
          <p:nvPr/>
        </p:nvPicPr>
        <p:blipFill>
          <a:blip r:embed="rId4">
            <a:alphaModFix/>
          </a:blip>
          <a:stretch>
            <a:fillRect/>
          </a:stretch>
        </p:blipFill>
        <p:spPr>
          <a:xfrm>
            <a:off x="415600" y="2694901"/>
            <a:ext cx="4848933" cy="361613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pPr algn="ctr"/>
            <a:r>
              <a:rPr lang="de"/>
              <a:t>Design Thinking und Customer Journey Map</a:t>
            </a:r>
            <a:endParaRPr/>
          </a:p>
        </p:txBody>
      </p:sp>
      <p:sp>
        <p:nvSpPr>
          <p:cNvPr id="71" name="Google Shape;71;p15"/>
          <p:cNvSpPr txBox="1">
            <a:spLocks noGrp="1"/>
          </p:cNvSpPr>
          <p:nvPr>
            <p:ph type="body" idx="1"/>
          </p:nvPr>
        </p:nvSpPr>
        <p:spPr>
          <a:xfrm>
            <a:off x="688400" y="2083567"/>
            <a:ext cx="5407600" cy="2039600"/>
          </a:xfrm>
          <a:prstGeom prst="rect">
            <a:avLst/>
          </a:prstGeom>
        </p:spPr>
        <p:txBody>
          <a:bodyPr spcFirstLastPara="1" vert="horz" wrap="square" lIns="121900" tIns="121900" rIns="121900" bIns="121900" rtlCol="0" anchor="t" anchorCtr="0">
            <a:normAutofit fontScale="85000" lnSpcReduction="20000"/>
          </a:bodyPr>
          <a:lstStyle/>
          <a:p>
            <a:pPr marL="0" indent="0">
              <a:spcAft>
                <a:spcPts val="1600"/>
              </a:spcAft>
              <a:buNone/>
            </a:pPr>
            <a:r>
              <a:rPr lang="de">
                <a:solidFill>
                  <a:schemeClr val="dk1"/>
                </a:solidFill>
              </a:rPr>
              <a:t>Customer Journey Map</a:t>
            </a:r>
            <a:br>
              <a:rPr lang="de">
                <a:solidFill>
                  <a:schemeClr val="dk1"/>
                </a:solidFill>
              </a:rPr>
            </a:br>
            <a:r>
              <a:rPr lang="de">
                <a:solidFill>
                  <a:schemeClr val="dk1"/>
                </a:solidFill>
              </a:rPr>
              <a:t>	-Kunden Verstehen</a:t>
            </a:r>
            <a:br>
              <a:rPr lang="de">
                <a:solidFill>
                  <a:schemeClr val="dk1"/>
                </a:solidFill>
              </a:rPr>
            </a:br>
            <a:r>
              <a:rPr lang="de">
                <a:solidFill>
                  <a:schemeClr val="dk1"/>
                </a:solidFill>
              </a:rPr>
              <a:t>	-Prozess Anpassen</a:t>
            </a:r>
            <a:br>
              <a:rPr lang="de">
                <a:solidFill>
                  <a:schemeClr val="dk1"/>
                </a:solidFill>
              </a:rPr>
            </a:br>
            <a:r>
              <a:rPr lang="de">
                <a:solidFill>
                  <a:schemeClr val="dk1"/>
                </a:solidFill>
              </a:rPr>
              <a:t>	-Erfahrung Verbessern</a:t>
            </a:r>
            <a:br>
              <a:rPr lang="de">
                <a:solidFill>
                  <a:schemeClr val="dk1"/>
                </a:solidFill>
              </a:rPr>
            </a:br>
            <a:r>
              <a:rPr lang="de">
                <a:solidFill>
                  <a:schemeClr val="dk1"/>
                </a:solidFill>
              </a:rPr>
              <a:t>	-Flexible/Präzise einsatzmöglichkeit</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D19BB8BE-1351-4D9B-B761-F84A0B5B6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A3D8671-380D-4C62-ACED-8BA6E69CD227}"/>
              </a:ext>
            </a:extLst>
          </p:cNvPr>
          <p:cNvSpPr>
            <a:spLocks noGrp="1"/>
          </p:cNvSpPr>
          <p:nvPr>
            <p:ph type="title"/>
          </p:nvPr>
        </p:nvSpPr>
        <p:spPr>
          <a:xfrm>
            <a:off x="838199" y="573741"/>
            <a:ext cx="3785554" cy="1557063"/>
          </a:xfrm>
        </p:spPr>
        <p:txBody>
          <a:bodyPr anchor="b">
            <a:normAutofit fontScale="90000"/>
          </a:bodyPr>
          <a:lstStyle/>
          <a:p>
            <a:pPr algn="ctr"/>
            <a:r>
              <a:rPr lang="de-DE" sz="4000" dirty="0"/>
              <a:t>Methoden zur Erstellung einer CJM</a:t>
            </a:r>
          </a:p>
        </p:txBody>
      </p:sp>
      <p:sp>
        <p:nvSpPr>
          <p:cNvPr id="3" name="Inhaltsplatzhalter 2">
            <a:extLst>
              <a:ext uri="{FF2B5EF4-FFF2-40B4-BE49-F238E27FC236}">
                <a16:creationId xmlns:a16="http://schemas.microsoft.com/office/drawing/2014/main" id="{317B21FB-06EE-4DD0-B1D3-931E3C3A24F9}"/>
              </a:ext>
            </a:extLst>
          </p:cNvPr>
          <p:cNvSpPr>
            <a:spLocks noGrp="1"/>
          </p:cNvSpPr>
          <p:nvPr>
            <p:ph idx="1"/>
          </p:nvPr>
        </p:nvSpPr>
        <p:spPr>
          <a:xfrm>
            <a:off x="771087" y="2704545"/>
            <a:ext cx="3748441" cy="3149600"/>
          </a:xfrm>
        </p:spPr>
        <p:txBody>
          <a:bodyPr>
            <a:normAutofit/>
          </a:bodyPr>
          <a:lstStyle/>
          <a:p>
            <a:r>
              <a:rPr lang="de-DE" sz="1400" i="0" u="none" strike="noStrike" baseline="0" dirty="0"/>
              <a:t>User Tagebuch</a:t>
            </a:r>
          </a:p>
          <a:p>
            <a:r>
              <a:rPr lang="de-DE" sz="1400" i="0" u="none" strike="noStrike" baseline="0" dirty="0"/>
              <a:t>Hierarchischen Aufgaben-Analyse</a:t>
            </a:r>
          </a:p>
          <a:p>
            <a:r>
              <a:rPr lang="de-DE" sz="1400" dirty="0"/>
              <a:t>Fokusgruppen</a:t>
            </a:r>
            <a:endParaRPr lang="de-DE" sz="1400" b="0" i="0" u="none" strike="noStrike" baseline="0" dirty="0"/>
          </a:p>
          <a:p>
            <a:r>
              <a:rPr lang="de-DE" sz="1400" b="0" i="0" u="none" strike="noStrike" baseline="0" dirty="0"/>
              <a:t>Individuelle Interviews (Meist Semi-Strukturiert)</a:t>
            </a:r>
          </a:p>
          <a:p>
            <a:r>
              <a:rPr lang="de-DE" sz="1400" b="0" i="0" u="none" strike="noStrike" baseline="0" dirty="0"/>
              <a:t>Beobachtung</a:t>
            </a:r>
          </a:p>
          <a:p>
            <a:pPr marL="0" indent="0">
              <a:buNone/>
            </a:pPr>
            <a:endParaRPr lang="en-US" sz="1400" b="0" i="0" u="none" strike="noStrike" baseline="0" dirty="0"/>
          </a:p>
          <a:p>
            <a:endParaRPr lang="de-DE" sz="1400" dirty="0"/>
          </a:p>
        </p:txBody>
      </p:sp>
      <p:pic>
        <p:nvPicPr>
          <p:cNvPr id="5" name="Grafik 4">
            <a:extLst>
              <a:ext uri="{FF2B5EF4-FFF2-40B4-BE49-F238E27FC236}">
                <a16:creationId xmlns:a16="http://schemas.microsoft.com/office/drawing/2014/main" id="{190BED7C-F023-45A9-82E6-F21F1C5C66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1801" y="1576067"/>
            <a:ext cx="6362000" cy="3705865"/>
          </a:xfrm>
          <a:prstGeom prst="rect">
            <a:avLst/>
          </a:prstGeom>
        </p:spPr>
      </p:pic>
    </p:spTree>
    <p:extLst>
      <p:ext uri="{BB962C8B-B14F-4D97-AF65-F5344CB8AC3E}">
        <p14:creationId xmlns:p14="http://schemas.microsoft.com/office/powerpoint/2010/main" val="4196420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19BB8BE-1351-4D9B-B761-F84A0B5B6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FF597BAC-6CF9-4073-A515-BB628891AE92}"/>
              </a:ext>
            </a:extLst>
          </p:cNvPr>
          <p:cNvSpPr>
            <a:spLocks noGrp="1"/>
          </p:cNvSpPr>
          <p:nvPr>
            <p:ph type="title"/>
          </p:nvPr>
        </p:nvSpPr>
        <p:spPr>
          <a:xfrm>
            <a:off x="143627" y="458818"/>
            <a:ext cx="3785554" cy="911109"/>
          </a:xfrm>
        </p:spPr>
        <p:txBody>
          <a:bodyPr vert="horz" lIns="91440" tIns="45720" rIns="91440" bIns="45720" rtlCol="0" anchor="b">
            <a:normAutofit/>
          </a:bodyPr>
          <a:lstStyle/>
          <a:p>
            <a:pPr algn="ctr"/>
            <a:r>
              <a:rPr lang="de-DE" sz="4000" kern="1200" dirty="0">
                <a:solidFill>
                  <a:schemeClr val="tx1"/>
                </a:solidFill>
                <a:latin typeface="+mj-lt"/>
                <a:ea typeface="+mj-ea"/>
                <a:cs typeface="+mj-cs"/>
              </a:rPr>
              <a:t>Fallbeispiel</a:t>
            </a:r>
          </a:p>
        </p:txBody>
      </p:sp>
      <p:sp>
        <p:nvSpPr>
          <p:cNvPr id="4" name="Textfeld 3">
            <a:extLst>
              <a:ext uri="{FF2B5EF4-FFF2-40B4-BE49-F238E27FC236}">
                <a16:creationId xmlns:a16="http://schemas.microsoft.com/office/drawing/2014/main" id="{EE98651D-1846-4664-86CB-10AB701FE291}"/>
              </a:ext>
            </a:extLst>
          </p:cNvPr>
          <p:cNvSpPr txBox="1"/>
          <p:nvPr/>
        </p:nvSpPr>
        <p:spPr>
          <a:xfrm>
            <a:off x="334859" y="2327918"/>
            <a:ext cx="3339519" cy="3116537"/>
          </a:xfrm>
          <a:prstGeom prst="rect">
            <a:avLst/>
          </a:prstGeom>
        </p:spPr>
        <p:txBody>
          <a:bodyPr vert="horz" lIns="91440" tIns="45720" rIns="91440" bIns="45720" rtlCol="0">
            <a:normAutofit/>
          </a:bodyPr>
          <a:lstStyle/>
          <a:p>
            <a:pPr>
              <a:lnSpc>
                <a:spcPct val="90000"/>
              </a:lnSpc>
              <a:spcAft>
                <a:spcPts val="600"/>
              </a:spcAft>
            </a:pPr>
            <a:r>
              <a:rPr lang="de-DE" sz="2000" dirty="0"/>
              <a:t>Im Fallbeispiel wird eines der weltweit größten Einkaufszentren analysiert. Dieses bietet den Kunden ein vielfältiges Angebot an Einkaufs-, Unterhaltungs- und Essen/Getränke-Optionen.</a:t>
            </a:r>
          </a:p>
        </p:txBody>
      </p:sp>
      <p:pic>
        <p:nvPicPr>
          <p:cNvPr id="6" name="Grafik 5" descr="Ein Bild, das Tisch enthält.&#10;&#10;Automatisch generierte Beschreibung">
            <a:extLst>
              <a:ext uri="{FF2B5EF4-FFF2-40B4-BE49-F238E27FC236}">
                <a16:creationId xmlns:a16="http://schemas.microsoft.com/office/drawing/2014/main" id="{5A233545-5E78-40BF-888B-FD51E0D7CE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9181" y="1130417"/>
            <a:ext cx="7995072" cy="4597166"/>
          </a:xfrm>
          <a:prstGeom prst="rect">
            <a:avLst/>
          </a:prstGeom>
        </p:spPr>
      </p:pic>
    </p:spTree>
    <p:extLst>
      <p:ext uri="{BB962C8B-B14F-4D97-AF65-F5344CB8AC3E}">
        <p14:creationId xmlns:p14="http://schemas.microsoft.com/office/powerpoint/2010/main" val="1622403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75D6C10-B5A7-4715-803E-0501C9C2C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el 1">
            <a:extLst>
              <a:ext uri="{FF2B5EF4-FFF2-40B4-BE49-F238E27FC236}">
                <a16:creationId xmlns:a16="http://schemas.microsoft.com/office/drawing/2014/main" id="{01C58C85-BCBE-4909-9C5D-E26A2098655F}"/>
              </a:ext>
            </a:extLst>
          </p:cNvPr>
          <p:cNvSpPr>
            <a:spLocks noGrp="1"/>
          </p:cNvSpPr>
          <p:nvPr>
            <p:ph type="title"/>
          </p:nvPr>
        </p:nvSpPr>
        <p:spPr>
          <a:xfrm>
            <a:off x="841248" y="552289"/>
            <a:ext cx="3976496" cy="3700929"/>
          </a:xfrm>
        </p:spPr>
        <p:txBody>
          <a:bodyPr vert="horz" lIns="91440" tIns="45720" rIns="91440" bIns="45720" rtlCol="0" anchor="b">
            <a:normAutofit/>
          </a:bodyPr>
          <a:lstStyle/>
          <a:p>
            <a:r>
              <a:rPr lang="en-US" sz="5200" kern="1200" dirty="0">
                <a:solidFill>
                  <a:schemeClr val="tx1"/>
                </a:solidFill>
                <a:latin typeface="+mj-lt"/>
                <a:ea typeface="+mj-ea"/>
                <a:cs typeface="+mj-cs"/>
              </a:rPr>
              <a:t>Pre-Service Period</a:t>
            </a:r>
          </a:p>
        </p:txBody>
      </p:sp>
      <p:pic>
        <p:nvPicPr>
          <p:cNvPr id="5" name="Grafik 4" descr="Ein Bild, das Tisch enthält.&#10;&#10;Automatisch generierte Beschreibung">
            <a:extLst>
              <a:ext uri="{FF2B5EF4-FFF2-40B4-BE49-F238E27FC236}">
                <a16:creationId xmlns:a16="http://schemas.microsoft.com/office/drawing/2014/main" id="{5DAEE5F1-FAC7-4B7A-8296-5CF5CCDF28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6198" y="295904"/>
            <a:ext cx="5874554" cy="6266192"/>
          </a:xfrm>
          <a:prstGeom prst="rect">
            <a:avLst/>
          </a:prstGeom>
        </p:spPr>
      </p:pic>
      <p:sp>
        <p:nvSpPr>
          <p:cNvPr id="10" name="Textfeld 9">
            <a:extLst>
              <a:ext uri="{FF2B5EF4-FFF2-40B4-BE49-F238E27FC236}">
                <a16:creationId xmlns:a16="http://schemas.microsoft.com/office/drawing/2014/main" id="{9698E440-BE12-4561-8C38-7946C1C4437A}"/>
              </a:ext>
            </a:extLst>
          </p:cNvPr>
          <p:cNvSpPr txBox="1"/>
          <p:nvPr/>
        </p:nvSpPr>
        <p:spPr>
          <a:xfrm>
            <a:off x="8445267" y="6595643"/>
            <a:ext cx="3073866" cy="246221"/>
          </a:xfrm>
          <a:prstGeom prst="rect">
            <a:avLst/>
          </a:prstGeom>
          <a:noFill/>
        </p:spPr>
        <p:txBody>
          <a:bodyPr wrap="square" rtlCol="0">
            <a:spAutoFit/>
          </a:bodyPr>
          <a:lstStyle/>
          <a:p>
            <a:r>
              <a:rPr lang="en-US" sz="1000" dirty="0"/>
              <a:t>[</a:t>
            </a:r>
            <a:r>
              <a:rPr lang="en-US" sz="1000" dirty="0" err="1"/>
              <a:t>Rosenbaumet</a:t>
            </a:r>
            <a:r>
              <a:rPr lang="en-US" sz="1000" dirty="0"/>
              <a:t> al.2017]</a:t>
            </a:r>
          </a:p>
        </p:txBody>
      </p:sp>
    </p:spTree>
    <p:extLst>
      <p:ext uri="{BB962C8B-B14F-4D97-AF65-F5344CB8AC3E}">
        <p14:creationId xmlns:p14="http://schemas.microsoft.com/office/powerpoint/2010/main" val="3655628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2587ECF-85E9-4393-9D87-8EB6F3F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A192B9F-EBFA-4972-A930-6BB6E58FFF3D}"/>
              </a:ext>
            </a:extLst>
          </p:cNvPr>
          <p:cNvSpPr>
            <a:spLocks noGrp="1"/>
          </p:cNvSpPr>
          <p:nvPr>
            <p:ph type="title"/>
          </p:nvPr>
        </p:nvSpPr>
        <p:spPr>
          <a:xfrm>
            <a:off x="838199" y="537883"/>
            <a:ext cx="4783697" cy="1942810"/>
          </a:xfrm>
        </p:spPr>
        <p:txBody>
          <a:bodyPr anchor="b">
            <a:normAutofit/>
          </a:bodyPr>
          <a:lstStyle/>
          <a:p>
            <a:r>
              <a:rPr lang="de-DE" sz="4000" dirty="0"/>
              <a:t>Vorteile </a:t>
            </a:r>
            <a:r>
              <a:rPr lang="de-DE" sz="4000"/>
              <a:t>für Unternehmen</a:t>
            </a:r>
            <a:endParaRPr lang="de-DE" sz="4000" dirty="0"/>
          </a:p>
        </p:txBody>
      </p:sp>
      <p:sp>
        <p:nvSpPr>
          <p:cNvPr id="3" name="Inhaltsplatzhalter 2">
            <a:extLst>
              <a:ext uri="{FF2B5EF4-FFF2-40B4-BE49-F238E27FC236}">
                <a16:creationId xmlns:a16="http://schemas.microsoft.com/office/drawing/2014/main" id="{68AF4279-EE49-4CBE-A19A-AA481D02B38D}"/>
              </a:ext>
            </a:extLst>
          </p:cNvPr>
          <p:cNvSpPr>
            <a:spLocks noGrp="1"/>
          </p:cNvSpPr>
          <p:nvPr>
            <p:ph idx="1"/>
          </p:nvPr>
        </p:nvSpPr>
        <p:spPr>
          <a:xfrm>
            <a:off x="838199" y="2660516"/>
            <a:ext cx="4783697" cy="3433583"/>
          </a:xfrm>
        </p:spPr>
        <p:txBody>
          <a:bodyPr>
            <a:normAutofit/>
          </a:bodyPr>
          <a:lstStyle/>
          <a:p>
            <a:r>
              <a:rPr lang="de-DE" sz="2000" dirty="0">
                <a:latin typeface="Minion-Regular"/>
              </a:rPr>
              <a:t>Kundengetriebener Designprozess</a:t>
            </a:r>
          </a:p>
          <a:p>
            <a:r>
              <a:rPr lang="de-DE" sz="2000" dirty="0">
                <a:latin typeface="Minion-Regular"/>
              </a:rPr>
              <a:t>Sehr flexibel einsetzbar</a:t>
            </a:r>
          </a:p>
          <a:p>
            <a:r>
              <a:rPr lang="de-DE" sz="2000" dirty="0">
                <a:latin typeface="Minion-Regular"/>
              </a:rPr>
              <a:t>CJMs ermöglichen ein besseres Verständnis für die Komplexität des Produkt-Ökosystems</a:t>
            </a:r>
          </a:p>
          <a:p>
            <a:r>
              <a:rPr lang="de-DE" sz="2000" dirty="0">
                <a:latin typeface="Minion-Regular"/>
              </a:rPr>
              <a:t>Durch die Einbeziehung der Emotionen und Denkprozesse der tatsächlichen Kunden kann die Analyse über die übliche Analyse quantitativer Daten hinausgehen</a:t>
            </a:r>
          </a:p>
        </p:txBody>
      </p:sp>
      <p:pic>
        <p:nvPicPr>
          <p:cNvPr id="6" name="Grafik 5">
            <a:extLst>
              <a:ext uri="{FF2B5EF4-FFF2-40B4-BE49-F238E27FC236}">
                <a16:creationId xmlns:a16="http://schemas.microsoft.com/office/drawing/2014/main" id="{B5E463BB-6709-4502-9835-95D112427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8424" y="1759521"/>
            <a:ext cx="5365375" cy="3138744"/>
          </a:xfrm>
          <a:prstGeom prst="rect">
            <a:avLst/>
          </a:prstGeom>
        </p:spPr>
      </p:pic>
    </p:spTree>
    <p:extLst>
      <p:ext uri="{BB962C8B-B14F-4D97-AF65-F5344CB8AC3E}">
        <p14:creationId xmlns:p14="http://schemas.microsoft.com/office/powerpoint/2010/main" val="989028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2587ECF-85E9-4393-9D87-8EB6F3F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604E352-3A07-4751-A9BF-C6AD3376B599}"/>
              </a:ext>
            </a:extLst>
          </p:cNvPr>
          <p:cNvSpPr>
            <a:spLocks noGrp="1"/>
          </p:cNvSpPr>
          <p:nvPr>
            <p:ph type="title"/>
          </p:nvPr>
        </p:nvSpPr>
        <p:spPr>
          <a:xfrm>
            <a:off x="838199" y="537883"/>
            <a:ext cx="4783697" cy="1942810"/>
          </a:xfrm>
        </p:spPr>
        <p:txBody>
          <a:bodyPr anchor="b">
            <a:normAutofit/>
          </a:bodyPr>
          <a:lstStyle/>
          <a:p>
            <a:r>
              <a:rPr lang="de-DE" sz="4000"/>
              <a:t>Vorteile für Kunden</a:t>
            </a:r>
          </a:p>
        </p:txBody>
      </p:sp>
      <p:sp>
        <p:nvSpPr>
          <p:cNvPr id="3" name="Inhaltsplatzhalter 2">
            <a:extLst>
              <a:ext uri="{FF2B5EF4-FFF2-40B4-BE49-F238E27FC236}">
                <a16:creationId xmlns:a16="http://schemas.microsoft.com/office/drawing/2014/main" id="{002C0816-74F8-4874-87EE-C808D5CB40D1}"/>
              </a:ext>
            </a:extLst>
          </p:cNvPr>
          <p:cNvSpPr>
            <a:spLocks noGrp="1"/>
          </p:cNvSpPr>
          <p:nvPr>
            <p:ph idx="1"/>
          </p:nvPr>
        </p:nvSpPr>
        <p:spPr>
          <a:xfrm>
            <a:off x="838199" y="2686323"/>
            <a:ext cx="4783697" cy="3433583"/>
          </a:xfrm>
        </p:spPr>
        <p:txBody>
          <a:bodyPr>
            <a:normAutofit/>
          </a:bodyPr>
          <a:lstStyle/>
          <a:p>
            <a:r>
              <a:rPr lang="de-DE" sz="2000"/>
              <a:t>Starke Einflussmöglichkeit des Kunden auf das Produkt</a:t>
            </a:r>
          </a:p>
          <a:p>
            <a:pPr marL="0" indent="0">
              <a:buNone/>
            </a:pPr>
            <a:endParaRPr lang="de-DE" sz="2000"/>
          </a:p>
          <a:p>
            <a:r>
              <a:rPr lang="de-DE" sz="2000"/>
              <a:t>Auch individuelle Ansichten oder Emotionen des Kunden im Bezug auf das Produkt werden durch die ethnographischen Methoden berücksichtigt</a:t>
            </a:r>
          </a:p>
        </p:txBody>
      </p:sp>
      <p:pic>
        <p:nvPicPr>
          <p:cNvPr id="5" name="Grafik 4">
            <a:extLst>
              <a:ext uri="{FF2B5EF4-FFF2-40B4-BE49-F238E27FC236}">
                <a16:creationId xmlns:a16="http://schemas.microsoft.com/office/drawing/2014/main" id="{B9B2E737-63B1-4ED5-8090-48708429B4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8424" y="1759521"/>
            <a:ext cx="5365375" cy="3138744"/>
          </a:xfrm>
          <a:prstGeom prst="rect">
            <a:avLst/>
          </a:prstGeom>
        </p:spPr>
      </p:pic>
    </p:spTree>
    <p:extLst>
      <p:ext uri="{BB962C8B-B14F-4D97-AF65-F5344CB8AC3E}">
        <p14:creationId xmlns:p14="http://schemas.microsoft.com/office/powerpoint/2010/main" val="3297084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645859" y="640081"/>
            <a:ext cx="3494341" cy="1457167"/>
          </a:xfrm>
          <a:prstGeom prst="rect">
            <a:avLst/>
          </a:prstGeom>
          <a:noFill/>
        </p:spPr>
        <p:txBody>
          <a:bodyPr spcFirstLastPara="1" vert="horz" lIns="91440" tIns="45720" rIns="91440" bIns="45720" rtlCol="0" anchor="b" anchorCtr="0">
            <a:normAutofit/>
          </a:bodyPr>
          <a:lstStyle/>
          <a:p>
            <a:pPr>
              <a:spcBef>
                <a:spcPct val="0"/>
              </a:spcBef>
            </a:pPr>
            <a:r>
              <a:rPr lang="en-US" sz="4600" kern="1200" dirty="0" err="1">
                <a:solidFill>
                  <a:schemeClr val="tx1"/>
                </a:solidFill>
                <a:latin typeface="+mj-lt"/>
                <a:ea typeface="+mj-ea"/>
                <a:cs typeface="+mj-cs"/>
              </a:rPr>
              <a:t>Schlusswort</a:t>
            </a:r>
            <a:endParaRPr lang="en-US" sz="4600" kern="1200" dirty="0">
              <a:solidFill>
                <a:schemeClr val="tx1"/>
              </a:solidFill>
              <a:latin typeface="+mj-lt"/>
              <a:ea typeface="+mj-ea"/>
              <a:cs typeface="+mj-cs"/>
            </a:endParaRPr>
          </a:p>
        </p:txBody>
      </p:sp>
      <p:sp>
        <p:nvSpPr>
          <p:cNvPr id="77" name="Google Shape;77;p16"/>
          <p:cNvSpPr txBox="1">
            <a:spLocks noGrp="1"/>
          </p:cNvSpPr>
          <p:nvPr>
            <p:ph type="body" idx="1"/>
          </p:nvPr>
        </p:nvSpPr>
        <p:spPr>
          <a:xfrm>
            <a:off x="645859" y="2978091"/>
            <a:ext cx="3494342" cy="1645921"/>
          </a:xfrm>
          <a:prstGeom prst="rect">
            <a:avLst/>
          </a:prstGeom>
          <a:noFill/>
        </p:spPr>
        <p:txBody>
          <a:bodyPr spcFirstLastPara="1" vert="horz" lIns="91440" tIns="45720" rIns="91440" bIns="45720" rtlCol="0" anchorCtr="0">
            <a:normAutofit/>
          </a:bodyPr>
          <a:lstStyle/>
          <a:p>
            <a:pPr marL="0" indent="0">
              <a:spcBef>
                <a:spcPts val="1000"/>
              </a:spcBef>
              <a:spcAft>
                <a:spcPts val="1600"/>
              </a:spcAft>
              <a:buNone/>
            </a:pPr>
            <a:r>
              <a:rPr lang="en-US" sz="2200" kern="1200" dirty="0" err="1">
                <a:solidFill>
                  <a:schemeClr val="tx1"/>
                </a:solidFill>
                <a:latin typeface="+mn-lt"/>
                <a:ea typeface="+mn-ea"/>
                <a:cs typeface="+mn-cs"/>
              </a:rPr>
              <a:t>Umfrage</a:t>
            </a:r>
            <a:r>
              <a:rPr lang="en-US" sz="2200" kern="1200" dirty="0">
                <a:solidFill>
                  <a:schemeClr val="tx1"/>
                </a:solidFill>
                <a:latin typeface="+mn-lt"/>
                <a:ea typeface="+mn-ea"/>
                <a:cs typeface="+mn-cs"/>
              </a:rPr>
              <a:t> </a:t>
            </a:r>
            <a:r>
              <a:rPr lang="en-US" sz="2200" kern="1200" dirty="0" err="1">
                <a:solidFill>
                  <a:schemeClr val="tx1"/>
                </a:solidFill>
                <a:latin typeface="+mn-lt"/>
                <a:ea typeface="+mn-ea"/>
                <a:cs typeface="+mn-cs"/>
              </a:rPr>
              <a:t>zeigt</a:t>
            </a:r>
            <a:r>
              <a:rPr lang="en-US" sz="2200" kern="1200" dirty="0">
                <a:solidFill>
                  <a:schemeClr val="tx1"/>
                </a:solidFill>
                <a:latin typeface="+mn-lt"/>
                <a:ea typeface="+mn-ea"/>
                <a:cs typeface="+mn-cs"/>
              </a:rPr>
              <a:t> Interesse an </a:t>
            </a:r>
            <a:r>
              <a:rPr lang="en-US" sz="2200" kern="1200" dirty="0" err="1">
                <a:solidFill>
                  <a:schemeClr val="tx1"/>
                </a:solidFill>
                <a:latin typeface="+mn-lt"/>
                <a:ea typeface="+mn-ea"/>
                <a:cs typeface="+mn-cs"/>
              </a:rPr>
              <a:t>Kundendaten</a:t>
            </a:r>
            <a:r>
              <a:rPr lang="en-US" sz="2200" kern="1200" dirty="0">
                <a:solidFill>
                  <a:schemeClr val="tx1"/>
                </a:solidFill>
                <a:latin typeface="+mn-lt"/>
                <a:ea typeface="+mn-ea"/>
                <a:cs typeface="+mn-cs"/>
              </a:rPr>
              <a:t> </a:t>
            </a:r>
            <a:r>
              <a:rPr lang="en-US" sz="2200" kern="1200" dirty="0" err="1">
                <a:solidFill>
                  <a:schemeClr val="tx1"/>
                </a:solidFill>
                <a:latin typeface="+mn-lt"/>
                <a:ea typeface="+mn-ea"/>
                <a:cs typeface="+mn-cs"/>
              </a:rPr>
              <a:t>insbesondere</a:t>
            </a:r>
            <a:r>
              <a:rPr lang="en-US" sz="2200" kern="1200" dirty="0">
                <a:solidFill>
                  <a:schemeClr val="tx1"/>
                </a:solidFill>
                <a:latin typeface="+mn-lt"/>
                <a:ea typeface="+mn-ea"/>
                <a:cs typeface="+mn-cs"/>
              </a:rPr>
              <a:t> </a:t>
            </a:r>
            <a:r>
              <a:rPr lang="en-US" sz="2200" kern="1200" dirty="0" err="1">
                <a:solidFill>
                  <a:schemeClr val="tx1"/>
                </a:solidFill>
                <a:latin typeface="+mn-lt"/>
                <a:ea typeface="+mn-ea"/>
                <a:cs typeface="+mn-cs"/>
              </a:rPr>
              <a:t>bei</a:t>
            </a:r>
            <a:r>
              <a:rPr lang="en-US" sz="2200" kern="1200" dirty="0">
                <a:solidFill>
                  <a:schemeClr val="tx1"/>
                </a:solidFill>
                <a:latin typeface="+mn-lt"/>
                <a:ea typeface="+mn-ea"/>
                <a:cs typeface="+mn-cs"/>
              </a:rPr>
              <a:t> </a:t>
            </a:r>
            <a:r>
              <a:rPr lang="en-US" sz="2200" kern="1200" dirty="0" err="1">
                <a:solidFill>
                  <a:schemeClr val="tx1"/>
                </a:solidFill>
                <a:latin typeface="+mn-lt"/>
                <a:ea typeface="+mn-ea"/>
                <a:cs typeface="+mn-cs"/>
              </a:rPr>
              <a:t>Unternehmen</a:t>
            </a:r>
            <a:r>
              <a:rPr lang="en-US" sz="2200" kern="1200" dirty="0">
                <a:solidFill>
                  <a:schemeClr val="tx1"/>
                </a:solidFill>
                <a:latin typeface="+mn-lt"/>
                <a:ea typeface="+mn-ea"/>
                <a:cs typeface="+mn-cs"/>
              </a:rPr>
              <a:t> </a:t>
            </a:r>
            <a:r>
              <a:rPr lang="en-US" sz="2200" kern="1200" dirty="0" err="1">
                <a:solidFill>
                  <a:schemeClr val="tx1"/>
                </a:solidFill>
                <a:latin typeface="+mn-lt"/>
                <a:ea typeface="+mn-ea"/>
                <a:cs typeface="+mn-cs"/>
              </a:rPr>
              <a:t>mit</a:t>
            </a:r>
            <a:r>
              <a:rPr lang="en-US" sz="2200" kern="1200" dirty="0">
                <a:solidFill>
                  <a:schemeClr val="tx1"/>
                </a:solidFill>
                <a:latin typeface="+mn-lt"/>
                <a:ea typeface="+mn-ea"/>
                <a:cs typeface="+mn-cs"/>
              </a:rPr>
              <a:t> </a:t>
            </a:r>
            <a:r>
              <a:rPr lang="en-US" sz="2200" kern="1200" dirty="0" err="1">
                <a:solidFill>
                  <a:schemeClr val="tx1"/>
                </a:solidFill>
                <a:latin typeface="+mn-lt"/>
                <a:ea typeface="+mn-ea"/>
                <a:cs typeface="+mn-cs"/>
              </a:rPr>
              <a:t>Digitalem</a:t>
            </a:r>
            <a:r>
              <a:rPr lang="en-US" sz="2200" kern="1200" dirty="0">
                <a:solidFill>
                  <a:schemeClr val="tx1"/>
                </a:solidFill>
                <a:latin typeface="+mn-lt"/>
                <a:ea typeface="+mn-ea"/>
                <a:cs typeface="+mn-cs"/>
              </a:rPr>
              <a:t> </a:t>
            </a:r>
            <a:r>
              <a:rPr lang="en-US" sz="2200" kern="1200" dirty="0" err="1">
                <a:solidFill>
                  <a:schemeClr val="tx1"/>
                </a:solidFill>
                <a:latin typeface="+mn-lt"/>
                <a:ea typeface="+mn-ea"/>
                <a:cs typeface="+mn-cs"/>
              </a:rPr>
              <a:t>Fokus</a:t>
            </a:r>
            <a:r>
              <a:rPr lang="en-US" sz="2200" kern="1200" dirty="0">
                <a:solidFill>
                  <a:schemeClr val="tx1"/>
                </a:solidFill>
                <a:latin typeface="+mn-lt"/>
                <a:ea typeface="+mn-ea"/>
                <a:cs typeface="+mn-cs"/>
              </a:rPr>
              <a:t>. </a:t>
            </a:r>
          </a:p>
        </p:txBody>
      </p:sp>
      <p:sp>
        <p:nvSpPr>
          <p:cNvPr id="84" name="Rectangle 83">
            <a:extLst>
              <a:ext uri="{FF2B5EF4-FFF2-40B4-BE49-F238E27FC236}">
                <a16:creationId xmlns:a16="http://schemas.microsoft.com/office/drawing/2014/main" id="{71FC7D98-7B8B-402A-90FC-F027482F21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926" y="0"/>
            <a:ext cx="756607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Rounded Rectangle 28">
            <a:extLst>
              <a:ext uri="{FF2B5EF4-FFF2-40B4-BE49-F238E27FC236}">
                <a16:creationId xmlns:a16="http://schemas.microsoft.com/office/drawing/2014/main" id="{AD7356EA-285B-4E5D-8FEC-104659A4F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5903" y="640091"/>
            <a:ext cx="6266120"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9" name="Google Shape;79;p16"/>
          <p:cNvPicPr preferRelativeResize="0"/>
          <p:nvPr/>
        </p:nvPicPr>
        <p:blipFill>
          <a:blip r:embed="rId3"/>
          <a:stretch>
            <a:fillRect/>
          </a:stretch>
        </p:blipFill>
        <p:spPr>
          <a:xfrm>
            <a:off x="5441735" y="1181325"/>
            <a:ext cx="5934456" cy="4495350"/>
          </a:xfrm>
          <a:prstGeom prst="rect">
            <a:avLst/>
          </a:prstGeom>
          <a:noFill/>
          <a:effectLst/>
        </p:spPr>
      </p:pic>
      <p:sp>
        <p:nvSpPr>
          <p:cNvPr id="78" name="Google Shape;78;p16"/>
          <p:cNvSpPr txBox="1"/>
          <p:nvPr/>
        </p:nvSpPr>
        <p:spPr>
          <a:xfrm>
            <a:off x="3046133" y="420733"/>
            <a:ext cx="4846800" cy="615513"/>
          </a:xfrm>
          <a:prstGeom prst="rect">
            <a:avLst/>
          </a:prstGeom>
          <a:noFill/>
          <a:ln>
            <a:noFill/>
          </a:ln>
        </p:spPr>
        <p:txBody>
          <a:bodyPr spcFirstLastPara="1" wrap="square" lIns="121900" tIns="121900" rIns="121900" bIns="121900" anchor="t" anchorCtr="0">
            <a:spAutoFit/>
          </a:bodyPr>
          <a:lstStyle/>
          <a:p>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42B9283-03AE-42DC-860F-F2598CB07825}"/>
              </a:ext>
            </a:extLst>
          </p:cNvPr>
          <p:cNvSpPr>
            <a:spLocks noGrp="1"/>
          </p:cNvSpPr>
          <p:nvPr>
            <p:ph type="title"/>
          </p:nvPr>
        </p:nvSpPr>
        <p:spPr/>
        <p:txBody>
          <a:bodyPr/>
          <a:lstStyle/>
          <a:p>
            <a:r>
              <a:rPr lang="en-US" dirty="0" err="1"/>
              <a:t>Literaturquellen</a:t>
            </a:r>
            <a:endParaRPr lang="en-US" dirty="0"/>
          </a:p>
        </p:txBody>
      </p:sp>
      <p:sp>
        <p:nvSpPr>
          <p:cNvPr id="3" name="Inhaltsplatzhalter 2">
            <a:extLst>
              <a:ext uri="{FF2B5EF4-FFF2-40B4-BE49-F238E27FC236}">
                <a16:creationId xmlns:a16="http://schemas.microsoft.com/office/drawing/2014/main" id="{2C9AF1AA-4E5A-4589-8C72-1BF8C40BD4E7}"/>
              </a:ext>
            </a:extLst>
          </p:cNvPr>
          <p:cNvSpPr>
            <a:spLocks noGrp="1"/>
          </p:cNvSpPr>
          <p:nvPr>
            <p:ph idx="1"/>
          </p:nvPr>
        </p:nvSpPr>
        <p:spPr/>
        <p:txBody>
          <a:bodyPr>
            <a:normAutofit/>
          </a:bodyPr>
          <a:lstStyle/>
          <a:p>
            <a:pPr marL="0" indent="0" rtl="0">
              <a:buNone/>
            </a:pPr>
            <a:r>
              <a:rPr lang="en-US" sz="1100" dirty="0" err="1">
                <a:effectLst/>
                <a:latin typeface="Arial" panose="020B0604020202020204" pitchFamily="34" charset="0"/>
              </a:rPr>
              <a:t>Mucz</a:t>
            </a:r>
            <a:r>
              <a:rPr lang="en-US" sz="1100" dirty="0">
                <a:effectLst/>
                <a:latin typeface="Arial" panose="020B0604020202020204" pitchFamily="34" charset="0"/>
              </a:rPr>
              <a:t>, D. and </a:t>
            </a:r>
            <a:r>
              <a:rPr lang="en-US" sz="1100" dirty="0" err="1">
                <a:effectLst/>
                <a:latin typeface="Arial" panose="020B0604020202020204" pitchFamily="34" charset="0"/>
              </a:rPr>
              <a:t>Gareau</a:t>
            </a:r>
            <a:r>
              <a:rPr lang="en-US" sz="1100" dirty="0">
                <a:effectLst/>
                <a:latin typeface="Arial" panose="020B0604020202020204" pitchFamily="34" charset="0"/>
              </a:rPr>
              <a:t>-Brennan, </a:t>
            </a:r>
            <a:r>
              <a:rPr lang="en-US" sz="1100" dirty="0" err="1">
                <a:effectLst/>
                <a:latin typeface="Arial" panose="020B0604020202020204" pitchFamily="34" charset="0"/>
              </a:rPr>
              <a:t>C.Evaluating</a:t>
            </a:r>
            <a:r>
              <a:rPr lang="en-US" sz="1100" dirty="0">
                <a:effectLst/>
                <a:latin typeface="Arial" panose="020B0604020202020204" pitchFamily="34" charset="0"/>
              </a:rPr>
              <a:t> Customer Experience through Customer Journey Map-ping and Service Blueprinting at Edmonton Public Library: An Exploratory </a:t>
            </a:r>
            <a:r>
              <a:rPr lang="en-US" sz="1100" dirty="0" err="1">
                <a:effectLst/>
                <a:latin typeface="Arial" panose="020B0604020202020204" pitchFamily="34" charset="0"/>
              </a:rPr>
              <a:t>Study.Partnership:The</a:t>
            </a:r>
            <a:r>
              <a:rPr lang="en-US" sz="1100" dirty="0">
                <a:effectLst/>
                <a:latin typeface="Arial" panose="020B0604020202020204" pitchFamily="34" charset="0"/>
              </a:rPr>
              <a:t> Canadian Journal of Library and Information Practice and Research, 14(1), May 2019.</a:t>
            </a:r>
          </a:p>
          <a:p>
            <a:pPr marL="0" indent="0" rtl="0">
              <a:buNone/>
            </a:pPr>
            <a:r>
              <a:rPr lang="de-DE" sz="1100" b="0" i="0" dirty="0">
                <a:solidFill>
                  <a:srgbClr val="000000"/>
                </a:solidFill>
                <a:effectLst/>
                <a:latin typeface="Arial" panose="020B0604020202020204" pitchFamily="34" charset="0"/>
              </a:rPr>
              <a:t>Institut der deutschen Wirtschaft Datenwirtschaft   in   Deutschland   -   Wo   stehen die  Unternehmen  in  der  Datennutzung  und  was  sind  ihre  großen  </a:t>
            </a:r>
            <a:r>
              <a:rPr lang="de-DE" sz="1100" b="0" i="0" dirty="0" err="1">
                <a:solidFill>
                  <a:srgbClr val="000000"/>
                </a:solidFill>
                <a:effectLst/>
                <a:latin typeface="Arial" panose="020B0604020202020204" pitchFamily="34" charset="0"/>
              </a:rPr>
              <a:t>Hemmnisse?.https</a:t>
            </a:r>
            <a:r>
              <a:rPr lang="de-DE" sz="1100" b="0" i="0" dirty="0">
                <a:solidFill>
                  <a:srgbClr val="000000"/>
                </a:solidFill>
                <a:effectLst/>
                <a:latin typeface="Arial" panose="020B0604020202020204" pitchFamily="34" charset="0"/>
              </a:rPr>
              <a:t>://bdi.eu/</a:t>
            </a:r>
            <a:r>
              <a:rPr lang="de-DE" sz="1100" b="0" i="0" dirty="0" err="1">
                <a:solidFill>
                  <a:srgbClr val="000000"/>
                </a:solidFill>
                <a:effectLst/>
                <a:latin typeface="Arial" panose="020B0604020202020204" pitchFamily="34" charset="0"/>
              </a:rPr>
              <a:t>publikation</a:t>
            </a:r>
            <a:r>
              <a:rPr lang="de-DE" sz="1100" b="0" i="0" dirty="0">
                <a:solidFill>
                  <a:srgbClr val="000000"/>
                </a:solidFill>
                <a:effectLst/>
                <a:latin typeface="Arial" panose="020B0604020202020204" pitchFamily="34" charset="0"/>
              </a:rPr>
              <a:t>/</a:t>
            </a:r>
            <a:r>
              <a:rPr lang="de-DE" sz="1100" b="0" i="0" dirty="0" err="1">
                <a:solidFill>
                  <a:srgbClr val="000000"/>
                </a:solidFill>
                <a:effectLst/>
                <a:latin typeface="Arial" panose="020B0604020202020204" pitchFamily="34" charset="0"/>
              </a:rPr>
              <a:t>news</a:t>
            </a:r>
            <a:r>
              <a:rPr lang="de-DE" sz="1100" b="0" i="0" dirty="0">
                <a:solidFill>
                  <a:srgbClr val="000000"/>
                </a:solidFill>
                <a:effectLst/>
                <a:latin typeface="Arial" panose="020B0604020202020204" pitchFamily="34" charset="0"/>
              </a:rPr>
              <a:t>/</a:t>
            </a:r>
            <a:r>
              <a:rPr lang="de-DE" sz="1100" b="0" i="0" dirty="0" err="1">
                <a:solidFill>
                  <a:srgbClr val="000000"/>
                </a:solidFill>
                <a:effectLst/>
                <a:latin typeface="Arial" panose="020B0604020202020204" pitchFamily="34" charset="0"/>
              </a:rPr>
              <a:t>datenwirtschaft</a:t>
            </a:r>
            <a:r>
              <a:rPr lang="de-DE" sz="1100" b="0" i="0" dirty="0">
                <a:solidFill>
                  <a:srgbClr val="000000"/>
                </a:solidFill>
                <a:effectLst/>
                <a:latin typeface="Arial" panose="020B0604020202020204" pitchFamily="34" charset="0"/>
              </a:rPr>
              <a:t>-in-deutschland/, 2021.</a:t>
            </a:r>
            <a:endParaRPr lang="de-DE" sz="1100" dirty="0">
              <a:solidFill>
                <a:srgbClr val="000000"/>
              </a:solidFill>
              <a:latin typeface="Arial" panose="020B0604020202020204" pitchFamily="34" charset="0"/>
            </a:endParaRPr>
          </a:p>
          <a:p>
            <a:pPr marL="0" indent="0" rtl="0">
              <a:buNone/>
            </a:pPr>
            <a:r>
              <a:rPr lang="de-DE" sz="1100" b="0" i="0" dirty="0" err="1">
                <a:effectLst/>
                <a:latin typeface="Arial" panose="020B0604020202020204" pitchFamily="34" charset="0"/>
              </a:rPr>
              <a:t>Haugstveit</a:t>
            </a:r>
            <a:r>
              <a:rPr lang="de-DE" sz="1100" b="0" i="0" dirty="0">
                <a:effectLst/>
                <a:latin typeface="Arial" panose="020B0604020202020204" pitchFamily="34" charset="0"/>
              </a:rPr>
              <a:t>, I., </a:t>
            </a:r>
            <a:r>
              <a:rPr lang="de-DE" sz="1100" b="0" i="0" dirty="0" err="1">
                <a:effectLst/>
                <a:latin typeface="Arial" panose="020B0604020202020204" pitchFamily="34" charset="0"/>
              </a:rPr>
              <a:t>Halvorsrud</a:t>
            </a:r>
            <a:r>
              <a:rPr lang="de-DE" sz="1100" b="0" i="0" dirty="0">
                <a:effectLst/>
                <a:latin typeface="Arial" panose="020B0604020202020204" pitchFamily="34" charset="0"/>
              </a:rPr>
              <a:t>, R. and </a:t>
            </a:r>
            <a:r>
              <a:rPr lang="de-DE" sz="1100" b="0" i="0" dirty="0" err="1">
                <a:effectLst/>
                <a:latin typeface="Arial" panose="020B0604020202020204" pitchFamily="34" charset="0"/>
              </a:rPr>
              <a:t>Karahasanovic</a:t>
            </a:r>
            <a:r>
              <a:rPr lang="de-DE" sz="1100" b="0" i="0" dirty="0">
                <a:effectLst/>
                <a:latin typeface="Arial" panose="020B0604020202020204" pitchFamily="34" charset="0"/>
              </a:rPr>
              <a:t>, A. </a:t>
            </a:r>
            <a:r>
              <a:rPr lang="de-DE" sz="1100" b="0" i="0" dirty="0" err="1">
                <a:effectLst/>
                <a:latin typeface="Arial" panose="020B0604020202020204" pitchFamily="34" charset="0"/>
              </a:rPr>
              <a:t>Supporting</a:t>
            </a:r>
            <a:r>
              <a:rPr lang="de-DE" sz="1100" b="0" i="0" dirty="0">
                <a:effectLst/>
                <a:latin typeface="Arial" panose="020B0604020202020204" pitchFamily="34" charset="0"/>
              </a:rPr>
              <a:t> </a:t>
            </a:r>
            <a:r>
              <a:rPr lang="de-DE" sz="1100" b="0" i="0" dirty="0" err="1">
                <a:effectLst/>
                <a:latin typeface="Arial" panose="020B0604020202020204" pitchFamily="34" charset="0"/>
              </a:rPr>
              <a:t>redesign</a:t>
            </a:r>
            <a:r>
              <a:rPr lang="de-DE" sz="1100" b="0" i="0" dirty="0">
                <a:effectLst/>
                <a:latin typeface="Arial" panose="020B0604020202020204" pitchFamily="34" charset="0"/>
              </a:rPr>
              <a:t> </a:t>
            </a:r>
            <a:r>
              <a:rPr lang="de-DE" sz="1100" b="0" i="0" dirty="0" err="1">
                <a:effectLst/>
                <a:latin typeface="Arial" panose="020B0604020202020204" pitchFamily="34" charset="0"/>
              </a:rPr>
              <a:t>of</a:t>
            </a:r>
            <a:r>
              <a:rPr lang="de-DE" sz="1100" b="0" i="0" dirty="0">
                <a:effectLst/>
                <a:latin typeface="Arial" panose="020B0604020202020204" pitchFamily="34" charset="0"/>
              </a:rPr>
              <a:t> C2C </a:t>
            </a:r>
            <a:r>
              <a:rPr lang="de-DE" sz="1100" b="0" i="0" dirty="0" err="1">
                <a:effectLst/>
                <a:latin typeface="Arial" panose="020B0604020202020204" pitchFamily="34" charset="0"/>
              </a:rPr>
              <a:t>services</a:t>
            </a:r>
            <a:r>
              <a:rPr lang="de-DE" sz="1100" b="0" i="0" dirty="0">
                <a:effectLst/>
                <a:latin typeface="Arial" panose="020B0604020202020204" pitchFamily="34" charset="0"/>
              </a:rPr>
              <a:t> </a:t>
            </a:r>
            <a:r>
              <a:rPr lang="de-DE" sz="1100" b="0" i="0" dirty="0" err="1">
                <a:effectLst/>
                <a:latin typeface="Arial" panose="020B0604020202020204" pitchFamily="34" charset="0"/>
              </a:rPr>
              <a:t>through</a:t>
            </a:r>
            <a:r>
              <a:rPr lang="de-DE" sz="1100" b="0" i="0" dirty="0">
                <a:effectLst/>
                <a:latin typeface="Arial" panose="020B0604020202020204" pitchFamily="34" charset="0"/>
              </a:rPr>
              <a:t> </a:t>
            </a:r>
            <a:r>
              <a:rPr lang="de-DE" sz="1100" b="0" i="0" dirty="0" err="1">
                <a:effectLst/>
                <a:latin typeface="Arial" panose="020B0604020202020204" pitchFamily="34" charset="0"/>
              </a:rPr>
              <a:t>customer</a:t>
            </a:r>
            <a:r>
              <a:rPr lang="de-DE" sz="1100" b="0" i="0" dirty="0">
                <a:effectLst/>
                <a:latin typeface="Arial" panose="020B0604020202020204" pitchFamily="34" charset="0"/>
              </a:rPr>
              <a:t> </a:t>
            </a:r>
            <a:r>
              <a:rPr lang="de-DE" sz="1100" b="0" i="0" dirty="0" err="1">
                <a:effectLst/>
                <a:latin typeface="Arial" panose="020B0604020202020204" pitchFamily="34" charset="0"/>
              </a:rPr>
              <a:t>journey</a:t>
            </a:r>
            <a:r>
              <a:rPr lang="de-DE" sz="1100" b="0" i="0" dirty="0">
                <a:effectLst/>
                <a:latin typeface="Arial" panose="020B0604020202020204" pitchFamily="34" charset="0"/>
              </a:rPr>
              <a:t> </a:t>
            </a:r>
            <a:r>
              <a:rPr lang="de-DE" sz="1100" b="0" i="0" dirty="0" err="1">
                <a:effectLst/>
                <a:latin typeface="Arial" panose="020B0604020202020204" pitchFamily="34" charset="0"/>
              </a:rPr>
              <a:t>mapping</a:t>
            </a:r>
            <a:r>
              <a:rPr lang="de-DE" sz="1100" b="0" i="0" dirty="0">
                <a:effectLst/>
                <a:latin typeface="Arial" panose="020B0604020202020204" pitchFamily="34" charset="0"/>
              </a:rPr>
              <a:t>. In N. Morelli, A. de </a:t>
            </a:r>
            <a:r>
              <a:rPr lang="de-DE" sz="1100" b="0" i="0" dirty="0" err="1">
                <a:effectLst/>
                <a:latin typeface="Arial" panose="020B0604020202020204" pitchFamily="34" charset="0"/>
              </a:rPr>
              <a:t>Gotzen</a:t>
            </a:r>
            <a:r>
              <a:rPr lang="de-DE" sz="1100" b="0" i="0" dirty="0">
                <a:effectLst/>
                <a:latin typeface="Arial" panose="020B0604020202020204" pitchFamily="34" charset="0"/>
              </a:rPr>
              <a:t> and F. </a:t>
            </a:r>
            <a:r>
              <a:rPr lang="de-DE" sz="1100" b="0" i="0" dirty="0" err="1">
                <a:effectLst/>
                <a:latin typeface="Arial" panose="020B0604020202020204" pitchFamily="34" charset="0"/>
              </a:rPr>
              <a:t>Grani</a:t>
            </a:r>
            <a:r>
              <a:rPr lang="de-DE" sz="1100" b="0" i="0" dirty="0">
                <a:effectLst/>
                <a:latin typeface="Arial" panose="020B0604020202020204" pitchFamily="34" charset="0"/>
              </a:rPr>
              <a:t>, </a:t>
            </a:r>
            <a:r>
              <a:rPr lang="de-DE" sz="1100" b="0" i="0" dirty="0" err="1">
                <a:effectLst/>
                <a:latin typeface="Arial" panose="020B0604020202020204" pitchFamily="34" charset="0"/>
              </a:rPr>
              <a:t>eds</a:t>
            </a:r>
            <a:r>
              <a:rPr lang="de-DE" sz="1100" b="0" i="0" dirty="0">
                <a:effectLst/>
                <a:latin typeface="Arial" panose="020B0604020202020204" pitchFamily="34" charset="0"/>
              </a:rPr>
              <a:t>.,Service Design Ge-</a:t>
            </a:r>
            <a:r>
              <a:rPr lang="de-DE" sz="1100" b="0" i="0" dirty="0" err="1">
                <a:effectLst/>
                <a:latin typeface="Arial" panose="020B0604020202020204" pitchFamily="34" charset="0"/>
              </a:rPr>
              <a:t>ographies</a:t>
            </a:r>
            <a:r>
              <a:rPr lang="de-DE" sz="1100" b="0" i="0" dirty="0">
                <a:effectLst/>
                <a:latin typeface="Arial" panose="020B0604020202020204" pitchFamily="34" charset="0"/>
              </a:rPr>
              <a:t>. Proceedings </a:t>
            </a:r>
            <a:r>
              <a:rPr lang="de-DE" sz="1100" b="0" i="0" dirty="0" err="1">
                <a:effectLst/>
                <a:latin typeface="Arial" panose="020B0604020202020204" pitchFamily="34" charset="0"/>
              </a:rPr>
              <a:t>of</a:t>
            </a:r>
            <a:r>
              <a:rPr lang="de-DE" sz="1100" b="0" i="0" dirty="0">
                <a:effectLst/>
                <a:latin typeface="Arial" panose="020B0604020202020204" pitchFamily="34" charset="0"/>
              </a:rPr>
              <a:t> </a:t>
            </a:r>
            <a:r>
              <a:rPr lang="de-DE" sz="1100" b="0" i="0" dirty="0" err="1">
                <a:effectLst/>
                <a:latin typeface="Arial" panose="020B0604020202020204" pitchFamily="34" charset="0"/>
              </a:rPr>
              <a:t>the</a:t>
            </a:r>
            <a:r>
              <a:rPr lang="de-DE" sz="1100" b="0" i="0" dirty="0">
                <a:effectLst/>
                <a:latin typeface="Arial" panose="020B0604020202020204" pitchFamily="34" charset="0"/>
              </a:rPr>
              <a:t> ServDes2016 Conference, </a:t>
            </a:r>
            <a:r>
              <a:rPr lang="de-DE" sz="1100" b="0" i="0" dirty="0" err="1">
                <a:effectLst/>
                <a:latin typeface="Arial" panose="020B0604020202020204" pitchFamily="34" charset="0"/>
              </a:rPr>
              <a:t>Linkoping</a:t>
            </a:r>
            <a:r>
              <a:rPr lang="de-DE" sz="1100" b="0" i="0" dirty="0">
                <a:effectLst/>
                <a:latin typeface="Arial" panose="020B0604020202020204" pitchFamily="34" charset="0"/>
              </a:rPr>
              <a:t> Electronic Conference Pro-</a:t>
            </a:r>
            <a:r>
              <a:rPr lang="de-DE" sz="1100" b="0" i="0" dirty="0" err="1">
                <a:effectLst/>
                <a:latin typeface="Arial" panose="020B0604020202020204" pitchFamily="34" charset="0"/>
              </a:rPr>
              <a:t>ceedings</a:t>
            </a:r>
            <a:r>
              <a:rPr lang="de-DE" sz="1100" b="0" i="0" dirty="0">
                <a:effectLst/>
                <a:latin typeface="Arial" panose="020B0604020202020204" pitchFamily="34" charset="0"/>
              </a:rPr>
              <a:t>, </a:t>
            </a:r>
            <a:r>
              <a:rPr lang="de-DE" sz="1100" b="0" i="0" dirty="0" err="1">
                <a:effectLst/>
                <a:latin typeface="Arial" panose="020B0604020202020204" pitchFamily="34" charset="0"/>
              </a:rPr>
              <a:t>Linkoping</a:t>
            </a:r>
            <a:r>
              <a:rPr lang="de-DE" sz="1100" b="0" i="0" dirty="0">
                <a:effectLst/>
                <a:latin typeface="Arial" panose="020B0604020202020204" pitchFamily="34" charset="0"/>
              </a:rPr>
              <a:t> University Electronic Press, 05 2016, pp. 215 – 227.</a:t>
            </a:r>
          </a:p>
          <a:p>
            <a:pPr marL="0" indent="0" rtl="0">
              <a:buNone/>
            </a:pPr>
            <a:r>
              <a:rPr lang="de-DE" sz="1100" b="0" i="0" dirty="0">
                <a:solidFill>
                  <a:srgbClr val="000000"/>
                </a:solidFill>
                <a:effectLst/>
                <a:latin typeface="Arial" panose="020B0604020202020204" pitchFamily="34" charset="0"/>
              </a:rPr>
              <a:t>Institut der deutschen Wirtschaft: Datenwirtschaft in Deutschland - Wo stehen die Unternehmen in der Datennutzung und was sind ihre größten Hemmnisse? 2021</a:t>
            </a:r>
          </a:p>
          <a:p>
            <a:pPr marL="0" indent="0" rtl="0">
              <a:buNone/>
            </a:pPr>
            <a:r>
              <a:rPr lang="en-US" sz="1100" b="0" i="0" dirty="0">
                <a:solidFill>
                  <a:srgbClr val="000000"/>
                </a:solidFill>
                <a:effectLst/>
                <a:latin typeface="Arial" panose="020B0604020202020204" pitchFamily="34" charset="0"/>
              </a:rPr>
              <a:t>Rosenbaum, M. S., </a:t>
            </a:r>
            <a:r>
              <a:rPr lang="en-US" sz="1100" b="0" i="0" dirty="0" err="1">
                <a:solidFill>
                  <a:srgbClr val="000000"/>
                </a:solidFill>
                <a:effectLst/>
                <a:latin typeface="Arial" panose="020B0604020202020204" pitchFamily="34" charset="0"/>
              </a:rPr>
              <a:t>Otalora</a:t>
            </a:r>
            <a:r>
              <a:rPr lang="en-US" sz="1100" b="0" i="0" dirty="0">
                <a:solidFill>
                  <a:srgbClr val="000000"/>
                </a:solidFill>
                <a:effectLst/>
                <a:latin typeface="Arial" panose="020B0604020202020204" pitchFamily="34" charset="0"/>
              </a:rPr>
              <a:t>, M. L. and Ramirez, G. </a:t>
            </a:r>
            <a:r>
              <a:rPr lang="en-US" sz="1100" b="0" i="0" dirty="0" err="1">
                <a:solidFill>
                  <a:srgbClr val="000000"/>
                </a:solidFill>
                <a:effectLst/>
                <a:latin typeface="Arial" panose="020B0604020202020204" pitchFamily="34" charset="0"/>
              </a:rPr>
              <a:t>C.How</a:t>
            </a:r>
            <a:r>
              <a:rPr lang="en-US" sz="1100" b="0" i="0" dirty="0">
                <a:solidFill>
                  <a:srgbClr val="000000"/>
                </a:solidFill>
                <a:effectLst/>
                <a:latin typeface="Arial" panose="020B0604020202020204" pitchFamily="34" charset="0"/>
              </a:rPr>
              <a:t> to create a realistic customer </a:t>
            </a:r>
            <a:r>
              <a:rPr lang="en-US" sz="1100" b="0" i="0" dirty="0" err="1">
                <a:solidFill>
                  <a:srgbClr val="000000"/>
                </a:solidFill>
                <a:effectLst/>
                <a:latin typeface="Arial" panose="020B0604020202020204" pitchFamily="34" charset="0"/>
              </a:rPr>
              <a:t>journeymap.Business</a:t>
            </a:r>
            <a:r>
              <a:rPr lang="en-US" sz="1100" b="0" i="0" dirty="0">
                <a:solidFill>
                  <a:srgbClr val="000000"/>
                </a:solidFill>
                <a:effectLst/>
                <a:latin typeface="Arial" panose="020B0604020202020204" pitchFamily="34" charset="0"/>
              </a:rPr>
              <a:t> Horizons, 60(1), 2017: pp.  143–150.</a:t>
            </a:r>
            <a:endParaRPr lang="de-DE" sz="1100" b="0" i="0" dirty="0">
              <a:solidFill>
                <a:srgbClr val="000000"/>
              </a:solidFill>
              <a:effectLst/>
              <a:latin typeface="Arial" panose="020B0604020202020204" pitchFamily="34" charset="0"/>
            </a:endParaRPr>
          </a:p>
          <a:p>
            <a:pPr marL="0" indent="0" rtl="0">
              <a:buNone/>
            </a:pPr>
            <a:br>
              <a:rPr lang="en-US" sz="1100" b="0" i="0" dirty="0">
                <a:solidFill>
                  <a:srgbClr val="000000"/>
                </a:solidFill>
                <a:effectLst/>
                <a:latin typeface="Arial" panose="020B0604020202020204" pitchFamily="34" charset="0"/>
              </a:rPr>
            </a:br>
            <a:endParaRPr lang="en-US" sz="1100" dirty="0"/>
          </a:p>
        </p:txBody>
      </p:sp>
    </p:spTree>
    <p:extLst>
      <p:ext uri="{BB962C8B-B14F-4D97-AF65-F5344CB8AC3E}">
        <p14:creationId xmlns:p14="http://schemas.microsoft.com/office/powerpoint/2010/main" val="1748375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32BDE4-8705-4DE5-B76B-E01435DCDC1C}"/>
              </a:ext>
            </a:extLst>
          </p:cNvPr>
          <p:cNvSpPr>
            <a:spLocks noGrp="1"/>
          </p:cNvSpPr>
          <p:nvPr>
            <p:ph type="title"/>
          </p:nvPr>
        </p:nvSpPr>
        <p:spPr/>
        <p:txBody>
          <a:bodyPr/>
          <a:lstStyle/>
          <a:p>
            <a:r>
              <a:rPr lang="de-DE" dirty="0"/>
              <a:t>Bilderquellen</a:t>
            </a:r>
          </a:p>
        </p:txBody>
      </p:sp>
      <p:sp>
        <p:nvSpPr>
          <p:cNvPr id="4" name="Textfeld 3">
            <a:extLst>
              <a:ext uri="{FF2B5EF4-FFF2-40B4-BE49-F238E27FC236}">
                <a16:creationId xmlns:a16="http://schemas.microsoft.com/office/drawing/2014/main" id="{D3913042-6E3C-4BAE-9222-9464FF4BF8ED}"/>
              </a:ext>
            </a:extLst>
          </p:cNvPr>
          <p:cNvSpPr txBox="1"/>
          <p:nvPr/>
        </p:nvSpPr>
        <p:spPr>
          <a:xfrm>
            <a:off x="478172" y="1862356"/>
            <a:ext cx="11560030" cy="3416320"/>
          </a:xfrm>
          <a:prstGeom prst="rect">
            <a:avLst/>
          </a:prstGeom>
          <a:noFill/>
        </p:spPr>
        <p:txBody>
          <a:bodyPr wrap="square" rtlCol="0">
            <a:spAutoFit/>
          </a:bodyPr>
          <a:lstStyle/>
          <a:p>
            <a:r>
              <a:rPr lang="en-US" dirty="0"/>
              <a:t>Bild Folie 1:</a:t>
            </a:r>
            <a:r>
              <a:rPr lang="de-DE" dirty="0"/>
              <a:t> https://www.digitalradar-muensterland.de/eine-customer-journey-map-erstellen/, Zugriff: 04.06.21</a:t>
            </a:r>
          </a:p>
          <a:p>
            <a:r>
              <a:rPr lang="de-DE" dirty="0"/>
              <a:t>Bild Folie 3: https://miro.com/guides/customer-journey-mapping/ Zugriff: 04.06.21</a:t>
            </a:r>
          </a:p>
          <a:p>
            <a:r>
              <a:rPr lang="de-DE" dirty="0"/>
              <a:t>Bild Folie 4: http://blog.clickdimensions.com/how-to-create-a-customer-journey-map-and-why-you-need-one/ Zugriff: 04.06.21</a:t>
            </a:r>
          </a:p>
          <a:p>
            <a:r>
              <a:rPr lang="de-DE" dirty="0"/>
              <a:t>Bild Folie 5: https://uxstudioteam.com/ux-blog/ethnographic-research/ Zugriff: 04.06.21</a:t>
            </a:r>
          </a:p>
          <a:p>
            <a:r>
              <a:rPr lang="de-DE" dirty="0"/>
              <a:t>Bild Folie 14: https://de.freepik.com/vektoren-kostenlos/junge-leute-stehen-und-reden-miteinander-sprachblase-smartphone-flache-vektorillustration-des-maedchens-kommunikation-und-diskussion_10174094.htm#page=1&amp;query=Diskussion&amp;position=0 Zugriff: 06.06.21</a:t>
            </a:r>
          </a:p>
          <a:p>
            <a:endParaRPr lang="de-DE" dirty="0"/>
          </a:p>
          <a:p>
            <a:endParaRPr lang="de-DE" dirty="0"/>
          </a:p>
          <a:p>
            <a:endParaRPr lang="de-DE" dirty="0"/>
          </a:p>
          <a:p>
            <a:endParaRPr lang="en-US" dirty="0"/>
          </a:p>
        </p:txBody>
      </p:sp>
    </p:spTree>
    <p:extLst>
      <p:ext uri="{BB962C8B-B14F-4D97-AF65-F5344CB8AC3E}">
        <p14:creationId xmlns:p14="http://schemas.microsoft.com/office/powerpoint/2010/main" val="3298032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427AF5F-9A0E-42B7-A252-FD64C9885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CDF4EF5D-F38F-440E-814D-FCBEFB9A090C}"/>
              </a:ext>
            </a:extLst>
          </p:cNvPr>
          <p:cNvSpPr>
            <a:spLocks noGrp="1"/>
          </p:cNvSpPr>
          <p:nvPr>
            <p:ph type="title"/>
          </p:nvPr>
        </p:nvSpPr>
        <p:spPr>
          <a:xfrm>
            <a:off x="838200" y="365125"/>
            <a:ext cx="10515600" cy="1306443"/>
          </a:xfrm>
        </p:spPr>
        <p:txBody>
          <a:bodyPr>
            <a:normAutofit/>
          </a:bodyPr>
          <a:lstStyle/>
          <a:p>
            <a:r>
              <a:rPr lang="de-DE" sz="4000"/>
              <a:t>Diskussion</a:t>
            </a:r>
          </a:p>
        </p:txBody>
      </p:sp>
      <p:sp>
        <p:nvSpPr>
          <p:cNvPr id="3" name="Inhaltsplatzhalter 2">
            <a:extLst>
              <a:ext uri="{FF2B5EF4-FFF2-40B4-BE49-F238E27FC236}">
                <a16:creationId xmlns:a16="http://schemas.microsoft.com/office/drawing/2014/main" id="{DC3F13AD-7D56-4175-8034-7C1848BE8B0D}"/>
              </a:ext>
            </a:extLst>
          </p:cNvPr>
          <p:cNvSpPr>
            <a:spLocks noGrp="1"/>
          </p:cNvSpPr>
          <p:nvPr>
            <p:ph idx="1"/>
          </p:nvPr>
        </p:nvSpPr>
        <p:spPr>
          <a:xfrm>
            <a:off x="838200" y="2667699"/>
            <a:ext cx="4152774" cy="2885813"/>
          </a:xfrm>
        </p:spPr>
        <p:txBody>
          <a:bodyPr>
            <a:normAutofit/>
          </a:bodyPr>
          <a:lstStyle/>
          <a:p>
            <a:pPr marL="0" indent="0">
              <a:buNone/>
            </a:pPr>
            <a:r>
              <a:rPr lang="de-DE" sz="2000" dirty="0"/>
              <a:t>Welche Vor- bzw. Nachteile seht ihr bei der Nutzung von CJMs im Hinblick auf Design </a:t>
            </a:r>
            <a:r>
              <a:rPr lang="de-DE" sz="2000" dirty="0" err="1"/>
              <a:t>Thinking</a:t>
            </a:r>
            <a:r>
              <a:rPr lang="de-DE" sz="2000" dirty="0"/>
              <a:t>? </a:t>
            </a:r>
          </a:p>
          <a:p>
            <a:pPr marL="0" indent="0">
              <a:buNone/>
            </a:pPr>
            <a:endParaRPr lang="de-DE" sz="2000" dirty="0"/>
          </a:p>
        </p:txBody>
      </p:sp>
      <p:pic>
        <p:nvPicPr>
          <p:cNvPr id="5" name="Grafik 4" descr="Ein Bild, das Text enthält.&#10;&#10;Automatisch generierte Beschreibung">
            <a:extLst>
              <a:ext uri="{FF2B5EF4-FFF2-40B4-BE49-F238E27FC236}">
                <a16:creationId xmlns:a16="http://schemas.microsoft.com/office/drawing/2014/main" id="{27B76D36-A9B1-4190-8CE4-B14636777813}"/>
              </a:ext>
            </a:extLst>
          </p:cNvPr>
          <p:cNvPicPr>
            <a:picLocks noChangeAspect="1"/>
          </p:cNvPicPr>
          <p:nvPr/>
        </p:nvPicPr>
        <p:blipFill rotWithShape="1">
          <a:blip r:embed="rId2">
            <a:extLst>
              <a:ext uri="{28A0092B-C50C-407E-A947-70E740481C1C}">
                <a14:useLocalDpi xmlns:a14="http://schemas.microsoft.com/office/drawing/2010/main" val="0"/>
              </a:ext>
            </a:extLst>
          </a:blip>
          <a:srcRect l="4333" r="11690" b="1"/>
          <a:stretch/>
        </p:blipFill>
        <p:spPr>
          <a:xfrm>
            <a:off x="5183500" y="1904282"/>
            <a:ext cx="6170299" cy="4224808"/>
          </a:xfrm>
          <a:prstGeom prst="rect">
            <a:avLst/>
          </a:prstGeom>
        </p:spPr>
      </p:pic>
    </p:spTree>
    <p:extLst>
      <p:ext uri="{BB962C8B-B14F-4D97-AF65-F5344CB8AC3E}">
        <p14:creationId xmlns:p14="http://schemas.microsoft.com/office/powerpoint/2010/main" val="1484655464"/>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866</Words>
  <Application>Microsoft Office PowerPoint</Application>
  <PresentationFormat>Breitbild</PresentationFormat>
  <Paragraphs>87</Paragraphs>
  <Slides>18</Slides>
  <Notes>11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18</vt:i4>
      </vt:variant>
    </vt:vector>
  </HeadingPairs>
  <TitlesOfParts>
    <vt:vector size="23" baseType="lpstr">
      <vt:lpstr>Arial</vt:lpstr>
      <vt:lpstr>Calibri</vt:lpstr>
      <vt:lpstr>Calibri Light</vt:lpstr>
      <vt:lpstr>Minion-Regular</vt:lpstr>
      <vt:lpstr>Office</vt:lpstr>
      <vt:lpstr>Customer Journey Maps</vt:lpstr>
      <vt:lpstr>Warum Customer Journey Maps?</vt:lpstr>
      <vt:lpstr>Ziel einer Customer Journey Map</vt:lpstr>
      <vt:lpstr>Aktueller Einsatz in der Industrie</vt:lpstr>
      <vt:lpstr>Bestandteile einer CJM</vt:lpstr>
      <vt:lpstr>Bestandteile einer CJM</vt:lpstr>
      <vt:lpstr>Die Phasen - Welche Schritte geht ein Kunde?</vt:lpstr>
      <vt:lpstr>Andere Beispiele</vt:lpstr>
      <vt:lpstr>Design Thinking und Customer Journey Map</vt:lpstr>
      <vt:lpstr>Methoden zur Erstellung einer CJM</vt:lpstr>
      <vt:lpstr>Fallbeispiel</vt:lpstr>
      <vt:lpstr>Pre-Service Period</vt:lpstr>
      <vt:lpstr>Vorteile für Unternehmen</vt:lpstr>
      <vt:lpstr>Vorteile für Kunden</vt:lpstr>
      <vt:lpstr>Schlusswort</vt:lpstr>
      <vt:lpstr>Literaturquellen</vt:lpstr>
      <vt:lpstr>Bilderquellen</vt:lpstr>
      <vt:lpstr>Diskussion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Journey Maps</dc:title>
  <dc:creator>Tim Böckel</dc:creator>
  <cp:lastModifiedBy>Tim Böckel</cp:lastModifiedBy>
  <cp:revision>2</cp:revision>
  <dcterms:created xsi:type="dcterms:W3CDTF">2021-05-25T11:06:00Z</dcterms:created>
  <dcterms:modified xsi:type="dcterms:W3CDTF">2021-06-07T16:19:53Z</dcterms:modified>
</cp:coreProperties>
</file>