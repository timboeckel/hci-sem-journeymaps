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notesSlides/notesSlide3.xml" ContentType="application/vnd.openxmlformats-officedocument.presentationml.notesSlide+xml"/>
  <Override PartName="/ppt/comments/comment3.xml" ContentType="application/vnd.openxmlformats-officedocument.presentationml.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comment4.xml" ContentType="application/vnd.openxmlformats-officedocument.presentationml.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comment5.xml" ContentType="application/vnd.openxmlformats-officedocument.presentationml.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 initials="" lastIdx="5"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E47A08-676B-44E4-8207-674848184F59}" v="1" dt="2021-06-08T08:06:55.0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62" autoAdjust="0"/>
    <p:restoredTop sz="94660"/>
  </p:normalViewPr>
  <p:slideViewPr>
    <p:cSldViewPr snapToGrid="0">
      <p:cViewPr varScale="1">
        <p:scale>
          <a:sx n="108" d="100"/>
          <a:sy n="108" d="100"/>
        </p:scale>
        <p:origin x="229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 Böckel" userId="139bf3991ca47324" providerId="LiveId" clId="{32E47A08-676B-44E4-8207-674848184F59}"/>
    <pc:docChg chg="undo custSel modSld">
      <pc:chgData name="Tim Böckel" userId="139bf3991ca47324" providerId="LiveId" clId="{32E47A08-676B-44E4-8207-674848184F59}" dt="2021-06-08T08:10:02.750" v="124" actId="20577"/>
      <pc:docMkLst>
        <pc:docMk/>
      </pc:docMkLst>
      <pc:sldChg chg="modSp mod">
        <pc:chgData name="Tim Böckel" userId="139bf3991ca47324" providerId="LiveId" clId="{32E47A08-676B-44E4-8207-674848184F59}" dt="2021-06-08T08:06:55.067" v="108" actId="27636"/>
        <pc:sldMkLst>
          <pc:docMk/>
          <pc:sldMk cId="0" sldId="258"/>
        </pc:sldMkLst>
        <pc:spChg chg="mod">
          <ac:chgData name="Tim Böckel" userId="139bf3991ca47324" providerId="LiveId" clId="{32E47A08-676B-44E4-8207-674848184F59}" dt="2021-06-08T08:06:55.067" v="108" actId="27636"/>
          <ac:spMkLst>
            <pc:docMk/>
            <pc:sldMk cId="0" sldId="258"/>
            <ac:spMk id="113" creationId="{00000000-0000-0000-0000-000000000000}"/>
          </ac:spMkLst>
        </pc:spChg>
      </pc:sldChg>
      <pc:sldChg chg="modSp mod">
        <pc:chgData name="Tim Böckel" userId="139bf3991ca47324" providerId="LiveId" clId="{32E47A08-676B-44E4-8207-674848184F59}" dt="2021-06-08T08:07:08.489" v="110" actId="2711"/>
        <pc:sldMkLst>
          <pc:docMk/>
          <pc:sldMk cId="0" sldId="262"/>
        </pc:sldMkLst>
        <pc:spChg chg="mod">
          <ac:chgData name="Tim Böckel" userId="139bf3991ca47324" providerId="LiveId" clId="{32E47A08-676B-44E4-8207-674848184F59}" dt="2021-06-08T08:05:12.911" v="89" actId="403"/>
          <ac:spMkLst>
            <pc:docMk/>
            <pc:sldMk cId="0" sldId="262"/>
            <ac:spMk id="145" creationId="{00000000-0000-0000-0000-000000000000}"/>
          </ac:spMkLst>
        </pc:spChg>
        <pc:spChg chg="mod">
          <ac:chgData name="Tim Böckel" userId="139bf3991ca47324" providerId="LiveId" clId="{32E47A08-676B-44E4-8207-674848184F59}" dt="2021-06-08T08:07:08.489" v="110" actId="2711"/>
          <ac:spMkLst>
            <pc:docMk/>
            <pc:sldMk cId="0" sldId="262"/>
            <ac:spMk id="147" creationId="{00000000-0000-0000-0000-000000000000}"/>
          </ac:spMkLst>
        </pc:spChg>
      </pc:sldChg>
      <pc:sldChg chg="modSp mod">
        <pc:chgData name="Tim Böckel" userId="139bf3991ca47324" providerId="LiveId" clId="{32E47A08-676B-44E4-8207-674848184F59}" dt="2021-06-08T08:05:06.569" v="88" actId="1076"/>
        <pc:sldMkLst>
          <pc:docMk/>
          <pc:sldMk cId="0" sldId="264"/>
        </pc:sldMkLst>
        <pc:spChg chg="mod">
          <ac:chgData name="Tim Böckel" userId="139bf3991ca47324" providerId="LiveId" clId="{32E47A08-676B-44E4-8207-674848184F59}" dt="2021-06-08T08:05:06.569" v="88" actId="1076"/>
          <ac:spMkLst>
            <pc:docMk/>
            <pc:sldMk cId="0" sldId="264"/>
            <ac:spMk id="161" creationId="{00000000-0000-0000-0000-000000000000}"/>
          </ac:spMkLst>
        </pc:spChg>
      </pc:sldChg>
      <pc:sldChg chg="modSp mod">
        <pc:chgData name="Tim Böckel" userId="139bf3991ca47324" providerId="LiveId" clId="{32E47A08-676B-44E4-8207-674848184F59}" dt="2021-06-08T08:04:59.266" v="86" actId="403"/>
        <pc:sldMkLst>
          <pc:docMk/>
          <pc:sldMk cId="0" sldId="265"/>
        </pc:sldMkLst>
        <pc:spChg chg="mod">
          <ac:chgData name="Tim Böckel" userId="139bf3991ca47324" providerId="LiveId" clId="{32E47A08-676B-44E4-8207-674848184F59}" dt="2021-06-08T08:04:59.266" v="86" actId="403"/>
          <ac:spMkLst>
            <pc:docMk/>
            <pc:sldMk cId="0" sldId="265"/>
            <ac:spMk id="170" creationId="{00000000-0000-0000-0000-000000000000}"/>
          </ac:spMkLst>
        </pc:spChg>
      </pc:sldChg>
      <pc:sldChg chg="addSp modSp mod">
        <pc:chgData name="Tim Böckel" userId="139bf3991ca47324" providerId="LiveId" clId="{32E47A08-676B-44E4-8207-674848184F59}" dt="2021-06-08T08:06:57.538" v="109" actId="1076"/>
        <pc:sldMkLst>
          <pc:docMk/>
          <pc:sldMk cId="0" sldId="266"/>
        </pc:sldMkLst>
        <pc:spChg chg="add mod">
          <ac:chgData name="Tim Böckel" userId="139bf3991ca47324" providerId="LiveId" clId="{32E47A08-676B-44E4-8207-674848184F59}" dt="2021-06-08T08:06:57.538" v="109" actId="1076"/>
          <ac:spMkLst>
            <pc:docMk/>
            <pc:sldMk cId="0" sldId="266"/>
            <ac:spMk id="6" creationId="{A14702C6-C421-4710-86E2-31366BA58165}"/>
          </ac:spMkLst>
        </pc:spChg>
      </pc:sldChg>
      <pc:sldChg chg="modSp mod">
        <pc:chgData name="Tim Böckel" userId="139bf3991ca47324" providerId="LiveId" clId="{32E47A08-676B-44E4-8207-674848184F59}" dt="2021-06-08T08:10:02.750" v="124" actId="20577"/>
        <pc:sldMkLst>
          <pc:docMk/>
          <pc:sldMk cId="0" sldId="268"/>
        </pc:sldMkLst>
        <pc:spChg chg="mod">
          <ac:chgData name="Tim Böckel" userId="139bf3991ca47324" providerId="LiveId" clId="{32E47A08-676B-44E4-8207-674848184F59}" dt="2021-06-08T08:10:02.750" v="124" actId="20577"/>
          <ac:spMkLst>
            <pc:docMk/>
            <pc:sldMk cId="0" sldId="268"/>
            <ac:spMk id="195" creationId="{00000000-0000-0000-0000-000000000000}"/>
          </ac:spMkLst>
        </pc:spChg>
      </pc:sldChg>
      <pc:sldChg chg="addSp modSp mod">
        <pc:chgData name="Tim Böckel" userId="139bf3991ca47324" providerId="LiveId" clId="{32E47A08-676B-44E4-8207-674848184F59}" dt="2021-06-08T08:06:42.570" v="106" actId="1076"/>
        <pc:sldMkLst>
          <pc:docMk/>
          <pc:sldMk cId="0" sldId="270"/>
        </pc:sldMkLst>
        <pc:spChg chg="add mod">
          <ac:chgData name="Tim Böckel" userId="139bf3991ca47324" providerId="LiveId" clId="{32E47A08-676B-44E4-8207-674848184F59}" dt="2021-06-08T08:06:42.570" v="106" actId="1076"/>
          <ac:spMkLst>
            <pc:docMk/>
            <pc:sldMk cId="0" sldId="270"/>
            <ac:spMk id="9" creationId="{B0AB3033-A068-4C79-8E2E-53FDC7F0BB3C}"/>
          </ac:spMkLst>
        </pc:spChg>
        <pc:spChg chg="mod">
          <ac:chgData name="Tim Böckel" userId="139bf3991ca47324" providerId="LiveId" clId="{32E47A08-676B-44E4-8207-674848184F59}" dt="2021-06-08T08:06:29.067" v="99"/>
          <ac:spMkLst>
            <pc:docMk/>
            <pc:sldMk cId="0" sldId="270"/>
            <ac:spMk id="211" creationId="{00000000-0000-0000-0000-000000000000}"/>
          </ac:spMkLst>
        </pc:spChg>
      </pc:sldChg>
      <pc:sldChg chg="modSp mod">
        <pc:chgData name="Tim Böckel" userId="139bf3991ca47324" providerId="LiveId" clId="{32E47A08-676B-44E4-8207-674848184F59}" dt="2021-06-08T08:06:18.354" v="97" actId="403"/>
        <pc:sldMkLst>
          <pc:docMk/>
          <pc:sldMk cId="0" sldId="271"/>
        </pc:sldMkLst>
        <pc:spChg chg="mod">
          <ac:chgData name="Tim Böckel" userId="139bf3991ca47324" providerId="LiveId" clId="{32E47A08-676B-44E4-8207-674848184F59}" dt="2021-06-08T08:06:18.354" v="97" actId="403"/>
          <ac:spMkLst>
            <pc:docMk/>
            <pc:sldMk cId="0" sldId="271"/>
            <ac:spMk id="220" creationId="{00000000-0000-0000-0000-000000000000}"/>
          </ac:spMkLst>
        </pc:spChg>
      </pc:sldChg>
      <pc:sldChg chg="modSp mod">
        <pc:chgData name="Tim Böckel" userId="139bf3991ca47324" providerId="LiveId" clId="{32E47A08-676B-44E4-8207-674848184F59}" dt="2021-06-08T08:05:39.366" v="95" actId="20577"/>
        <pc:sldMkLst>
          <pc:docMk/>
          <pc:sldMk cId="0" sldId="273"/>
        </pc:sldMkLst>
        <pc:spChg chg="mod">
          <ac:chgData name="Tim Böckel" userId="139bf3991ca47324" providerId="LiveId" clId="{32E47A08-676B-44E4-8207-674848184F59}" dt="2021-06-08T08:05:39.366" v="95" actId="20577"/>
          <ac:spMkLst>
            <pc:docMk/>
            <pc:sldMk cId="0" sldId="273"/>
            <ac:spMk id="234" creationId="{00000000-0000-0000-0000-000000000000}"/>
          </ac:spMkLst>
        </pc:sp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0" dt="2021-06-08T07:36:11.726" idx="1">
    <p:pos x="6000" y="0"/>
    <p:text>-Tim Böckel</p:text>
  </p:cm>
</p:cmLst>
</file>

<file path=ppt/comments/comment2.xml><?xml version="1.0" encoding="utf-8"?>
<p:cmLst xmlns:a="http://schemas.openxmlformats.org/drawingml/2006/main" xmlns:r="http://schemas.openxmlformats.org/officeDocument/2006/relationships" xmlns:p="http://schemas.openxmlformats.org/presentationml/2006/main">
  <p:cm authorId="0" dt="2021-06-08T07:36:11.730" idx="2">
    <p:pos x="6000" y="0"/>
    <p:text>-Tim Böckel</p:text>
  </p:cm>
</p:cmLst>
</file>

<file path=ppt/comments/comment3.xml><?xml version="1.0" encoding="utf-8"?>
<p:cmLst xmlns:a="http://schemas.openxmlformats.org/drawingml/2006/main" xmlns:r="http://schemas.openxmlformats.org/officeDocument/2006/relationships" xmlns:p="http://schemas.openxmlformats.org/presentationml/2006/main">
  <p:cm authorId="0" dt="2021-06-08T07:36:11.731" idx="3">
    <p:pos x="6000" y="0"/>
    <p:text>-Tim Böckel</p:text>
  </p:cm>
</p:cmLst>
</file>

<file path=ppt/comments/comment4.xml><?xml version="1.0" encoding="utf-8"?>
<p:cmLst xmlns:a="http://schemas.openxmlformats.org/drawingml/2006/main" xmlns:r="http://schemas.openxmlformats.org/officeDocument/2006/relationships" xmlns:p="http://schemas.openxmlformats.org/presentationml/2006/main">
  <p:cm authorId="0" dt="2021-06-08T07:36:11.731" idx="4">
    <p:pos x="6000" y="0"/>
    <p:text>-Tim Böckel</p:text>
  </p:cm>
</p:cmLst>
</file>

<file path=ppt/comments/comment5.xml><?xml version="1.0" encoding="utf-8"?>
<p:cmLst xmlns:a="http://schemas.openxmlformats.org/drawingml/2006/main" xmlns:r="http://schemas.openxmlformats.org/officeDocument/2006/relationships" xmlns:p="http://schemas.openxmlformats.org/presentationml/2006/main">
  <p:cm authorId="0" dt="2021-06-08T07:36:11.729" idx="5">
    <p:pos x="6000" y="0"/>
    <p:text>-Tim Böckel</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de-DE" sz="1200" b="0" i="0" u="none" strike="noStrike" cap="none">
                <a:solidFill>
                  <a:schemeClr val="dk1"/>
                </a:solidFill>
                <a:latin typeface="Calibri"/>
                <a:ea typeface="Calibri"/>
                <a:cs typeface="Calibri"/>
                <a:sym typeface="Calibri"/>
              </a:rPr>
              <a:t>‹Nr.›</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 name="Google Shape;9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DE"/>
              <a:t>Werbung: Zeitung vs. Social Media</a:t>
            </a:r>
            <a:endParaRPr/>
          </a:p>
        </p:txBody>
      </p:sp>
      <p:sp>
        <p:nvSpPr>
          <p:cNvPr id="109" name="Google Shape;10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DE"/>
              <a:t>Bestandteile:</a:t>
            </a:r>
            <a:endParaRPr/>
          </a:p>
          <a:p>
            <a:pPr marL="0" lvl="0" indent="0" algn="l" rtl="0">
              <a:spcBef>
                <a:spcPts val="0"/>
              </a:spcBef>
              <a:spcAft>
                <a:spcPts val="0"/>
              </a:spcAft>
              <a:buNone/>
            </a:pPr>
            <a:endParaRPr/>
          </a:p>
          <a:p>
            <a:pPr marL="0" lvl="0" indent="0" algn="l" rtl="0">
              <a:spcBef>
                <a:spcPts val="0"/>
              </a:spcBef>
              <a:spcAft>
                <a:spcPts val="0"/>
              </a:spcAft>
              <a:buNone/>
            </a:pPr>
            <a:r>
              <a:rPr lang="de-DE"/>
              <a:t>Journey 🡪 Alles (Optimale vs. Wirkliche Journey)</a:t>
            </a:r>
            <a:endParaRPr/>
          </a:p>
          <a:p>
            <a:pPr marL="0" lvl="0" indent="0" algn="l" rtl="0">
              <a:spcBef>
                <a:spcPts val="0"/>
              </a:spcBef>
              <a:spcAft>
                <a:spcPts val="0"/>
              </a:spcAft>
              <a:buNone/>
            </a:pPr>
            <a:r>
              <a:rPr lang="de-DE"/>
              <a:t>Touchpoints 🡪 Berührungspunkt</a:t>
            </a:r>
            <a:endParaRPr/>
          </a:p>
          <a:p>
            <a:pPr marL="0" lvl="0" indent="0" algn="l" rtl="0">
              <a:spcBef>
                <a:spcPts val="0"/>
              </a:spcBef>
              <a:spcAft>
                <a:spcPts val="0"/>
              </a:spcAft>
              <a:buNone/>
            </a:pPr>
            <a:r>
              <a:rPr lang="de-DE"/>
              <a:t>Goal 🡪 Ziel</a:t>
            </a:r>
            <a:endParaRPr/>
          </a:p>
          <a:p>
            <a:pPr marL="0" lvl="0" indent="0" algn="l" rtl="0">
              <a:spcBef>
                <a:spcPts val="0"/>
              </a:spcBef>
              <a:spcAft>
                <a:spcPts val="0"/>
              </a:spcAft>
              <a:buNone/>
            </a:pPr>
            <a:r>
              <a:rPr lang="de-DE"/>
              <a:t>Experience 🡪 Emotionen des Users</a:t>
            </a:r>
            <a:endParaRPr/>
          </a:p>
          <a:p>
            <a:pPr marL="0" lvl="0" indent="0" algn="l" rtl="0">
              <a:spcBef>
                <a:spcPts val="0"/>
              </a:spcBef>
              <a:spcAft>
                <a:spcPts val="0"/>
              </a:spcAft>
              <a:buNone/>
            </a:pPr>
            <a:r>
              <a:rPr lang="de-DE"/>
              <a:t>Channel 🡪 Bsp. Werbekanäle</a:t>
            </a:r>
            <a:endParaRPr/>
          </a:p>
          <a:p>
            <a:pPr marL="0" lvl="0" indent="0" algn="l" rtl="0">
              <a:spcBef>
                <a:spcPts val="0"/>
              </a:spcBef>
              <a:spcAft>
                <a:spcPts val="0"/>
              </a:spcAft>
              <a:buNone/>
            </a:pPr>
            <a:r>
              <a:rPr lang="de-DE"/>
              <a:t>User</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27" name="Google Shape;12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DE" sz="1200">
                <a:solidFill>
                  <a:srgbClr val="000000"/>
                </a:solidFill>
              </a:rPr>
              <a:t>Der Wert der ethnografischen Forschung liegt in ihrer Fähigkeit, reichhaltige Daten über individuelle Kundeninteraktionen zu liefern. Ethnografie ist für die explorative Forschung förderlich, da sie unbekannte Probleme und Einblicke in das Kundenverhalten aufdecken kann</a:t>
            </a:r>
            <a:endParaRPr/>
          </a:p>
          <a:p>
            <a:pPr marL="0" lvl="0" indent="0" algn="l" rtl="0">
              <a:spcBef>
                <a:spcPts val="0"/>
              </a:spcBef>
              <a:spcAft>
                <a:spcPts val="0"/>
              </a:spcAft>
              <a:buNone/>
            </a:pPr>
            <a:endParaRPr>
              <a:solidFill>
                <a:srgbClr val="000000"/>
              </a:solidFill>
            </a:endParaRPr>
          </a:p>
          <a:p>
            <a:pPr marL="0" lvl="0" indent="0" algn="l" rtl="0">
              <a:spcBef>
                <a:spcPts val="0"/>
              </a:spcBef>
              <a:spcAft>
                <a:spcPts val="0"/>
              </a:spcAft>
              <a:buNone/>
            </a:pPr>
            <a:r>
              <a:rPr lang="de-DE" sz="1200">
                <a:solidFill>
                  <a:srgbClr val="000000"/>
                </a:solidFill>
              </a:rPr>
              <a:t>🡪 Focus Groups -&gt; Gruppeninterviews</a:t>
            </a:r>
            <a:endParaRPr sz="1200">
              <a:solidFill>
                <a:srgbClr val="000000"/>
              </a:solidFill>
            </a:endParaRPr>
          </a:p>
          <a:p>
            <a:pPr marL="0" lvl="0" indent="0" algn="l" rtl="0">
              <a:spcBef>
                <a:spcPts val="0"/>
              </a:spcBef>
              <a:spcAft>
                <a:spcPts val="0"/>
              </a:spcAft>
              <a:buNone/>
            </a:pPr>
            <a:endParaRPr/>
          </a:p>
        </p:txBody>
      </p:sp>
      <p:sp>
        <p:nvSpPr>
          <p:cNvPr id="166" name="Google Shape;166;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7" name="Google Shape;21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4" name="Google Shape;224;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de-DE"/>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0" name="Google Shape;230;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elfoli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el und Inhal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lgn="l">
              <a:lnSpc>
                <a:spcPct val="90000"/>
              </a:lnSpc>
              <a:spcBef>
                <a:spcPts val="0"/>
              </a:spcBef>
              <a:spcAft>
                <a:spcPts val="0"/>
              </a:spcAft>
              <a:buClr>
                <a:schemeClr val="dk1"/>
              </a:buClr>
              <a:buSzPts val="2800"/>
              <a:buFont typeface="Calibri"/>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9" name="Google Shape;29;p4"/>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gn="l">
              <a:lnSpc>
                <a:spcPct val="90000"/>
              </a:lnSpc>
              <a:spcBef>
                <a:spcPts val="0"/>
              </a:spcBef>
              <a:spcAft>
                <a:spcPts val="0"/>
              </a:spcAft>
              <a:buClr>
                <a:schemeClr val="dk1"/>
              </a:buClr>
              <a:buSzPts val="1800"/>
              <a:buChar char="●"/>
              <a:defRPr/>
            </a:lvl1pPr>
            <a:lvl2pPr marL="914400" lvl="1" indent="-317500" algn="l">
              <a:lnSpc>
                <a:spcPct val="90000"/>
              </a:lnSpc>
              <a:spcBef>
                <a:spcPts val="0"/>
              </a:spcBef>
              <a:spcAft>
                <a:spcPts val="0"/>
              </a:spcAft>
              <a:buClr>
                <a:schemeClr val="dk1"/>
              </a:buClr>
              <a:buSzPts val="1400"/>
              <a:buChar char="○"/>
              <a:defRPr/>
            </a:lvl2pPr>
            <a:lvl3pPr marL="1371600" lvl="2" indent="-317500" algn="l">
              <a:lnSpc>
                <a:spcPct val="90000"/>
              </a:lnSpc>
              <a:spcBef>
                <a:spcPts val="0"/>
              </a:spcBef>
              <a:spcAft>
                <a:spcPts val="0"/>
              </a:spcAft>
              <a:buClr>
                <a:schemeClr val="dk1"/>
              </a:buClr>
              <a:buSzPts val="1400"/>
              <a:buChar char="■"/>
              <a:defRPr/>
            </a:lvl3pPr>
            <a:lvl4pPr marL="1828800" lvl="3" indent="-317500" algn="l">
              <a:lnSpc>
                <a:spcPct val="90000"/>
              </a:lnSpc>
              <a:spcBef>
                <a:spcPts val="0"/>
              </a:spcBef>
              <a:spcAft>
                <a:spcPts val="0"/>
              </a:spcAft>
              <a:buClr>
                <a:schemeClr val="dk1"/>
              </a:buClr>
              <a:buSzPts val="1400"/>
              <a:buChar char="●"/>
              <a:defRPr/>
            </a:lvl4pPr>
            <a:lvl5pPr marL="2286000" lvl="4" indent="-317500" algn="l">
              <a:lnSpc>
                <a:spcPct val="90000"/>
              </a:lnSpc>
              <a:spcBef>
                <a:spcPts val="0"/>
              </a:spcBef>
              <a:spcAft>
                <a:spcPts val="0"/>
              </a:spcAft>
              <a:buClr>
                <a:schemeClr val="dk1"/>
              </a:buClr>
              <a:buSzPts val="1400"/>
              <a:buChar char="○"/>
              <a:defRPr/>
            </a:lvl5pPr>
            <a:lvl6pPr marL="2743200" lvl="5" indent="-317500" algn="l">
              <a:lnSpc>
                <a:spcPct val="90000"/>
              </a:lnSpc>
              <a:spcBef>
                <a:spcPts val="0"/>
              </a:spcBef>
              <a:spcAft>
                <a:spcPts val="0"/>
              </a:spcAft>
              <a:buClr>
                <a:schemeClr val="dk1"/>
              </a:buClr>
              <a:buSzPts val="1400"/>
              <a:buChar char="■"/>
              <a:defRPr/>
            </a:lvl6pPr>
            <a:lvl7pPr marL="3200400" lvl="6" indent="-317500" algn="l">
              <a:lnSpc>
                <a:spcPct val="90000"/>
              </a:lnSpc>
              <a:spcBef>
                <a:spcPts val="0"/>
              </a:spcBef>
              <a:spcAft>
                <a:spcPts val="0"/>
              </a:spcAft>
              <a:buClr>
                <a:schemeClr val="dk1"/>
              </a:buClr>
              <a:buSzPts val="1400"/>
              <a:buChar char="●"/>
              <a:defRPr/>
            </a:lvl7pPr>
            <a:lvl8pPr marL="3657600" lvl="7" indent="-317500" algn="l">
              <a:lnSpc>
                <a:spcPct val="90000"/>
              </a:lnSpc>
              <a:spcBef>
                <a:spcPts val="0"/>
              </a:spcBef>
              <a:spcAft>
                <a:spcPts val="0"/>
              </a:spcAft>
              <a:buClr>
                <a:schemeClr val="dk1"/>
              </a:buClr>
              <a:buSzPts val="1400"/>
              <a:buChar char="○"/>
              <a:defRPr/>
            </a:lvl8pPr>
            <a:lvl9pPr marL="4114800" lvl="8" indent="-317500" algn="l">
              <a:lnSpc>
                <a:spcPct val="90000"/>
              </a:lnSpc>
              <a:spcBef>
                <a:spcPts val="0"/>
              </a:spcBef>
              <a:spcAft>
                <a:spcPts val="0"/>
              </a:spcAft>
              <a:buClr>
                <a:schemeClr val="dk1"/>
              </a:buClr>
              <a:buSzPts val="1400"/>
              <a:buChar char="■"/>
              <a:defRPr/>
            </a:lvl9pPr>
          </a:lstStyle>
          <a:p>
            <a:endParaRPr/>
          </a:p>
        </p:txBody>
      </p:sp>
      <p:sp>
        <p:nvSpPr>
          <p:cNvPr id="30" name="Google Shape;30;p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lvl="0" indent="0" algn="r">
              <a:buClr>
                <a:srgbClr val="888888"/>
              </a:buClr>
              <a:buSzPts val="1200"/>
              <a:buFont typeface="Calibri"/>
              <a:buNone/>
              <a:defRPr sz="1200">
                <a:solidFill>
                  <a:srgbClr val="888888"/>
                </a:solidFill>
                <a:latin typeface="Calibri"/>
                <a:ea typeface="Calibri"/>
                <a:cs typeface="Calibri"/>
                <a:sym typeface="Calibri"/>
              </a:defRPr>
            </a:lvl1pPr>
            <a:lvl2pPr marL="0" lvl="1" indent="0" algn="r">
              <a:buClr>
                <a:srgbClr val="888888"/>
              </a:buClr>
              <a:buSzPts val="1200"/>
              <a:buFont typeface="Calibri"/>
              <a:buNone/>
              <a:defRPr sz="1200">
                <a:solidFill>
                  <a:srgbClr val="888888"/>
                </a:solidFill>
                <a:latin typeface="Calibri"/>
                <a:ea typeface="Calibri"/>
                <a:cs typeface="Calibri"/>
                <a:sym typeface="Calibri"/>
              </a:defRPr>
            </a:lvl2pPr>
            <a:lvl3pPr marL="0" lvl="2" indent="0" algn="r">
              <a:buClr>
                <a:srgbClr val="888888"/>
              </a:buClr>
              <a:buSzPts val="1200"/>
              <a:buFont typeface="Calibri"/>
              <a:buNone/>
              <a:defRPr sz="1200">
                <a:solidFill>
                  <a:srgbClr val="888888"/>
                </a:solidFill>
                <a:latin typeface="Calibri"/>
                <a:ea typeface="Calibri"/>
                <a:cs typeface="Calibri"/>
                <a:sym typeface="Calibri"/>
              </a:defRPr>
            </a:lvl3pPr>
            <a:lvl4pPr marL="0" lvl="3" indent="0" algn="r">
              <a:buClr>
                <a:srgbClr val="888888"/>
              </a:buClr>
              <a:buSzPts val="1200"/>
              <a:buFont typeface="Calibri"/>
              <a:buNone/>
              <a:defRPr sz="1200">
                <a:solidFill>
                  <a:srgbClr val="888888"/>
                </a:solidFill>
                <a:latin typeface="Calibri"/>
                <a:ea typeface="Calibri"/>
                <a:cs typeface="Calibri"/>
                <a:sym typeface="Calibri"/>
              </a:defRPr>
            </a:lvl4pPr>
            <a:lvl5pPr marL="0" lvl="4" indent="0" algn="r">
              <a:buClr>
                <a:srgbClr val="888888"/>
              </a:buClr>
              <a:buSzPts val="1200"/>
              <a:buFont typeface="Calibri"/>
              <a:buNone/>
              <a:defRPr sz="1200">
                <a:solidFill>
                  <a:srgbClr val="888888"/>
                </a:solidFill>
                <a:latin typeface="Calibri"/>
                <a:ea typeface="Calibri"/>
                <a:cs typeface="Calibri"/>
                <a:sym typeface="Calibri"/>
              </a:defRPr>
            </a:lvl5pPr>
            <a:lvl6pPr marL="0" lvl="5" indent="0" algn="r">
              <a:buClr>
                <a:srgbClr val="888888"/>
              </a:buClr>
              <a:buSzPts val="1200"/>
              <a:buFont typeface="Calibri"/>
              <a:buNone/>
              <a:defRPr sz="1200">
                <a:solidFill>
                  <a:srgbClr val="888888"/>
                </a:solidFill>
                <a:latin typeface="Calibri"/>
                <a:ea typeface="Calibri"/>
                <a:cs typeface="Calibri"/>
                <a:sym typeface="Calibri"/>
              </a:defRPr>
            </a:lvl6pPr>
            <a:lvl7pPr marL="0" lvl="6" indent="0" algn="r">
              <a:buClr>
                <a:srgbClr val="888888"/>
              </a:buClr>
              <a:buSzPts val="1200"/>
              <a:buFont typeface="Calibri"/>
              <a:buNone/>
              <a:defRPr sz="1200">
                <a:solidFill>
                  <a:srgbClr val="888888"/>
                </a:solidFill>
                <a:latin typeface="Calibri"/>
                <a:ea typeface="Calibri"/>
                <a:cs typeface="Calibri"/>
                <a:sym typeface="Calibri"/>
              </a:defRPr>
            </a:lvl7pPr>
            <a:lvl8pPr marL="0" lvl="7" indent="0" algn="r">
              <a:buClr>
                <a:srgbClr val="888888"/>
              </a:buClr>
              <a:buSzPts val="1200"/>
              <a:buFont typeface="Calibri"/>
              <a:buNone/>
              <a:defRPr sz="1200">
                <a:solidFill>
                  <a:srgbClr val="888888"/>
                </a:solidFill>
                <a:latin typeface="Calibri"/>
                <a:ea typeface="Calibri"/>
                <a:cs typeface="Calibri"/>
                <a:sym typeface="Calibri"/>
              </a:defRPr>
            </a:lvl8pPr>
            <a:lvl9pPr marL="0" lvl="8" indent="0" algn="r">
              <a:buClr>
                <a:srgbClr val="888888"/>
              </a:buClr>
              <a:buSzPts val="1200"/>
              <a:buFont typeface="Calibri"/>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bschnitts-&#10;überschrift"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Zwei Inhalte"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Vergleich"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Nur Titel"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eer" type="blank">
  <p:cSld name="BLANK">
    <p:spTree>
      <p:nvGrpSpPr>
        <p:cNvPr id="1" name="Shape 58"/>
        <p:cNvGrpSpPr/>
        <p:nvPr/>
      </p:nvGrpSpPr>
      <p:grpSpPr>
        <a:xfrm>
          <a:off x="0" y="0"/>
          <a:ext cx="0" cy="0"/>
          <a:chOff x="0" y="0"/>
          <a:chExt cx="0" cy="0"/>
        </a:xfrm>
      </p:grpSpPr>
      <p:sp>
        <p:nvSpPr>
          <p:cNvPr id="59" name="Google Shape;5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nhalt mit Überschrift" type="objTx">
  <p:cSld name="OBJECT_WITH_CAPTION_TEXT">
    <p:spTree>
      <p:nvGrpSpPr>
        <p:cNvPr id="1" name="Shape 62"/>
        <p:cNvGrpSpPr/>
        <p:nvPr/>
      </p:nvGrpSpPr>
      <p:grpSpPr>
        <a:xfrm>
          <a:off x="0" y="0"/>
          <a:ext cx="0" cy="0"/>
          <a:chOff x="0" y="0"/>
          <a:chExt cx="0" cy="0"/>
        </a:xfrm>
      </p:grpSpPr>
      <p:sp>
        <p:nvSpPr>
          <p:cNvPr id="63" name="Google Shape;63;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5" name="Google Shape;65;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6" name="Google Shape;6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ld mit Überschrift" type="picTx">
  <p:cSld name="PICTURE_WITH_CAPTION_TEXT">
    <p:spTree>
      <p:nvGrpSpPr>
        <p:cNvPr id="1" name="Shape 69"/>
        <p:cNvGrpSpPr/>
        <p:nvPr/>
      </p:nvGrpSpPr>
      <p:grpSpPr>
        <a:xfrm>
          <a:off x="0" y="0"/>
          <a:ext cx="0" cy="0"/>
          <a:chOff x="0" y="0"/>
          <a:chExt cx="0" cy="0"/>
        </a:xfrm>
      </p:grpSpPr>
      <p:sp>
        <p:nvSpPr>
          <p:cNvPr id="70" name="Google Shape;70;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11"/>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72" name="Google Shape;72;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3" name="Google Shape;7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el und vertikaler Text" type="vertTx">
  <p:cSld name="VERTICAL_TEXT">
    <p:spTree>
      <p:nvGrpSpPr>
        <p:cNvPr id="1" name="Shape 76"/>
        <p:cNvGrpSpPr/>
        <p:nvPr/>
      </p:nvGrpSpPr>
      <p:grpSpPr>
        <a:xfrm>
          <a:off x="0" y="0"/>
          <a:ext cx="0" cy="0"/>
          <a:chOff x="0" y="0"/>
          <a:chExt cx="0" cy="0"/>
        </a:xfrm>
      </p:grpSpPr>
      <p:sp>
        <p:nvSpPr>
          <p:cNvPr id="77" name="Google Shape;77;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kaler Titel und Text" type="vertTitleAndTx">
  <p:cSld name="VERTICAL_TITLE_AND_VERTICAL_TEXT">
    <p:spTree>
      <p:nvGrpSpPr>
        <p:cNvPr id="1" name="Shape 82"/>
        <p:cNvGrpSpPr/>
        <p:nvPr/>
      </p:nvGrpSpPr>
      <p:grpSpPr>
        <a:xfrm>
          <a:off x="0" y="0"/>
          <a:ext cx="0" cy="0"/>
          <a:chOff x="0" y="0"/>
          <a:chExt cx="0" cy="0"/>
        </a:xfrm>
      </p:grpSpPr>
      <p:sp>
        <p:nvSpPr>
          <p:cNvPr id="83" name="Google Shape;83;p1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1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e-DE"/>
              <a:t>‹Nr.›</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de-DE"/>
              <a:t>‹Nr.›</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comments" Target="../comments/commen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comments" Target="../comments/commen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comments" Target="../comments/comment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comments" Target="../comments/comment5.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istockphoto.com/de/vektor/gear-vektor-symbol-im-comic-stil-zahnrad-cartoon-illustration-auf-wei%C3%9Fem-gm1158099877-316232227"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1"/>
        <p:cNvGrpSpPr/>
        <p:nvPr/>
      </p:nvGrpSpPr>
      <p:grpSpPr>
        <a:xfrm>
          <a:off x="0" y="0"/>
          <a:ext cx="0" cy="0"/>
          <a:chOff x="0" y="0"/>
          <a:chExt cx="0" cy="0"/>
        </a:xfrm>
      </p:grpSpPr>
      <p:sp>
        <p:nvSpPr>
          <p:cNvPr id="92" name="Google Shape;92;p14"/>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3" name="Google Shape;93;p14"/>
          <p:cNvPicPr preferRelativeResize="0"/>
          <p:nvPr/>
        </p:nvPicPr>
        <p:blipFill rotWithShape="1">
          <a:blip r:embed="rId3">
            <a:alphaModFix/>
          </a:blip>
          <a:srcRect l="9397" r="10233"/>
          <a:stretch/>
        </p:blipFill>
        <p:spPr>
          <a:xfrm>
            <a:off x="2522358" y="10"/>
            <a:ext cx="9669642" cy="6857990"/>
          </a:xfrm>
          <a:prstGeom prst="rect">
            <a:avLst/>
          </a:prstGeom>
          <a:noFill/>
          <a:ln>
            <a:noFill/>
          </a:ln>
        </p:spPr>
      </p:pic>
      <p:sp>
        <p:nvSpPr>
          <p:cNvPr id="94" name="Google Shape;94;p14"/>
          <p:cNvSpPr/>
          <p:nvPr/>
        </p:nvSpPr>
        <p:spPr>
          <a:xfrm>
            <a:off x="0" y="0"/>
            <a:ext cx="7066978" cy="6858000"/>
          </a:xfrm>
          <a:prstGeom prst="rect">
            <a:avLst/>
          </a:prstGeom>
          <a:gradFill>
            <a:gsLst>
              <a:gs pos="0">
                <a:srgbClr val="FFFFFF">
                  <a:alpha val="0"/>
                </a:srgbClr>
              </a:gs>
              <a:gs pos="19000">
                <a:srgbClr val="FFFFFF">
                  <a:alpha val="37647"/>
                </a:srgbClr>
              </a:gs>
              <a:gs pos="35000">
                <a:srgbClr val="FFFFFF">
                  <a:alpha val="76862"/>
                </a:srgbClr>
              </a:gs>
              <a:gs pos="48000">
                <a:schemeClr val="lt1"/>
              </a:gs>
              <a:gs pos="100000">
                <a:schemeClr val="lt1"/>
              </a:gs>
            </a:gsLst>
            <a:lin ang="10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5" name="Google Shape;95;p14"/>
          <p:cNvSpPr txBox="1">
            <a:spLocks noGrp="1"/>
          </p:cNvSpPr>
          <p:nvPr>
            <p:ph type="ctrTitle"/>
          </p:nvPr>
        </p:nvSpPr>
        <p:spPr>
          <a:xfrm>
            <a:off x="717336" y="626001"/>
            <a:ext cx="3973385" cy="1907474"/>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5200"/>
              <a:buFont typeface="Calibri"/>
              <a:buNone/>
            </a:pPr>
            <a:r>
              <a:rPr lang="de-DE" sz="5200"/>
              <a:t>Customer Journey Maps</a:t>
            </a:r>
            <a:endParaRPr/>
          </a:p>
        </p:txBody>
      </p:sp>
      <p:sp>
        <p:nvSpPr>
          <p:cNvPr id="96" name="Google Shape;96;p14"/>
          <p:cNvSpPr txBox="1">
            <a:spLocks noGrp="1"/>
          </p:cNvSpPr>
          <p:nvPr>
            <p:ph type="subTitle" idx="1"/>
          </p:nvPr>
        </p:nvSpPr>
        <p:spPr>
          <a:xfrm>
            <a:off x="426608" y="3394358"/>
            <a:ext cx="4690676" cy="300474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de-DE" sz="1800" b="0" i="0" u="none" strike="noStrike"/>
              <a:t>Die Customer Journey Map (CJM) visuelle Darstellung der User Journey und der Erfahrung bei der Nutzung eines Dienstes oder Bereichs.</a:t>
            </a:r>
            <a:endParaRPr/>
          </a:p>
          <a:p>
            <a:pPr marL="0" lvl="0" indent="0" algn="l" rtl="0">
              <a:lnSpc>
                <a:spcPct val="90000"/>
              </a:lnSpc>
              <a:spcBef>
                <a:spcPts val="1000"/>
              </a:spcBef>
              <a:spcAft>
                <a:spcPts val="0"/>
              </a:spcAft>
              <a:buClr>
                <a:schemeClr val="dk1"/>
              </a:buClr>
              <a:buSzPts val="1800"/>
              <a:buNone/>
            </a:pPr>
            <a:r>
              <a:rPr lang="de-DE" sz="1800" b="0" i="0" u="none" strike="noStrike"/>
              <a:t>Die CJM visualisiert die User Journey von Anfang bis Ende einer Aufgabe, um die verschiedenen Phasen, Schritte und Touchpoints, die ein Benutzer durchlaufen muss, um eine Aufgabe zu erledigen, hervorzuheben und zu verstehen.</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0"/>
        <p:cNvGrpSpPr/>
        <p:nvPr/>
      </p:nvGrpSpPr>
      <p:grpSpPr>
        <a:xfrm>
          <a:off x="0" y="0"/>
          <a:ext cx="0" cy="0"/>
          <a:chOff x="0" y="0"/>
          <a:chExt cx="0" cy="0"/>
        </a:xfrm>
      </p:grpSpPr>
      <p:sp>
        <p:nvSpPr>
          <p:cNvPr id="101" name="Google Shape;101;p15"/>
          <p:cNvSpPr txBox="1">
            <a:spLocks noGrp="1"/>
          </p:cNvSpPr>
          <p:nvPr>
            <p:ph type="ctrTitle"/>
          </p:nvPr>
        </p:nvSpPr>
        <p:spPr>
          <a:xfrm>
            <a:off x="590206" y="1669500"/>
            <a:ext cx="3505495" cy="162232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700"/>
              <a:buFont typeface="Calibri"/>
              <a:buNone/>
            </a:pPr>
            <a:r>
              <a:rPr lang="de-DE" sz="3700">
                <a:solidFill>
                  <a:schemeClr val="dk1"/>
                </a:solidFill>
                <a:latin typeface="Calibri"/>
                <a:ea typeface="Calibri"/>
                <a:cs typeface="Calibri"/>
                <a:sym typeface="Calibri"/>
              </a:rPr>
              <a:t>Warum Customer Journey Maps?</a:t>
            </a:r>
            <a:endParaRPr/>
          </a:p>
        </p:txBody>
      </p:sp>
      <p:sp>
        <p:nvSpPr>
          <p:cNvPr id="102" name="Google Shape;102;p15"/>
          <p:cNvSpPr/>
          <p:nvPr/>
        </p:nvSpPr>
        <p:spPr>
          <a:xfrm>
            <a:off x="4639056" y="0"/>
            <a:ext cx="7552944" cy="6858000"/>
          </a:xfrm>
          <a:prstGeom prst="rect">
            <a:avLst/>
          </a:prstGeom>
          <a:solidFill>
            <a:srgbClr val="C8CAC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3" name="Google Shape;103;p15"/>
          <p:cNvSpPr txBox="1"/>
          <p:nvPr/>
        </p:nvSpPr>
        <p:spPr>
          <a:xfrm>
            <a:off x="5235777" y="6400800"/>
            <a:ext cx="6357807" cy="3774234"/>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None/>
            </a:pPr>
            <a:r>
              <a:rPr lang="de-DE" sz="900" b="0" i="0" u="none" strike="noStrike" cap="none" dirty="0">
                <a:solidFill>
                  <a:schemeClr val="dk1"/>
                </a:solidFill>
                <a:latin typeface="Arial"/>
                <a:ea typeface="Arial"/>
                <a:cs typeface="Arial"/>
                <a:sym typeface="Arial"/>
              </a:rPr>
              <a:t>[Institut der deutschen Wirtschaft 2021] </a:t>
            </a:r>
            <a:endParaRPr sz="2000" b="0" i="0" u="none" strike="noStrike" cap="none" dirty="0">
              <a:solidFill>
                <a:schemeClr val="dk1"/>
              </a:solidFill>
              <a:latin typeface="Calibri"/>
              <a:ea typeface="Calibri"/>
              <a:cs typeface="Calibri"/>
              <a:sym typeface="Calibri"/>
            </a:endParaRPr>
          </a:p>
        </p:txBody>
      </p:sp>
      <p:sp>
        <p:nvSpPr>
          <p:cNvPr id="104" name="Google Shape;104;p15"/>
          <p:cNvSpPr/>
          <p:nvPr/>
        </p:nvSpPr>
        <p:spPr>
          <a:xfrm>
            <a:off x="5123688" y="557784"/>
            <a:ext cx="6584098" cy="5739187"/>
          </a:xfrm>
          <a:prstGeom prst="roundRect">
            <a:avLst>
              <a:gd name="adj" fmla="val 0"/>
            </a:avLst>
          </a:prstGeom>
          <a:solidFill>
            <a:srgbClr val="FFFFFF"/>
          </a:solidFill>
          <a:ln w="9525" cap="flat" cmpd="sng">
            <a:solidFill>
              <a:srgbClr val="C8CACA"/>
            </a:solidFill>
            <a:prstDash val="solid"/>
            <a:miter lim="800000"/>
            <a:headEnd type="none" w="sm" len="sm"/>
            <a:tailEnd type="none" w="sm" len="sm"/>
          </a:ln>
          <a:effectLst>
            <a:outerShdw blurRad="57150" dist="19050" dir="5400000" algn="t" rotWithShape="0">
              <a:srgbClr val="000000">
                <a:alpha val="6274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05" name="Google Shape;105;p15"/>
          <p:cNvPicPr preferRelativeResize="0"/>
          <p:nvPr/>
        </p:nvPicPr>
        <p:blipFill rotWithShape="1">
          <a:blip r:embed="rId3">
            <a:alphaModFix/>
          </a:blip>
          <a:srcRect/>
          <a:stretch/>
        </p:blipFill>
        <p:spPr>
          <a:xfrm>
            <a:off x="5405862" y="1049741"/>
            <a:ext cx="6019331" cy="475527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
        <p:cNvGrpSpPr/>
        <p:nvPr/>
      </p:nvGrpSpPr>
      <p:grpSpPr>
        <a:xfrm>
          <a:off x="0" y="0"/>
          <a:ext cx="0" cy="0"/>
          <a:chOff x="0" y="0"/>
          <a:chExt cx="0" cy="0"/>
        </a:xfrm>
      </p:grpSpPr>
      <p:sp>
        <p:nvSpPr>
          <p:cNvPr id="111" name="Google Shape;111;p16"/>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2" name="Google Shape;112;p16"/>
          <p:cNvSpPr txBox="1">
            <a:spLocks noGrp="1"/>
          </p:cNvSpPr>
          <p:nvPr>
            <p:ph type="title"/>
          </p:nvPr>
        </p:nvSpPr>
        <p:spPr>
          <a:xfrm>
            <a:off x="838199" y="537883"/>
            <a:ext cx="4783697" cy="194281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000"/>
              <a:buFont typeface="Calibri"/>
              <a:buNone/>
            </a:pPr>
            <a:r>
              <a:rPr lang="de-DE" sz="4000"/>
              <a:t>Ziel einer Customer Journey Map</a:t>
            </a:r>
            <a:endParaRPr/>
          </a:p>
        </p:txBody>
      </p:sp>
      <p:sp>
        <p:nvSpPr>
          <p:cNvPr id="113" name="Google Shape;113;p16"/>
          <p:cNvSpPr txBox="1">
            <a:spLocks noGrp="1"/>
          </p:cNvSpPr>
          <p:nvPr>
            <p:ph type="body" idx="1"/>
          </p:nvPr>
        </p:nvSpPr>
        <p:spPr>
          <a:xfrm>
            <a:off x="838199" y="2686323"/>
            <a:ext cx="4783697" cy="3433583"/>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chemeClr val="dk1"/>
              </a:buClr>
              <a:buSzPts val="1700"/>
              <a:buNone/>
            </a:pPr>
            <a:endParaRPr sz="1700" dirty="0"/>
          </a:p>
          <a:p>
            <a:pPr marL="228600" lvl="0" indent="-228600" algn="l" rtl="0">
              <a:lnSpc>
                <a:spcPct val="90000"/>
              </a:lnSpc>
              <a:spcBef>
                <a:spcPts val="1000"/>
              </a:spcBef>
              <a:spcAft>
                <a:spcPts val="0"/>
              </a:spcAft>
              <a:buClr>
                <a:schemeClr val="dk1"/>
              </a:buClr>
              <a:buSzPts val="1700"/>
              <a:buChar char="•"/>
            </a:pPr>
            <a:r>
              <a:rPr lang="de-DE" sz="1700" dirty="0"/>
              <a:t>Analyse welche Berührungspunkte mit dem Produkt besonders ausschlaggebend für den Kauf/die Nutzung waren </a:t>
            </a:r>
            <a:endParaRPr dirty="0"/>
          </a:p>
          <a:p>
            <a:pPr marL="228600" lvl="0" indent="-120650" algn="l" rtl="0">
              <a:lnSpc>
                <a:spcPct val="90000"/>
              </a:lnSpc>
              <a:spcBef>
                <a:spcPts val="1000"/>
              </a:spcBef>
              <a:spcAft>
                <a:spcPts val="0"/>
              </a:spcAft>
              <a:buClr>
                <a:schemeClr val="dk1"/>
              </a:buClr>
              <a:buSzPts val="1700"/>
              <a:buNone/>
            </a:pPr>
            <a:endParaRPr sz="1700" dirty="0"/>
          </a:p>
          <a:p>
            <a:pPr marL="228600" lvl="0" indent="-228600" algn="l" rtl="0">
              <a:lnSpc>
                <a:spcPct val="90000"/>
              </a:lnSpc>
              <a:spcBef>
                <a:spcPts val="1000"/>
              </a:spcBef>
              <a:spcAft>
                <a:spcPts val="0"/>
              </a:spcAft>
              <a:buClr>
                <a:schemeClr val="dk1"/>
              </a:buClr>
              <a:buSzPts val="1700"/>
              <a:buChar char="•"/>
            </a:pPr>
            <a:r>
              <a:rPr lang="de-DE" sz="1700" dirty="0"/>
              <a:t>Möglichkeit die Wirkung verschiedener Kanäle aufeinander zu observieren </a:t>
            </a:r>
            <a:endParaRPr dirty="0"/>
          </a:p>
          <a:p>
            <a:pPr marL="228600" lvl="0" indent="-120650" algn="l" rtl="0">
              <a:lnSpc>
                <a:spcPct val="90000"/>
              </a:lnSpc>
              <a:spcBef>
                <a:spcPts val="1000"/>
              </a:spcBef>
              <a:spcAft>
                <a:spcPts val="0"/>
              </a:spcAft>
              <a:buClr>
                <a:schemeClr val="dk1"/>
              </a:buClr>
              <a:buSzPts val="1700"/>
              <a:buNone/>
            </a:pPr>
            <a:endParaRPr sz="1700" dirty="0"/>
          </a:p>
          <a:p>
            <a:pPr marL="228600" lvl="0" indent="-228600" algn="l" rtl="0">
              <a:lnSpc>
                <a:spcPct val="90000"/>
              </a:lnSpc>
              <a:spcBef>
                <a:spcPts val="1000"/>
              </a:spcBef>
              <a:spcAft>
                <a:spcPts val="0"/>
              </a:spcAft>
              <a:buClr>
                <a:schemeClr val="dk1"/>
              </a:buClr>
              <a:buSzPts val="1700"/>
              <a:buChar char="•"/>
            </a:pPr>
            <a:r>
              <a:rPr lang="de-DE" sz="1700" dirty="0"/>
              <a:t>Gewinnung von Erkenntnissen über das Verhalten und die Präferenzen der Zielgruppe bezüglich der Nutzung und Reaktionen auf Werbung gewonnen</a:t>
            </a:r>
            <a:endParaRPr dirty="0"/>
          </a:p>
        </p:txBody>
      </p:sp>
      <p:pic>
        <p:nvPicPr>
          <p:cNvPr id="114" name="Google Shape;114;p16" descr="Ein Bild, das Pfeil enthält.&#10;&#10;Automatisch generierte Beschreibung"/>
          <p:cNvPicPr preferRelativeResize="0"/>
          <p:nvPr/>
        </p:nvPicPr>
        <p:blipFill rotWithShape="1">
          <a:blip r:embed="rId3">
            <a:alphaModFix/>
          </a:blip>
          <a:srcRect/>
          <a:stretch/>
        </p:blipFill>
        <p:spPr>
          <a:xfrm>
            <a:off x="5988424" y="2211106"/>
            <a:ext cx="5706413" cy="237767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9"/>
        <p:cNvGrpSpPr/>
        <p:nvPr/>
      </p:nvGrpSpPr>
      <p:grpSpPr>
        <a:xfrm>
          <a:off x="0" y="0"/>
          <a:ext cx="0" cy="0"/>
          <a:chOff x="0" y="0"/>
          <a:chExt cx="0" cy="0"/>
        </a:xfrm>
      </p:grpSpPr>
      <p:sp>
        <p:nvSpPr>
          <p:cNvPr id="120" name="Google Shape;120;p17"/>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1" name="Google Shape;121;p17"/>
          <p:cNvSpPr txBox="1">
            <a:spLocks noGrp="1"/>
          </p:cNvSpPr>
          <p:nvPr>
            <p:ph type="title"/>
          </p:nvPr>
        </p:nvSpPr>
        <p:spPr>
          <a:xfrm>
            <a:off x="838199" y="573741"/>
            <a:ext cx="3785554" cy="2199341"/>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000"/>
              <a:buFont typeface="Calibri"/>
              <a:buNone/>
            </a:pPr>
            <a:r>
              <a:rPr lang="de-DE" sz="4000"/>
              <a:t>Aktueller Einsatz in der Industrie</a:t>
            </a:r>
            <a:endParaRPr/>
          </a:p>
        </p:txBody>
      </p:sp>
      <p:sp>
        <p:nvSpPr>
          <p:cNvPr id="122" name="Google Shape;122;p17"/>
          <p:cNvSpPr txBox="1">
            <a:spLocks noGrp="1"/>
          </p:cNvSpPr>
          <p:nvPr>
            <p:ph type="body" idx="1"/>
          </p:nvPr>
        </p:nvSpPr>
        <p:spPr>
          <a:xfrm>
            <a:off x="838199" y="2982260"/>
            <a:ext cx="3748441" cy="31496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de-DE" sz="2000"/>
              <a:t>Datengetriebene Analyse der Kunden nimmt in der Industrie immer weiter zu</a:t>
            </a:r>
            <a:endParaRPr/>
          </a:p>
          <a:p>
            <a:pPr marL="0" lvl="0" indent="0" algn="l" rtl="0">
              <a:lnSpc>
                <a:spcPct val="90000"/>
              </a:lnSpc>
              <a:spcBef>
                <a:spcPts val="1000"/>
              </a:spcBef>
              <a:spcAft>
                <a:spcPts val="0"/>
              </a:spcAft>
              <a:buClr>
                <a:schemeClr val="dk1"/>
              </a:buClr>
              <a:buSzPts val="2000"/>
              <a:buNone/>
            </a:pPr>
            <a:endParaRPr sz="2000"/>
          </a:p>
          <a:p>
            <a:pPr marL="228600" lvl="0" indent="-228600" algn="l" rtl="0">
              <a:lnSpc>
                <a:spcPct val="90000"/>
              </a:lnSpc>
              <a:spcBef>
                <a:spcPts val="1000"/>
              </a:spcBef>
              <a:spcAft>
                <a:spcPts val="0"/>
              </a:spcAft>
              <a:buClr>
                <a:schemeClr val="dk1"/>
              </a:buClr>
              <a:buSzPts val="2000"/>
              <a:buChar char="•"/>
            </a:pPr>
            <a:r>
              <a:rPr lang="de-DE" sz="2000"/>
              <a:t>Zusätzlich erlauben verschiedenste digitale Kanäle der Industrie Daten auf unterschiedle Weise zu sammeln und zu verbreiten</a:t>
            </a:r>
            <a:endParaRPr/>
          </a:p>
        </p:txBody>
      </p:sp>
      <p:pic>
        <p:nvPicPr>
          <p:cNvPr id="123" name="Google Shape;123;p17"/>
          <p:cNvPicPr preferRelativeResize="0"/>
          <p:nvPr/>
        </p:nvPicPr>
        <p:blipFill rotWithShape="1">
          <a:blip r:embed="rId3">
            <a:alphaModFix/>
          </a:blip>
          <a:srcRect/>
          <a:stretch/>
        </p:blipFill>
        <p:spPr>
          <a:xfrm>
            <a:off x="4991801" y="1838500"/>
            <a:ext cx="6362000" cy="3181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de-DE"/>
              <a:t>Bestandteile einer CJM</a:t>
            </a:r>
            <a:endParaRPr/>
          </a:p>
        </p:txBody>
      </p:sp>
      <p:sp>
        <p:nvSpPr>
          <p:cNvPr id="130" name="Google Shape;130;p18"/>
          <p:cNvSpPr txBox="1"/>
          <p:nvPr/>
        </p:nvSpPr>
        <p:spPr>
          <a:xfrm>
            <a:off x="218900" y="6488668"/>
            <a:ext cx="1038225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1000" b="0" i="0" u="none" strike="noStrike" cap="none">
                <a:solidFill>
                  <a:schemeClr val="dk1"/>
                </a:solidFill>
                <a:latin typeface="Arial"/>
                <a:ea typeface="Arial"/>
                <a:cs typeface="Arial"/>
                <a:sym typeface="Arial"/>
              </a:rPr>
              <a:t>[Haugstveitet al.2016]</a:t>
            </a:r>
            <a:br>
              <a:rPr lang="de-DE" sz="1800" b="0" i="0" u="none" strike="noStrike" cap="none">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pic>
        <p:nvPicPr>
          <p:cNvPr id="131" name="Google Shape;131;p18"/>
          <p:cNvPicPr preferRelativeResize="0"/>
          <p:nvPr/>
        </p:nvPicPr>
        <p:blipFill rotWithShape="1">
          <a:blip r:embed="rId3">
            <a:alphaModFix/>
          </a:blip>
          <a:srcRect/>
          <a:stretch/>
        </p:blipFill>
        <p:spPr>
          <a:xfrm>
            <a:off x="1982992" y="1516388"/>
            <a:ext cx="8226016" cy="507934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de-DE"/>
              <a:t>Bestandteile einer CJM</a:t>
            </a:r>
            <a:endParaRPr/>
          </a:p>
        </p:txBody>
      </p:sp>
      <p:pic>
        <p:nvPicPr>
          <p:cNvPr id="138" name="Google Shape;138;p19"/>
          <p:cNvPicPr preferRelativeResize="0"/>
          <p:nvPr/>
        </p:nvPicPr>
        <p:blipFill rotWithShape="1">
          <a:blip r:embed="rId3">
            <a:alphaModFix/>
          </a:blip>
          <a:srcRect/>
          <a:stretch/>
        </p:blipFill>
        <p:spPr>
          <a:xfrm>
            <a:off x="1515041" y="1796663"/>
            <a:ext cx="8792802" cy="4086795"/>
          </a:xfrm>
          <a:prstGeom prst="rect">
            <a:avLst/>
          </a:prstGeom>
          <a:noFill/>
          <a:ln>
            <a:noFill/>
          </a:ln>
        </p:spPr>
      </p:pic>
      <p:sp>
        <p:nvSpPr>
          <p:cNvPr id="139" name="Google Shape;139;p19"/>
          <p:cNvSpPr txBox="1"/>
          <p:nvPr/>
        </p:nvSpPr>
        <p:spPr>
          <a:xfrm>
            <a:off x="218900" y="6488668"/>
            <a:ext cx="1038225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1000" b="0" i="0">
                <a:solidFill>
                  <a:schemeClr val="dk1"/>
                </a:solidFill>
                <a:latin typeface="Arial"/>
                <a:ea typeface="Arial"/>
                <a:cs typeface="Arial"/>
                <a:sym typeface="Arial"/>
              </a:rPr>
              <a:t>[Haugstveitet al.2016]</a:t>
            </a:r>
            <a:br>
              <a:rPr lang="de-DE" sz="1800">
                <a:solidFill>
                  <a:schemeClr val="dk1"/>
                </a:solidFill>
                <a:latin typeface="Calibri"/>
                <a:ea typeface="Calibri"/>
                <a:cs typeface="Calibri"/>
                <a:sym typeface="Calibri"/>
              </a:rPr>
            </a:b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0"/>
          <p:cNvSpPr txBox="1">
            <a:spLocks noGrp="1"/>
          </p:cNvSpPr>
          <p:nvPr>
            <p:ph type="title"/>
          </p:nvPr>
        </p:nvSpPr>
        <p:spPr>
          <a:xfrm>
            <a:off x="415600" y="593367"/>
            <a:ext cx="11360800" cy="763600"/>
          </a:xfrm>
          <a:prstGeom prst="rect">
            <a:avLst/>
          </a:prstGeom>
          <a:noFill/>
          <a:ln>
            <a:noFill/>
          </a:ln>
        </p:spPr>
        <p:txBody>
          <a:bodyPr spcFirstLastPara="1" wrap="square" lIns="121900" tIns="121900" rIns="121900" bIns="121900" anchor="t" anchorCtr="0">
            <a:normAutofit fontScale="90000"/>
          </a:bodyPr>
          <a:lstStyle/>
          <a:p>
            <a:pPr marL="0" lvl="0" indent="0" algn="ctr" rtl="0">
              <a:lnSpc>
                <a:spcPct val="90000"/>
              </a:lnSpc>
              <a:spcBef>
                <a:spcPts val="0"/>
              </a:spcBef>
              <a:spcAft>
                <a:spcPts val="0"/>
              </a:spcAft>
              <a:buClr>
                <a:schemeClr val="dk1"/>
              </a:buClr>
              <a:buSzPct val="70707"/>
              <a:buFont typeface="Calibri"/>
              <a:buNone/>
            </a:pPr>
            <a:r>
              <a:rPr lang="de-DE" dirty="0"/>
              <a:t>Die Phasen - Welche Schritte geht ein Kunde?</a:t>
            </a:r>
            <a:endParaRPr dirty="0"/>
          </a:p>
        </p:txBody>
      </p:sp>
      <p:sp>
        <p:nvSpPr>
          <p:cNvPr id="145" name="Google Shape;145;p20"/>
          <p:cNvSpPr txBox="1">
            <a:spLocks noGrp="1"/>
          </p:cNvSpPr>
          <p:nvPr>
            <p:ph type="body" idx="1"/>
          </p:nvPr>
        </p:nvSpPr>
        <p:spPr>
          <a:xfrm>
            <a:off x="332567" y="2225100"/>
            <a:ext cx="4690400" cy="3163200"/>
          </a:xfrm>
          <a:prstGeom prst="rect">
            <a:avLst/>
          </a:prstGeom>
          <a:noFill/>
          <a:ln>
            <a:noFill/>
          </a:ln>
        </p:spPr>
        <p:txBody>
          <a:bodyPr spcFirstLastPara="1" wrap="square" lIns="121900" tIns="121900" rIns="121900" bIns="121900" anchor="t" anchorCtr="0">
            <a:normAutofit fontScale="92500" lnSpcReduction="20000"/>
          </a:bodyPr>
          <a:lstStyle/>
          <a:p>
            <a:pPr marL="0" lvl="0" indent="0" algn="l" rtl="0">
              <a:lnSpc>
                <a:spcPct val="90000"/>
              </a:lnSpc>
              <a:spcBef>
                <a:spcPts val="0"/>
              </a:spcBef>
              <a:spcAft>
                <a:spcPts val="0"/>
              </a:spcAft>
              <a:buClr>
                <a:schemeClr val="dk1"/>
              </a:buClr>
              <a:buSzPct val="132647"/>
              <a:buNone/>
            </a:pPr>
            <a:r>
              <a:rPr lang="de-DE" sz="1600" dirty="0">
                <a:solidFill>
                  <a:schemeClr val="dk1"/>
                </a:solidFill>
              </a:rPr>
              <a:t>Phasen: </a:t>
            </a:r>
            <a:br>
              <a:rPr lang="de-DE" sz="1600" dirty="0">
                <a:solidFill>
                  <a:schemeClr val="dk1"/>
                </a:solidFill>
              </a:rPr>
            </a:br>
            <a:r>
              <a:rPr lang="de-DE" sz="1600" dirty="0" err="1">
                <a:solidFill>
                  <a:schemeClr val="dk1"/>
                </a:solidFill>
              </a:rPr>
              <a:t>Pre</a:t>
            </a:r>
            <a:r>
              <a:rPr lang="de-DE" sz="1600" dirty="0">
                <a:solidFill>
                  <a:schemeClr val="dk1"/>
                </a:solidFill>
              </a:rPr>
              <a:t>-Touch, First Touch, Core Touch, Last Touch in Touch </a:t>
            </a:r>
            <a:endParaRPr sz="1600" dirty="0">
              <a:solidFill>
                <a:schemeClr val="dk1"/>
              </a:solidFill>
            </a:endParaRPr>
          </a:p>
          <a:p>
            <a:pPr marL="0" lvl="0" indent="0" algn="l" rtl="0">
              <a:lnSpc>
                <a:spcPct val="90000"/>
              </a:lnSpc>
              <a:spcBef>
                <a:spcPts val="1600"/>
              </a:spcBef>
              <a:spcAft>
                <a:spcPts val="0"/>
              </a:spcAft>
              <a:buClr>
                <a:schemeClr val="dk1"/>
              </a:buClr>
              <a:buSzPct val="132647"/>
              <a:buNone/>
            </a:pPr>
            <a:r>
              <a:rPr lang="de-DE" sz="1600" dirty="0">
                <a:solidFill>
                  <a:schemeClr val="dk1"/>
                </a:solidFill>
              </a:rPr>
              <a:t>Feelings:</a:t>
            </a:r>
            <a:br>
              <a:rPr lang="de-DE" sz="1600" dirty="0">
                <a:solidFill>
                  <a:schemeClr val="dk1"/>
                </a:solidFill>
              </a:rPr>
            </a:br>
            <a:r>
              <a:rPr lang="de-DE" sz="1600" dirty="0">
                <a:solidFill>
                  <a:schemeClr val="dk1"/>
                </a:solidFill>
              </a:rPr>
              <a:t>Eine Form der Gewichtung der Touchpoints</a:t>
            </a:r>
            <a:endParaRPr sz="1600" dirty="0">
              <a:solidFill>
                <a:schemeClr val="dk1"/>
              </a:solidFill>
            </a:endParaRPr>
          </a:p>
          <a:p>
            <a:pPr marL="0" lvl="0" indent="0" algn="l" rtl="0">
              <a:lnSpc>
                <a:spcPct val="90000"/>
              </a:lnSpc>
              <a:spcBef>
                <a:spcPts val="1600"/>
              </a:spcBef>
              <a:spcAft>
                <a:spcPts val="0"/>
              </a:spcAft>
              <a:buClr>
                <a:schemeClr val="dk1"/>
              </a:buClr>
              <a:buSzPct val="132647"/>
              <a:buNone/>
            </a:pPr>
            <a:r>
              <a:rPr lang="de-DE" sz="1600" dirty="0">
                <a:solidFill>
                  <a:schemeClr val="dk1"/>
                </a:solidFill>
              </a:rPr>
              <a:t>Channels:</a:t>
            </a:r>
            <a:br>
              <a:rPr lang="de-DE" sz="1600" dirty="0">
                <a:solidFill>
                  <a:schemeClr val="dk1"/>
                </a:solidFill>
              </a:rPr>
            </a:br>
            <a:r>
              <a:rPr lang="de-DE" sz="1600" dirty="0">
                <a:solidFill>
                  <a:schemeClr val="dk1"/>
                </a:solidFill>
              </a:rPr>
              <a:t>Die Form der Interaktion mit dem Unternehmen</a:t>
            </a:r>
            <a:endParaRPr sz="1600" dirty="0">
              <a:solidFill>
                <a:schemeClr val="dk1"/>
              </a:solidFill>
            </a:endParaRPr>
          </a:p>
          <a:p>
            <a:pPr marL="0" lvl="0" indent="0" algn="l" rtl="0">
              <a:lnSpc>
                <a:spcPct val="90000"/>
              </a:lnSpc>
              <a:spcBef>
                <a:spcPts val="1600"/>
              </a:spcBef>
              <a:spcAft>
                <a:spcPts val="1600"/>
              </a:spcAft>
              <a:buClr>
                <a:schemeClr val="dk1"/>
              </a:buClr>
              <a:buSzPct val="132647"/>
              <a:buNone/>
            </a:pPr>
            <a:r>
              <a:rPr lang="de-DE" sz="1600" dirty="0" err="1">
                <a:solidFill>
                  <a:schemeClr val="dk1"/>
                </a:solidFill>
              </a:rPr>
              <a:t>Doing</a:t>
            </a:r>
            <a:r>
              <a:rPr lang="de-DE" sz="1600" dirty="0">
                <a:solidFill>
                  <a:schemeClr val="dk1"/>
                </a:solidFill>
              </a:rPr>
              <a:t> &amp; </a:t>
            </a:r>
            <a:r>
              <a:rPr lang="de-DE" sz="1600" dirty="0" err="1">
                <a:solidFill>
                  <a:schemeClr val="dk1"/>
                </a:solidFill>
              </a:rPr>
              <a:t>Saying</a:t>
            </a:r>
            <a:r>
              <a:rPr lang="de-DE" sz="1600" dirty="0">
                <a:solidFill>
                  <a:schemeClr val="dk1"/>
                </a:solidFill>
              </a:rPr>
              <a:t>:</a:t>
            </a:r>
            <a:br>
              <a:rPr lang="de-DE" sz="1600" dirty="0">
                <a:solidFill>
                  <a:schemeClr val="dk1"/>
                </a:solidFill>
              </a:rPr>
            </a:br>
            <a:r>
              <a:rPr lang="de-DE" sz="1600" dirty="0">
                <a:solidFill>
                  <a:schemeClr val="dk1"/>
                </a:solidFill>
              </a:rPr>
              <a:t>Beschreibung dessen was der Kunde bei der jeweiligen Interaktion denkt</a:t>
            </a:r>
            <a:br>
              <a:rPr lang="de-DE" sz="1600" dirty="0">
                <a:solidFill>
                  <a:schemeClr val="dk1"/>
                </a:solidFill>
              </a:rPr>
            </a:br>
            <a:br>
              <a:rPr lang="de-DE" sz="1600" dirty="0">
                <a:solidFill>
                  <a:schemeClr val="dk1"/>
                </a:solidFill>
              </a:rPr>
            </a:br>
            <a:r>
              <a:rPr lang="de-DE" sz="1600" dirty="0" err="1">
                <a:solidFill>
                  <a:schemeClr val="dk1"/>
                </a:solidFill>
              </a:rPr>
              <a:t>Thinking</a:t>
            </a:r>
            <a:r>
              <a:rPr lang="de-DE" sz="1600" dirty="0">
                <a:solidFill>
                  <a:schemeClr val="dk1"/>
                </a:solidFill>
              </a:rPr>
              <a:t>:</a:t>
            </a:r>
            <a:br>
              <a:rPr lang="de-DE" sz="1600" dirty="0">
                <a:solidFill>
                  <a:schemeClr val="dk1"/>
                </a:solidFill>
              </a:rPr>
            </a:br>
            <a:r>
              <a:rPr lang="de-DE" sz="1600" dirty="0">
                <a:solidFill>
                  <a:schemeClr val="dk1"/>
                </a:solidFill>
              </a:rPr>
              <a:t>Was ist der Gedanke des Kunden während der einzelnen Phasen</a:t>
            </a:r>
            <a:endParaRPr sz="1600" dirty="0">
              <a:solidFill>
                <a:schemeClr val="dk1"/>
              </a:solidFill>
            </a:endParaRPr>
          </a:p>
        </p:txBody>
      </p:sp>
      <p:pic>
        <p:nvPicPr>
          <p:cNvPr id="146" name="Google Shape;146;p20"/>
          <p:cNvPicPr preferRelativeResize="0"/>
          <p:nvPr/>
        </p:nvPicPr>
        <p:blipFill rotWithShape="1">
          <a:blip r:embed="rId3">
            <a:alphaModFix/>
          </a:blip>
          <a:srcRect/>
          <a:stretch/>
        </p:blipFill>
        <p:spPr>
          <a:xfrm>
            <a:off x="5022967" y="1751867"/>
            <a:ext cx="6753435" cy="3518360"/>
          </a:xfrm>
          <a:prstGeom prst="rect">
            <a:avLst/>
          </a:prstGeom>
          <a:noFill/>
          <a:ln>
            <a:noFill/>
          </a:ln>
        </p:spPr>
      </p:pic>
      <p:sp>
        <p:nvSpPr>
          <p:cNvPr id="147" name="Google Shape;147;p20"/>
          <p:cNvSpPr txBox="1"/>
          <p:nvPr/>
        </p:nvSpPr>
        <p:spPr>
          <a:xfrm>
            <a:off x="5060000" y="5250933"/>
            <a:ext cx="6546300" cy="369300"/>
          </a:xfrm>
          <a:prstGeom prst="rect">
            <a:avLst/>
          </a:prstGeom>
          <a:noFill/>
          <a:ln>
            <a:noFill/>
          </a:ln>
        </p:spPr>
        <p:txBody>
          <a:bodyPr spcFirstLastPara="1" wrap="square" lIns="121900" tIns="121900" rIns="121900" bIns="121900" anchor="t" anchorCtr="0">
            <a:spAutoFit/>
          </a:bodyPr>
          <a:lstStyle/>
          <a:p>
            <a:pPr marL="0" lvl="0" indent="0" algn="r" rtl="0">
              <a:spcBef>
                <a:spcPts val="0"/>
              </a:spcBef>
              <a:spcAft>
                <a:spcPts val="0"/>
              </a:spcAft>
              <a:buClr>
                <a:schemeClr val="dk1"/>
              </a:buClr>
              <a:buFont typeface="Arial"/>
              <a:buNone/>
            </a:pPr>
            <a:r>
              <a:rPr lang="de-DE" sz="800" dirty="0">
                <a:solidFill>
                  <a:schemeClr val="dk1"/>
                </a:solidFill>
                <a:latin typeface="Calibri" panose="020F0502020204030204" pitchFamily="34" charset="0"/>
                <a:ea typeface="Calibri"/>
                <a:cs typeface="Calibri" panose="020F0502020204030204" pitchFamily="34" charset="0"/>
                <a:sym typeface="Calibri"/>
              </a:rPr>
              <a:t>[</a:t>
            </a:r>
            <a:r>
              <a:rPr lang="de-DE" sz="800" dirty="0" err="1">
                <a:solidFill>
                  <a:schemeClr val="dk1"/>
                </a:solidFill>
                <a:highlight>
                  <a:srgbClr val="FFFFFF"/>
                </a:highlight>
                <a:latin typeface="Calibri" panose="020F0502020204030204" pitchFamily="34" charset="0"/>
                <a:ea typeface="Georgia"/>
                <a:cs typeface="Calibri" panose="020F0502020204030204" pitchFamily="34" charset="0"/>
                <a:sym typeface="Georgia"/>
              </a:rPr>
              <a:t>Mucz</a:t>
            </a:r>
            <a:r>
              <a:rPr lang="de-DE" sz="800" dirty="0">
                <a:solidFill>
                  <a:schemeClr val="dk1"/>
                </a:solidFill>
                <a:highlight>
                  <a:srgbClr val="FFFFFF"/>
                </a:highlight>
                <a:latin typeface="Calibri" panose="020F0502020204030204" pitchFamily="34" charset="0"/>
                <a:ea typeface="Georgia"/>
                <a:cs typeface="Calibri" panose="020F0502020204030204" pitchFamily="34" charset="0"/>
                <a:sym typeface="Georgia"/>
              </a:rPr>
              <a:t>, D., and C. </a:t>
            </a:r>
            <a:r>
              <a:rPr lang="de-DE" sz="800" dirty="0" err="1">
                <a:solidFill>
                  <a:schemeClr val="dk1"/>
                </a:solidFill>
                <a:highlight>
                  <a:srgbClr val="FFFFFF"/>
                </a:highlight>
                <a:latin typeface="Calibri" panose="020F0502020204030204" pitchFamily="34" charset="0"/>
                <a:ea typeface="Georgia"/>
                <a:cs typeface="Calibri" panose="020F0502020204030204" pitchFamily="34" charset="0"/>
                <a:sym typeface="Georgia"/>
              </a:rPr>
              <a:t>Gareau</a:t>
            </a:r>
            <a:r>
              <a:rPr lang="de-DE" sz="800" dirty="0">
                <a:solidFill>
                  <a:schemeClr val="dk1"/>
                </a:solidFill>
                <a:highlight>
                  <a:srgbClr val="FFFFFF"/>
                </a:highlight>
                <a:latin typeface="Calibri" panose="020F0502020204030204" pitchFamily="34" charset="0"/>
                <a:ea typeface="Georgia"/>
                <a:cs typeface="Calibri" panose="020F0502020204030204" pitchFamily="34" charset="0"/>
                <a:sym typeface="Georgia"/>
              </a:rPr>
              <a:t>-Brennan</a:t>
            </a:r>
            <a:r>
              <a:rPr lang="de-DE" sz="800" dirty="0">
                <a:solidFill>
                  <a:schemeClr val="dk1"/>
                </a:solidFill>
                <a:latin typeface="Calibri" panose="020F0502020204030204" pitchFamily="34" charset="0"/>
                <a:ea typeface="Calibri"/>
                <a:cs typeface="Calibri" panose="020F0502020204030204" pitchFamily="34" charset="0"/>
                <a:sym typeface="Calibri"/>
              </a:rPr>
              <a:t> al.2019]</a:t>
            </a:r>
            <a:endParaRPr sz="733" dirty="0">
              <a:solidFill>
                <a:schemeClr val="dk1"/>
              </a:solidFill>
              <a:latin typeface="Calibri" panose="020F0502020204030204" pitchFamily="34" charset="0"/>
              <a:ea typeface="Calibri"/>
              <a:cs typeface="Calibri" panose="020F0502020204030204" pitchFamily="34" charset="0"/>
              <a:sym typeface="Calibri"/>
            </a:endParaRPr>
          </a:p>
        </p:txBody>
      </p:sp>
      <p:sp>
        <p:nvSpPr>
          <p:cNvPr id="148" name="Google Shape;148;p20"/>
          <p:cNvSpPr txBox="1"/>
          <p:nvPr/>
        </p:nvSpPr>
        <p:spPr>
          <a:xfrm>
            <a:off x="403900" y="5621034"/>
            <a:ext cx="4064400" cy="984845"/>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de-DE" sz="2400" u="sng">
                <a:solidFill>
                  <a:schemeClr val="dk1"/>
                </a:solidFill>
                <a:latin typeface="Calibri"/>
                <a:ea typeface="Calibri"/>
                <a:cs typeface="Calibri"/>
                <a:sym typeface="Calibri"/>
              </a:rPr>
              <a:t>Nur eine von vielen möglichen Repräsentation!!!</a:t>
            </a:r>
            <a:endParaRPr sz="2400" u="sng">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1"/>
          <p:cNvSpPr txBox="1">
            <a:spLocks noGrp="1"/>
          </p:cNvSpPr>
          <p:nvPr>
            <p:ph type="title"/>
          </p:nvPr>
        </p:nvSpPr>
        <p:spPr>
          <a:xfrm>
            <a:off x="415600" y="593367"/>
            <a:ext cx="11360800" cy="763600"/>
          </a:xfrm>
          <a:prstGeom prst="rect">
            <a:avLst/>
          </a:prstGeom>
          <a:noFill/>
          <a:ln>
            <a:noFill/>
          </a:ln>
        </p:spPr>
        <p:txBody>
          <a:bodyPr spcFirstLastPara="1" wrap="square" lIns="121900" tIns="121900" rIns="121900" bIns="121900" anchor="t" anchorCtr="0">
            <a:normAutofit fontScale="90000"/>
          </a:bodyPr>
          <a:lstStyle/>
          <a:p>
            <a:pPr marL="0" lvl="0" indent="0" algn="ctr" rtl="0">
              <a:lnSpc>
                <a:spcPct val="90000"/>
              </a:lnSpc>
              <a:spcBef>
                <a:spcPts val="0"/>
              </a:spcBef>
              <a:spcAft>
                <a:spcPts val="0"/>
              </a:spcAft>
              <a:buClr>
                <a:schemeClr val="dk1"/>
              </a:buClr>
              <a:buSzPct val="70707"/>
              <a:buFont typeface="Calibri"/>
              <a:buNone/>
            </a:pPr>
            <a:r>
              <a:rPr lang="de-DE"/>
              <a:t>Andere Beispiele</a:t>
            </a:r>
            <a:endParaRPr/>
          </a:p>
        </p:txBody>
      </p:sp>
      <p:pic>
        <p:nvPicPr>
          <p:cNvPr id="154" name="Google Shape;154;p21"/>
          <p:cNvPicPr preferRelativeResize="0"/>
          <p:nvPr/>
        </p:nvPicPr>
        <p:blipFill rotWithShape="1">
          <a:blip r:embed="rId3">
            <a:alphaModFix/>
          </a:blip>
          <a:srcRect/>
          <a:stretch/>
        </p:blipFill>
        <p:spPr>
          <a:xfrm>
            <a:off x="6225601" y="1356967"/>
            <a:ext cx="5550801" cy="4163099"/>
          </a:xfrm>
          <a:prstGeom prst="rect">
            <a:avLst/>
          </a:prstGeom>
          <a:noFill/>
          <a:ln>
            <a:noFill/>
          </a:ln>
        </p:spPr>
      </p:pic>
      <p:pic>
        <p:nvPicPr>
          <p:cNvPr id="155" name="Google Shape;155;p21"/>
          <p:cNvPicPr preferRelativeResize="0"/>
          <p:nvPr/>
        </p:nvPicPr>
        <p:blipFill rotWithShape="1">
          <a:blip r:embed="rId4">
            <a:alphaModFix/>
          </a:blip>
          <a:srcRect/>
          <a:stretch/>
        </p:blipFill>
        <p:spPr>
          <a:xfrm>
            <a:off x="415600" y="2694901"/>
            <a:ext cx="4848933" cy="361613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2"/>
          <p:cNvSpPr txBox="1">
            <a:spLocks noGrp="1"/>
          </p:cNvSpPr>
          <p:nvPr>
            <p:ph type="title"/>
          </p:nvPr>
        </p:nvSpPr>
        <p:spPr>
          <a:xfrm>
            <a:off x="415600" y="593367"/>
            <a:ext cx="11360800" cy="763600"/>
          </a:xfrm>
          <a:prstGeom prst="rect">
            <a:avLst/>
          </a:prstGeom>
          <a:noFill/>
          <a:ln>
            <a:noFill/>
          </a:ln>
        </p:spPr>
        <p:txBody>
          <a:bodyPr spcFirstLastPara="1" wrap="square" lIns="121900" tIns="121900" rIns="121900" bIns="121900" anchor="t" anchorCtr="0">
            <a:normAutofit fontScale="90000"/>
          </a:bodyPr>
          <a:lstStyle/>
          <a:p>
            <a:pPr marL="0" lvl="0" indent="0" algn="ctr" rtl="0">
              <a:lnSpc>
                <a:spcPct val="90000"/>
              </a:lnSpc>
              <a:spcBef>
                <a:spcPts val="0"/>
              </a:spcBef>
              <a:spcAft>
                <a:spcPts val="0"/>
              </a:spcAft>
              <a:buClr>
                <a:schemeClr val="dk1"/>
              </a:buClr>
              <a:buSzPct val="70707"/>
              <a:buFont typeface="Calibri"/>
              <a:buNone/>
            </a:pPr>
            <a:r>
              <a:rPr lang="de-DE"/>
              <a:t>Design Thinking und Customer Journey Map</a:t>
            </a:r>
            <a:endParaRPr/>
          </a:p>
        </p:txBody>
      </p:sp>
      <p:sp>
        <p:nvSpPr>
          <p:cNvPr id="161" name="Google Shape;161;p22"/>
          <p:cNvSpPr txBox="1">
            <a:spLocks noGrp="1"/>
          </p:cNvSpPr>
          <p:nvPr>
            <p:ph type="body" idx="1"/>
          </p:nvPr>
        </p:nvSpPr>
        <p:spPr>
          <a:xfrm>
            <a:off x="831851" y="1974185"/>
            <a:ext cx="5407500" cy="3370171"/>
          </a:xfrm>
          <a:prstGeom prst="rect">
            <a:avLst/>
          </a:prstGeom>
          <a:noFill/>
          <a:ln>
            <a:noFill/>
          </a:ln>
        </p:spPr>
        <p:txBody>
          <a:bodyPr spcFirstLastPara="1" wrap="square" lIns="121900" tIns="121900" rIns="121900" bIns="121900" anchor="t" anchorCtr="0">
            <a:noAutofit/>
          </a:bodyPr>
          <a:lstStyle/>
          <a:p>
            <a:pPr marL="0" lvl="0" indent="0" algn="l" rtl="0">
              <a:lnSpc>
                <a:spcPct val="90000"/>
              </a:lnSpc>
              <a:spcBef>
                <a:spcPts val="0"/>
              </a:spcBef>
              <a:spcAft>
                <a:spcPts val="1600"/>
              </a:spcAft>
              <a:buClr>
                <a:schemeClr val="dk1"/>
              </a:buClr>
              <a:buSzPts val="2118"/>
              <a:buNone/>
            </a:pPr>
            <a:r>
              <a:rPr lang="de-DE" sz="1800" dirty="0">
                <a:solidFill>
                  <a:schemeClr val="dk1"/>
                </a:solidFill>
              </a:rPr>
              <a:t>Customer Journey </a:t>
            </a:r>
            <a:r>
              <a:rPr lang="de-DE" sz="1800" dirty="0" err="1">
                <a:solidFill>
                  <a:schemeClr val="dk1"/>
                </a:solidFill>
              </a:rPr>
              <a:t>Map</a:t>
            </a:r>
            <a:r>
              <a:rPr lang="de-DE" sz="1800" dirty="0"/>
              <a:t>:</a:t>
            </a:r>
          </a:p>
          <a:p>
            <a:pPr indent="-457200">
              <a:spcAft>
                <a:spcPts val="1600"/>
              </a:spcAft>
              <a:buSzPts val="2118"/>
            </a:pPr>
            <a:r>
              <a:rPr lang="de-DE" sz="1800" dirty="0">
                <a:solidFill>
                  <a:schemeClr val="dk1"/>
                </a:solidFill>
              </a:rPr>
              <a:t>Kunden Verstehen</a:t>
            </a:r>
          </a:p>
          <a:p>
            <a:pPr indent="-457200">
              <a:spcAft>
                <a:spcPts val="1600"/>
              </a:spcAft>
              <a:buSzPts val="2118"/>
            </a:pPr>
            <a:r>
              <a:rPr lang="de-DE" sz="1800" dirty="0">
                <a:solidFill>
                  <a:schemeClr val="dk1"/>
                </a:solidFill>
              </a:rPr>
              <a:t>Prozess Anpassen</a:t>
            </a:r>
          </a:p>
          <a:p>
            <a:pPr indent="-457200">
              <a:spcAft>
                <a:spcPts val="1600"/>
              </a:spcAft>
              <a:buSzPts val="2118"/>
            </a:pPr>
            <a:r>
              <a:rPr lang="de-DE" sz="1800" dirty="0">
                <a:solidFill>
                  <a:schemeClr val="dk1"/>
                </a:solidFill>
              </a:rPr>
              <a:t>Erfahrung Verbessern</a:t>
            </a:r>
            <a:br>
              <a:rPr lang="de-DE" sz="1800" dirty="0">
                <a:solidFill>
                  <a:schemeClr val="dk1"/>
                </a:solidFill>
              </a:rPr>
            </a:br>
            <a:endParaRPr lang="de-DE" sz="1800" dirty="0">
              <a:solidFill>
                <a:schemeClr val="dk1"/>
              </a:solidFill>
            </a:endParaRPr>
          </a:p>
          <a:p>
            <a:pPr indent="-457200">
              <a:spcAft>
                <a:spcPts val="1600"/>
              </a:spcAft>
              <a:buSzPts val="2118"/>
            </a:pPr>
            <a:r>
              <a:rPr lang="de-DE" sz="1800" dirty="0">
                <a:solidFill>
                  <a:schemeClr val="dk1"/>
                </a:solidFill>
              </a:rPr>
              <a:t>Flexible/Präzise </a:t>
            </a:r>
            <a:r>
              <a:rPr lang="de-DE" sz="1800" dirty="0"/>
              <a:t>E</a:t>
            </a:r>
            <a:r>
              <a:rPr lang="de-DE" sz="1800" dirty="0">
                <a:solidFill>
                  <a:schemeClr val="dk1"/>
                </a:solidFill>
              </a:rPr>
              <a:t>insatzmöglichkeit</a:t>
            </a:r>
            <a:endParaRPr sz="1800" dirty="0">
              <a:solidFill>
                <a:schemeClr val="dk1"/>
              </a:solidFill>
            </a:endParaRPr>
          </a:p>
        </p:txBody>
      </p:sp>
      <p:pic>
        <p:nvPicPr>
          <p:cNvPr id="162" name="Google Shape;162;p22"/>
          <p:cNvPicPr preferRelativeResize="0"/>
          <p:nvPr/>
        </p:nvPicPr>
        <p:blipFill>
          <a:blip r:embed="rId3">
            <a:alphaModFix/>
          </a:blip>
          <a:stretch>
            <a:fillRect/>
          </a:stretch>
        </p:blipFill>
        <p:spPr>
          <a:xfrm>
            <a:off x="5629450" y="1356976"/>
            <a:ext cx="4446700" cy="4446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7"/>
        <p:cNvGrpSpPr/>
        <p:nvPr/>
      </p:nvGrpSpPr>
      <p:grpSpPr>
        <a:xfrm>
          <a:off x="0" y="0"/>
          <a:ext cx="0" cy="0"/>
          <a:chOff x="0" y="0"/>
          <a:chExt cx="0" cy="0"/>
        </a:xfrm>
      </p:grpSpPr>
      <p:sp>
        <p:nvSpPr>
          <p:cNvPr id="168" name="Google Shape;168;p23"/>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9" name="Google Shape;169;p23"/>
          <p:cNvSpPr txBox="1">
            <a:spLocks noGrp="1"/>
          </p:cNvSpPr>
          <p:nvPr>
            <p:ph type="title"/>
          </p:nvPr>
        </p:nvSpPr>
        <p:spPr>
          <a:xfrm>
            <a:off x="838199" y="573741"/>
            <a:ext cx="3785554" cy="1557063"/>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ct val="100000"/>
              <a:buFont typeface="Calibri"/>
              <a:buNone/>
            </a:pPr>
            <a:r>
              <a:rPr lang="de-DE" sz="4000"/>
              <a:t>Methoden zur Erstellung einer CJM</a:t>
            </a:r>
            <a:endParaRPr/>
          </a:p>
        </p:txBody>
      </p:sp>
      <p:sp>
        <p:nvSpPr>
          <p:cNvPr id="170" name="Google Shape;170;p23"/>
          <p:cNvSpPr txBox="1">
            <a:spLocks noGrp="1"/>
          </p:cNvSpPr>
          <p:nvPr>
            <p:ph type="body" idx="1"/>
          </p:nvPr>
        </p:nvSpPr>
        <p:spPr>
          <a:xfrm>
            <a:off x="771087" y="2704545"/>
            <a:ext cx="3748441" cy="31496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1400"/>
              <a:buChar char="•"/>
            </a:pPr>
            <a:r>
              <a:rPr lang="de-DE" sz="1800" i="0" u="none" strike="noStrike" dirty="0"/>
              <a:t>User Tagebuch</a:t>
            </a:r>
            <a:endParaRPr sz="3600" dirty="0"/>
          </a:p>
          <a:p>
            <a:pPr marL="228600" lvl="0" indent="-228600" algn="l" rtl="0">
              <a:lnSpc>
                <a:spcPct val="90000"/>
              </a:lnSpc>
              <a:spcBef>
                <a:spcPts val="1000"/>
              </a:spcBef>
              <a:spcAft>
                <a:spcPts val="0"/>
              </a:spcAft>
              <a:buClr>
                <a:schemeClr val="dk1"/>
              </a:buClr>
              <a:buSzPts val="1400"/>
              <a:buChar char="•"/>
            </a:pPr>
            <a:r>
              <a:rPr lang="de-DE" sz="1800" i="0" u="none" strike="noStrike" dirty="0"/>
              <a:t>Hierarchischen Aufgaben-Analyse</a:t>
            </a:r>
            <a:endParaRPr sz="3600" dirty="0"/>
          </a:p>
          <a:p>
            <a:pPr marL="228600" lvl="0" indent="-228600" algn="l" rtl="0">
              <a:lnSpc>
                <a:spcPct val="90000"/>
              </a:lnSpc>
              <a:spcBef>
                <a:spcPts val="1000"/>
              </a:spcBef>
              <a:spcAft>
                <a:spcPts val="0"/>
              </a:spcAft>
              <a:buClr>
                <a:schemeClr val="dk1"/>
              </a:buClr>
              <a:buSzPts val="1400"/>
              <a:buChar char="•"/>
            </a:pPr>
            <a:r>
              <a:rPr lang="de-DE" sz="1800" dirty="0"/>
              <a:t>Fokusgruppen</a:t>
            </a:r>
            <a:endParaRPr sz="1800" b="0" i="0" u="none" strike="noStrike" dirty="0"/>
          </a:p>
          <a:p>
            <a:pPr marL="228600" lvl="0" indent="-228600" algn="l" rtl="0">
              <a:lnSpc>
                <a:spcPct val="90000"/>
              </a:lnSpc>
              <a:spcBef>
                <a:spcPts val="1000"/>
              </a:spcBef>
              <a:spcAft>
                <a:spcPts val="0"/>
              </a:spcAft>
              <a:buClr>
                <a:schemeClr val="dk1"/>
              </a:buClr>
              <a:buSzPts val="1400"/>
              <a:buChar char="•"/>
            </a:pPr>
            <a:r>
              <a:rPr lang="de-DE" sz="1800" b="0" i="0" u="none" strike="noStrike" dirty="0"/>
              <a:t>Individuelle Interviews (Meist Semi-Strukturiert)</a:t>
            </a:r>
            <a:endParaRPr sz="3600" dirty="0"/>
          </a:p>
          <a:p>
            <a:pPr marL="228600" lvl="0" indent="-228600" algn="l" rtl="0">
              <a:lnSpc>
                <a:spcPct val="90000"/>
              </a:lnSpc>
              <a:spcBef>
                <a:spcPts val="1000"/>
              </a:spcBef>
              <a:spcAft>
                <a:spcPts val="0"/>
              </a:spcAft>
              <a:buClr>
                <a:schemeClr val="dk1"/>
              </a:buClr>
              <a:buSzPts val="1400"/>
              <a:buChar char="•"/>
            </a:pPr>
            <a:r>
              <a:rPr lang="de-DE" sz="1800" b="0" i="0" u="none" strike="noStrike" dirty="0"/>
              <a:t>Beobachtung</a:t>
            </a:r>
            <a:endParaRPr sz="3600" dirty="0"/>
          </a:p>
          <a:p>
            <a:pPr marL="0" lvl="0" indent="0" algn="l" rtl="0">
              <a:lnSpc>
                <a:spcPct val="90000"/>
              </a:lnSpc>
              <a:spcBef>
                <a:spcPts val="1000"/>
              </a:spcBef>
              <a:spcAft>
                <a:spcPts val="0"/>
              </a:spcAft>
              <a:buClr>
                <a:schemeClr val="dk1"/>
              </a:buClr>
              <a:buSzPts val="1400"/>
              <a:buNone/>
            </a:pPr>
            <a:endParaRPr sz="1400" b="0" i="0" u="none" strike="noStrike" dirty="0"/>
          </a:p>
          <a:p>
            <a:pPr marL="228600" lvl="0" indent="-139700" algn="l" rtl="0">
              <a:lnSpc>
                <a:spcPct val="90000"/>
              </a:lnSpc>
              <a:spcBef>
                <a:spcPts val="1000"/>
              </a:spcBef>
              <a:spcAft>
                <a:spcPts val="0"/>
              </a:spcAft>
              <a:buClr>
                <a:schemeClr val="dk1"/>
              </a:buClr>
              <a:buSzPts val="1400"/>
              <a:buNone/>
            </a:pPr>
            <a:endParaRPr sz="1400" dirty="0"/>
          </a:p>
        </p:txBody>
      </p:sp>
      <p:pic>
        <p:nvPicPr>
          <p:cNvPr id="171" name="Google Shape;171;p23"/>
          <p:cNvPicPr preferRelativeResize="0"/>
          <p:nvPr/>
        </p:nvPicPr>
        <p:blipFill rotWithShape="1">
          <a:blip r:embed="rId3">
            <a:alphaModFix/>
          </a:blip>
          <a:srcRect/>
          <a:stretch/>
        </p:blipFill>
        <p:spPr>
          <a:xfrm>
            <a:off x="4991801" y="1576067"/>
            <a:ext cx="6362000" cy="370586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6"/>
        <p:cNvGrpSpPr/>
        <p:nvPr/>
      </p:nvGrpSpPr>
      <p:grpSpPr>
        <a:xfrm>
          <a:off x="0" y="0"/>
          <a:ext cx="0" cy="0"/>
          <a:chOff x="0" y="0"/>
          <a:chExt cx="0" cy="0"/>
        </a:xfrm>
      </p:grpSpPr>
      <p:sp>
        <p:nvSpPr>
          <p:cNvPr id="177" name="Google Shape;177;p24"/>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8" name="Google Shape;178;p24"/>
          <p:cNvSpPr txBox="1">
            <a:spLocks noGrp="1"/>
          </p:cNvSpPr>
          <p:nvPr>
            <p:ph type="title"/>
          </p:nvPr>
        </p:nvSpPr>
        <p:spPr>
          <a:xfrm>
            <a:off x="143627" y="458818"/>
            <a:ext cx="3785554" cy="911109"/>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4000"/>
              <a:buFont typeface="Calibri"/>
              <a:buNone/>
            </a:pPr>
            <a:r>
              <a:rPr lang="de-DE" sz="4000">
                <a:solidFill>
                  <a:schemeClr val="dk1"/>
                </a:solidFill>
                <a:latin typeface="Calibri"/>
                <a:ea typeface="Calibri"/>
                <a:cs typeface="Calibri"/>
                <a:sym typeface="Calibri"/>
              </a:rPr>
              <a:t>Fallbeispiel</a:t>
            </a:r>
            <a:endParaRPr/>
          </a:p>
        </p:txBody>
      </p:sp>
      <p:sp>
        <p:nvSpPr>
          <p:cNvPr id="179" name="Google Shape;179;p24"/>
          <p:cNvSpPr txBox="1"/>
          <p:nvPr/>
        </p:nvSpPr>
        <p:spPr>
          <a:xfrm>
            <a:off x="334859" y="2327918"/>
            <a:ext cx="3339519" cy="3116537"/>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0"/>
              </a:spcBef>
              <a:spcAft>
                <a:spcPts val="0"/>
              </a:spcAft>
              <a:buNone/>
            </a:pPr>
            <a:r>
              <a:rPr lang="de-DE" sz="2000">
                <a:solidFill>
                  <a:schemeClr val="dk1"/>
                </a:solidFill>
                <a:latin typeface="Calibri"/>
                <a:ea typeface="Calibri"/>
                <a:cs typeface="Calibri"/>
                <a:sym typeface="Calibri"/>
              </a:rPr>
              <a:t>Im Fallbeispiel wird eines der weltweit größten Einkaufszentren analysiert. Dieses bietet den Kunden ein vielfältiges Angebot an Einkaufs-, Unterhaltungs- und Essen/Getränke-Optionen.</a:t>
            </a:r>
            <a:endParaRPr/>
          </a:p>
        </p:txBody>
      </p:sp>
      <p:pic>
        <p:nvPicPr>
          <p:cNvPr id="180" name="Google Shape;180;p24" descr="Ein Bild, das Tisch enthält.&#10;&#10;Automatisch generierte Beschreibung"/>
          <p:cNvPicPr preferRelativeResize="0"/>
          <p:nvPr/>
        </p:nvPicPr>
        <p:blipFill rotWithShape="1">
          <a:blip r:embed="rId3">
            <a:alphaModFix/>
          </a:blip>
          <a:srcRect/>
          <a:stretch/>
        </p:blipFill>
        <p:spPr>
          <a:xfrm>
            <a:off x="3929181" y="1130417"/>
            <a:ext cx="7995072" cy="4597166"/>
          </a:xfrm>
          <a:prstGeom prst="rect">
            <a:avLst/>
          </a:prstGeom>
          <a:noFill/>
          <a:ln>
            <a:noFill/>
          </a:ln>
        </p:spPr>
      </p:pic>
      <p:sp>
        <p:nvSpPr>
          <p:cNvPr id="6" name="Google Shape;188;p25">
            <a:extLst>
              <a:ext uri="{FF2B5EF4-FFF2-40B4-BE49-F238E27FC236}">
                <a16:creationId xmlns:a16="http://schemas.microsoft.com/office/drawing/2014/main" id="{A14702C6-C421-4710-86E2-31366BA58165}"/>
              </a:ext>
            </a:extLst>
          </p:cNvPr>
          <p:cNvSpPr txBox="1"/>
          <p:nvPr/>
        </p:nvSpPr>
        <p:spPr>
          <a:xfrm>
            <a:off x="9395177" y="6276071"/>
            <a:ext cx="3073866"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1000">
                <a:solidFill>
                  <a:schemeClr val="dk1"/>
                </a:solidFill>
                <a:latin typeface="Calibri"/>
                <a:ea typeface="Calibri"/>
                <a:cs typeface="Calibri"/>
                <a:sym typeface="Calibri"/>
              </a:rPr>
              <a:t>[Rosenbaumet al.2017]</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4"/>
        <p:cNvGrpSpPr/>
        <p:nvPr/>
      </p:nvGrpSpPr>
      <p:grpSpPr>
        <a:xfrm>
          <a:off x="0" y="0"/>
          <a:ext cx="0" cy="0"/>
          <a:chOff x="0" y="0"/>
          <a:chExt cx="0" cy="0"/>
        </a:xfrm>
      </p:grpSpPr>
      <p:sp>
        <p:nvSpPr>
          <p:cNvPr id="185" name="Google Shape;185;p25"/>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6" name="Google Shape;186;p25"/>
          <p:cNvSpPr txBox="1">
            <a:spLocks noGrp="1"/>
          </p:cNvSpPr>
          <p:nvPr>
            <p:ph type="title"/>
          </p:nvPr>
        </p:nvSpPr>
        <p:spPr>
          <a:xfrm>
            <a:off x="841248" y="552289"/>
            <a:ext cx="3976496" cy="3700929"/>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5200"/>
              <a:buFont typeface="Calibri"/>
              <a:buNone/>
            </a:pPr>
            <a:r>
              <a:rPr lang="de-DE" sz="5200">
                <a:solidFill>
                  <a:schemeClr val="dk1"/>
                </a:solidFill>
                <a:latin typeface="Calibri"/>
                <a:ea typeface="Calibri"/>
                <a:cs typeface="Calibri"/>
                <a:sym typeface="Calibri"/>
              </a:rPr>
              <a:t>Pre-Service Period</a:t>
            </a:r>
            <a:endParaRPr/>
          </a:p>
        </p:txBody>
      </p:sp>
      <p:pic>
        <p:nvPicPr>
          <p:cNvPr id="187" name="Google Shape;187;p25" descr="Ein Bild, das Tisch enthält.&#10;&#10;Automatisch generierte Beschreibung"/>
          <p:cNvPicPr preferRelativeResize="0"/>
          <p:nvPr/>
        </p:nvPicPr>
        <p:blipFill rotWithShape="1">
          <a:blip r:embed="rId3">
            <a:alphaModFix/>
          </a:blip>
          <a:srcRect/>
          <a:stretch/>
        </p:blipFill>
        <p:spPr>
          <a:xfrm>
            <a:off x="5476198" y="295904"/>
            <a:ext cx="5874554" cy="6266192"/>
          </a:xfrm>
          <a:prstGeom prst="rect">
            <a:avLst/>
          </a:prstGeom>
          <a:noFill/>
          <a:ln>
            <a:noFill/>
          </a:ln>
        </p:spPr>
      </p:pic>
      <p:sp>
        <p:nvSpPr>
          <p:cNvPr id="188" name="Google Shape;188;p25"/>
          <p:cNvSpPr txBox="1"/>
          <p:nvPr/>
        </p:nvSpPr>
        <p:spPr>
          <a:xfrm>
            <a:off x="8445267" y="6595643"/>
            <a:ext cx="3073866"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1000">
                <a:solidFill>
                  <a:schemeClr val="dk1"/>
                </a:solidFill>
                <a:latin typeface="Calibri"/>
                <a:ea typeface="Calibri"/>
                <a:cs typeface="Calibri"/>
                <a:sym typeface="Calibri"/>
              </a:rPr>
              <a:t>[Rosenbaumet al.2017]</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2"/>
        <p:cNvGrpSpPr/>
        <p:nvPr/>
      </p:nvGrpSpPr>
      <p:grpSpPr>
        <a:xfrm>
          <a:off x="0" y="0"/>
          <a:ext cx="0" cy="0"/>
          <a:chOff x="0" y="0"/>
          <a:chExt cx="0" cy="0"/>
        </a:xfrm>
      </p:grpSpPr>
      <p:sp>
        <p:nvSpPr>
          <p:cNvPr id="193" name="Google Shape;193;p26"/>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4" name="Google Shape;194;p26"/>
          <p:cNvSpPr txBox="1">
            <a:spLocks noGrp="1"/>
          </p:cNvSpPr>
          <p:nvPr>
            <p:ph type="title"/>
          </p:nvPr>
        </p:nvSpPr>
        <p:spPr>
          <a:xfrm>
            <a:off x="838199" y="537883"/>
            <a:ext cx="4783697" cy="194281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000"/>
              <a:buFont typeface="Calibri"/>
              <a:buNone/>
            </a:pPr>
            <a:r>
              <a:rPr lang="de-DE" sz="4000"/>
              <a:t>Vorteile für Unternehmen</a:t>
            </a:r>
            <a:endParaRPr sz="4000"/>
          </a:p>
        </p:txBody>
      </p:sp>
      <p:sp>
        <p:nvSpPr>
          <p:cNvPr id="195" name="Google Shape;195;p26"/>
          <p:cNvSpPr txBox="1">
            <a:spLocks noGrp="1"/>
          </p:cNvSpPr>
          <p:nvPr>
            <p:ph type="body" idx="1"/>
          </p:nvPr>
        </p:nvSpPr>
        <p:spPr>
          <a:xfrm>
            <a:off x="838199" y="2660516"/>
            <a:ext cx="4783697" cy="343358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de-DE" sz="2000" dirty="0">
                <a:latin typeface="Arial"/>
                <a:ea typeface="Arial"/>
                <a:cs typeface="Arial"/>
                <a:sym typeface="Arial"/>
              </a:rPr>
              <a:t>Kundengetriebener Designprozess</a:t>
            </a:r>
            <a:endParaRPr dirty="0"/>
          </a:p>
          <a:p>
            <a:pPr marL="228600" lvl="0" indent="-228600" algn="l" rtl="0">
              <a:lnSpc>
                <a:spcPct val="90000"/>
              </a:lnSpc>
              <a:spcBef>
                <a:spcPts val="1000"/>
              </a:spcBef>
              <a:spcAft>
                <a:spcPts val="0"/>
              </a:spcAft>
              <a:buClr>
                <a:schemeClr val="dk1"/>
              </a:buClr>
              <a:buSzPts val="2000"/>
              <a:buChar char="•"/>
            </a:pPr>
            <a:r>
              <a:rPr lang="de-DE" sz="2000" dirty="0">
                <a:latin typeface="Arial"/>
                <a:ea typeface="Arial"/>
                <a:cs typeface="Arial"/>
                <a:sym typeface="Arial"/>
              </a:rPr>
              <a:t>Sehr flexibel einsetzbar</a:t>
            </a:r>
            <a:endParaRPr dirty="0"/>
          </a:p>
          <a:p>
            <a:pPr marL="228600" lvl="0" indent="-228600" algn="l" rtl="0">
              <a:lnSpc>
                <a:spcPct val="90000"/>
              </a:lnSpc>
              <a:spcBef>
                <a:spcPts val="1000"/>
              </a:spcBef>
              <a:spcAft>
                <a:spcPts val="0"/>
              </a:spcAft>
              <a:buClr>
                <a:schemeClr val="dk1"/>
              </a:buClr>
              <a:buSzPts val="2000"/>
              <a:buChar char="•"/>
            </a:pPr>
            <a:r>
              <a:rPr lang="de-DE" sz="2000" dirty="0">
                <a:latin typeface="Arial"/>
                <a:ea typeface="Arial"/>
                <a:cs typeface="Arial"/>
                <a:sym typeface="Arial"/>
              </a:rPr>
              <a:t>CJMs ermöglichen ein besseres Verständnis für die Komplexität des Produkt-Ökosystems</a:t>
            </a:r>
            <a:endParaRPr dirty="0"/>
          </a:p>
          <a:p>
            <a:pPr marL="228600" lvl="0" indent="-228600" algn="l" rtl="0">
              <a:lnSpc>
                <a:spcPct val="90000"/>
              </a:lnSpc>
              <a:spcBef>
                <a:spcPts val="1000"/>
              </a:spcBef>
              <a:spcAft>
                <a:spcPts val="0"/>
              </a:spcAft>
              <a:buClr>
                <a:schemeClr val="dk1"/>
              </a:buClr>
              <a:buSzPts val="2000"/>
              <a:buChar char="•"/>
            </a:pPr>
            <a:r>
              <a:rPr lang="de-DE" sz="2000" dirty="0">
                <a:latin typeface="Arial"/>
                <a:ea typeface="Arial"/>
                <a:cs typeface="Arial"/>
                <a:sym typeface="Arial"/>
              </a:rPr>
              <a:t>Durch die Einbeziehung der Emotionen und Denkprozesse der tatsächlichen Kunden kann die Interpretation über die übliche Analyse quantitativer Daten hinausgehen</a:t>
            </a:r>
            <a:endParaRPr dirty="0"/>
          </a:p>
        </p:txBody>
      </p:sp>
      <p:pic>
        <p:nvPicPr>
          <p:cNvPr id="196" name="Google Shape;196;p26"/>
          <p:cNvPicPr preferRelativeResize="0"/>
          <p:nvPr/>
        </p:nvPicPr>
        <p:blipFill rotWithShape="1">
          <a:blip r:embed="rId3">
            <a:alphaModFix/>
          </a:blip>
          <a:srcRect/>
          <a:stretch/>
        </p:blipFill>
        <p:spPr>
          <a:xfrm>
            <a:off x="5988424" y="1759521"/>
            <a:ext cx="5365375" cy="313874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0"/>
        <p:cNvGrpSpPr/>
        <p:nvPr/>
      </p:nvGrpSpPr>
      <p:grpSpPr>
        <a:xfrm>
          <a:off x="0" y="0"/>
          <a:ext cx="0" cy="0"/>
          <a:chOff x="0" y="0"/>
          <a:chExt cx="0" cy="0"/>
        </a:xfrm>
      </p:grpSpPr>
      <p:sp>
        <p:nvSpPr>
          <p:cNvPr id="201" name="Google Shape;201;p27"/>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2" name="Google Shape;202;p27"/>
          <p:cNvSpPr txBox="1">
            <a:spLocks noGrp="1"/>
          </p:cNvSpPr>
          <p:nvPr>
            <p:ph type="title"/>
          </p:nvPr>
        </p:nvSpPr>
        <p:spPr>
          <a:xfrm>
            <a:off x="838199" y="537883"/>
            <a:ext cx="4783697" cy="194281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000"/>
              <a:buFont typeface="Calibri"/>
              <a:buNone/>
            </a:pPr>
            <a:r>
              <a:rPr lang="de-DE" sz="4000"/>
              <a:t>Vorteile für Kunden</a:t>
            </a:r>
            <a:endParaRPr/>
          </a:p>
        </p:txBody>
      </p:sp>
      <p:sp>
        <p:nvSpPr>
          <p:cNvPr id="203" name="Google Shape;203;p27"/>
          <p:cNvSpPr txBox="1">
            <a:spLocks noGrp="1"/>
          </p:cNvSpPr>
          <p:nvPr>
            <p:ph type="body" idx="1"/>
          </p:nvPr>
        </p:nvSpPr>
        <p:spPr>
          <a:xfrm>
            <a:off x="838199" y="2686323"/>
            <a:ext cx="4783697" cy="3433583"/>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de-DE" sz="2000"/>
              <a:t>Starke Einflussmöglichkeit des Kunden auf das Produkt</a:t>
            </a:r>
            <a:endParaRPr/>
          </a:p>
          <a:p>
            <a:pPr marL="0" lvl="0" indent="0" algn="l" rtl="0">
              <a:lnSpc>
                <a:spcPct val="90000"/>
              </a:lnSpc>
              <a:spcBef>
                <a:spcPts val="1000"/>
              </a:spcBef>
              <a:spcAft>
                <a:spcPts val="0"/>
              </a:spcAft>
              <a:buClr>
                <a:schemeClr val="dk1"/>
              </a:buClr>
              <a:buSzPts val="2000"/>
              <a:buNone/>
            </a:pPr>
            <a:endParaRPr sz="2000"/>
          </a:p>
          <a:p>
            <a:pPr marL="228600" lvl="0" indent="-228600" algn="l" rtl="0">
              <a:lnSpc>
                <a:spcPct val="90000"/>
              </a:lnSpc>
              <a:spcBef>
                <a:spcPts val="1000"/>
              </a:spcBef>
              <a:spcAft>
                <a:spcPts val="0"/>
              </a:spcAft>
              <a:buClr>
                <a:schemeClr val="dk1"/>
              </a:buClr>
              <a:buSzPts val="2000"/>
              <a:buChar char="•"/>
            </a:pPr>
            <a:r>
              <a:rPr lang="de-DE" sz="2000"/>
              <a:t>Auch individuelle Ansichten oder Emotionen des Kunden im Bezug auf das Produkt werden durch die ethnographischen Methoden berücksichtigt</a:t>
            </a:r>
            <a:endParaRPr/>
          </a:p>
        </p:txBody>
      </p:sp>
      <p:pic>
        <p:nvPicPr>
          <p:cNvPr id="204" name="Google Shape;204;p27"/>
          <p:cNvPicPr preferRelativeResize="0"/>
          <p:nvPr/>
        </p:nvPicPr>
        <p:blipFill rotWithShape="1">
          <a:blip r:embed="rId3">
            <a:alphaModFix/>
          </a:blip>
          <a:srcRect/>
          <a:stretch/>
        </p:blipFill>
        <p:spPr>
          <a:xfrm>
            <a:off x="5988424" y="1759521"/>
            <a:ext cx="5365375" cy="313874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8"/>
        <p:cNvGrpSpPr/>
        <p:nvPr/>
      </p:nvGrpSpPr>
      <p:grpSpPr>
        <a:xfrm>
          <a:off x="0" y="0"/>
          <a:ext cx="0" cy="0"/>
          <a:chOff x="0" y="0"/>
          <a:chExt cx="0" cy="0"/>
        </a:xfrm>
      </p:grpSpPr>
      <p:sp>
        <p:nvSpPr>
          <p:cNvPr id="209" name="Google Shape;209;p28"/>
          <p:cNvSpPr txBox="1">
            <a:spLocks noGrp="1"/>
          </p:cNvSpPr>
          <p:nvPr>
            <p:ph type="title"/>
          </p:nvPr>
        </p:nvSpPr>
        <p:spPr>
          <a:xfrm>
            <a:off x="645859" y="640081"/>
            <a:ext cx="3494341" cy="145716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2800"/>
              <a:buFont typeface="Calibri"/>
              <a:buNone/>
            </a:pPr>
            <a:r>
              <a:rPr lang="de-DE" sz="4600">
                <a:solidFill>
                  <a:schemeClr val="dk1"/>
                </a:solidFill>
                <a:latin typeface="Calibri"/>
                <a:ea typeface="Calibri"/>
                <a:cs typeface="Calibri"/>
                <a:sym typeface="Calibri"/>
              </a:rPr>
              <a:t>Schlusswort</a:t>
            </a:r>
            <a:endParaRPr sz="4600">
              <a:solidFill>
                <a:schemeClr val="dk1"/>
              </a:solidFill>
              <a:latin typeface="Calibri"/>
              <a:ea typeface="Calibri"/>
              <a:cs typeface="Calibri"/>
              <a:sym typeface="Calibri"/>
            </a:endParaRPr>
          </a:p>
        </p:txBody>
      </p:sp>
      <p:sp>
        <p:nvSpPr>
          <p:cNvPr id="210" name="Google Shape;210;p28"/>
          <p:cNvSpPr txBox="1">
            <a:spLocks noGrp="1"/>
          </p:cNvSpPr>
          <p:nvPr>
            <p:ph type="body" idx="1"/>
          </p:nvPr>
        </p:nvSpPr>
        <p:spPr>
          <a:xfrm>
            <a:off x="645859" y="2978091"/>
            <a:ext cx="3494342" cy="164592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1600"/>
              </a:spcAft>
              <a:buClr>
                <a:schemeClr val="dk1"/>
              </a:buClr>
              <a:buSzPts val="1800"/>
              <a:buNone/>
            </a:pPr>
            <a:r>
              <a:rPr lang="de-DE" sz="2200">
                <a:solidFill>
                  <a:schemeClr val="dk1"/>
                </a:solidFill>
                <a:latin typeface="Calibri"/>
                <a:ea typeface="Calibri"/>
                <a:cs typeface="Calibri"/>
                <a:sym typeface="Calibri"/>
              </a:rPr>
              <a:t>Umfrage zeigt Interesse an Kundendaten insbesondere bei Unternehmen mit Digitalem Fokus. </a:t>
            </a:r>
            <a:endParaRPr/>
          </a:p>
        </p:txBody>
      </p:sp>
      <p:sp>
        <p:nvSpPr>
          <p:cNvPr id="211" name="Google Shape;211;p28"/>
          <p:cNvSpPr/>
          <p:nvPr/>
        </p:nvSpPr>
        <p:spPr>
          <a:xfrm>
            <a:off x="4625926" y="0"/>
            <a:ext cx="7566074" cy="6858000"/>
          </a:xfrm>
          <a:prstGeom prst="rect">
            <a:avLst/>
          </a:prstGeom>
          <a:solidFill>
            <a:srgbClr val="C8CAC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lang="de-DE" sz="1800" b="0" i="0" u="none" strike="noStrike" cap="none" dirty="0">
              <a:solidFill>
                <a:srgbClr val="FFFFFF"/>
              </a:solidFill>
              <a:latin typeface="Calibri"/>
              <a:ea typeface="Calibri"/>
              <a:cs typeface="Calibri"/>
              <a:sym typeface="Calibri"/>
            </a:endParaRPr>
          </a:p>
        </p:txBody>
      </p:sp>
      <p:sp>
        <p:nvSpPr>
          <p:cNvPr id="212" name="Google Shape;212;p28"/>
          <p:cNvSpPr/>
          <p:nvPr/>
        </p:nvSpPr>
        <p:spPr>
          <a:xfrm>
            <a:off x="5275903" y="640091"/>
            <a:ext cx="6266120" cy="5577818"/>
          </a:xfrm>
          <a:prstGeom prst="roundRect">
            <a:avLst>
              <a:gd name="adj" fmla="val 0"/>
            </a:avLst>
          </a:prstGeom>
          <a:solidFill>
            <a:srgbClr val="FFFFFF"/>
          </a:solidFill>
          <a:ln w="9525" cap="flat" cmpd="sng">
            <a:solidFill>
              <a:srgbClr val="C8CACA"/>
            </a:solidFill>
            <a:prstDash val="solid"/>
            <a:miter lim="800000"/>
            <a:headEnd type="none" w="sm" len="sm"/>
            <a:tailEnd type="none" w="sm" len="sm"/>
          </a:ln>
          <a:effectLst>
            <a:outerShdw blurRad="57150" dist="19050" dir="5400000" algn="t" rotWithShape="0">
              <a:srgbClr val="000000">
                <a:alpha val="62745"/>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213" name="Google Shape;213;p28"/>
          <p:cNvPicPr preferRelativeResize="0"/>
          <p:nvPr/>
        </p:nvPicPr>
        <p:blipFill rotWithShape="1">
          <a:blip r:embed="rId3">
            <a:alphaModFix/>
          </a:blip>
          <a:srcRect/>
          <a:stretch/>
        </p:blipFill>
        <p:spPr>
          <a:xfrm>
            <a:off x="5441735" y="1181325"/>
            <a:ext cx="5934456" cy="4495350"/>
          </a:xfrm>
          <a:prstGeom prst="rect">
            <a:avLst/>
          </a:prstGeom>
          <a:noFill/>
          <a:ln>
            <a:noFill/>
          </a:ln>
        </p:spPr>
      </p:pic>
      <p:sp>
        <p:nvSpPr>
          <p:cNvPr id="214" name="Google Shape;214;p28"/>
          <p:cNvSpPr txBox="1"/>
          <p:nvPr/>
        </p:nvSpPr>
        <p:spPr>
          <a:xfrm>
            <a:off x="3046133" y="420733"/>
            <a:ext cx="4846800" cy="615513"/>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9" name="Textfeld 8">
            <a:extLst>
              <a:ext uri="{FF2B5EF4-FFF2-40B4-BE49-F238E27FC236}">
                <a16:creationId xmlns:a16="http://schemas.microsoft.com/office/drawing/2014/main" id="{B0AB3033-A068-4C79-8E2E-53FDC7F0BB3C}"/>
              </a:ext>
            </a:extLst>
          </p:cNvPr>
          <p:cNvSpPr txBox="1"/>
          <p:nvPr/>
        </p:nvSpPr>
        <p:spPr>
          <a:xfrm>
            <a:off x="5441735" y="6443202"/>
            <a:ext cx="6094520" cy="244682"/>
          </a:xfrm>
          <a:prstGeom prst="rect">
            <a:avLst/>
          </a:prstGeom>
          <a:noFill/>
        </p:spPr>
        <p:txBody>
          <a:bodyPr wrap="square">
            <a:spAutoFit/>
          </a:bodyPr>
          <a:lstStyle/>
          <a:p>
            <a:pPr marL="0" marR="0" lvl="0" indent="0" algn="l" rtl="0">
              <a:lnSpc>
                <a:spcPct val="90000"/>
              </a:lnSpc>
              <a:spcBef>
                <a:spcPts val="0"/>
              </a:spcBef>
              <a:spcAft>
                <a:spcPts val="0"/>
              </a:spcAft>
              <a:buNone/>
            </a:pPr>
            <a:r>
              <a:rPr lang="de-DE" sz="1050" b="0" i="0" u="none" strike="noStrike" cap="none" dirty="0">
                <a:solidFill>
                  <a:schemeClr val="dk1"/>
                </a:solidFill>
                <a:latin typeface="Arial"/>
                <a:ea typeface="Arial"/>
                <a:cs typeface="Arial"/>
                <a:sym typeface="Arial"/>
              </a:rPr>
              <a:t>[Institut der deutschen Wirtschaft 2021] </a:t>
            </a:r>
            <a:endParaRPr lang="de-DE" sz="2800" b="0" i="0" u="none" strike="noStrike" cap="none" dirty="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de-DE"/>
              <a:t>Literaturquellen</a:t>
            </a:r>
            <a:endParaRPr/>
          </a:p>
        </p:txBody>
      </p:sp>
      <p:sp>
        <p:nvSpPr>
          <p:cNvPr id="220" name="Google Shape;220;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100"/>
              <a:buNone/>
            </a:pPr>
            <a:r>
              <a:rPr lang="de-DE" sz="1200" dirty="0" err="1">
                <a:latin typeface="Calibri" panose="020F0502020204030204" pitchFamily="34" charset="0"/>
                <a:ea typeface="Arial"/>
                <a:cs typeface="Calibri" panose="020F0502020204030204" pitchFamily="34" charset="0"/>
                <a:sym typeface="Arial"/>
              </a:rPr>
              <a:t>Mucz</a:t>
            </a:r>
            <a:r>
              <a:rPr lang="de-DE" sz="1200" dirty="0">
                <a:latin typeface="Calibri" panose="020F0502020204030204" pitchFamily="34" charset="0"/>
                <a:ea typeface="Arial"/>
                <a:cs typeface="Calibri" panose="020F0502020204030204" pitchFamily="34" charset="0"/>
                <a:sym typeface="Arial"/>
              </a:rPr>
              <a:t>, D. and </a:t>
            </a:r>
            <a:r>
              <a:rPr lang="de-DE" sz="1200" dirty="0" err="1">
                <a:latin typeface="Calibri" panose="020F0502020204030204" pitchFamily="34" charset="0"/>
                <a:ea typeface="Arial"/>
                <a:cs typeface="Calibri" panose="020F0502020204030204" pitchFamily="34" charset="0"/>
                <a:sym typeface="Arial"/>
              </a:rPr>
              <a:t>Gareau</a:t>
            </a:r>
            <a:r>
              <a:rPr lang="de-DE" sz="1200" dirty="0">
                <a:latin typeface="Calibri" panose="020F0502020204030204" pitchFamily="34" charset="0"/>
                <a:ea typeface="Arial"/>
                <a:cs typeface="Calibri" panose="020F0502020204030204" pitchFamily="34" charset="0"/>
                <a:sym typeface="Arial"/>
              </a:rPr>
              <a:t>-Brennan, </a:t>
            </a:r>
            <a:r>
              <a:rPr lang="de-DE" sz="1200" dirty="0" err="1">
                <a:latin typeface="Calibri" panose="020F0502020204030204" pitchFamily="34" charset="0"/>
                <a:ea typeface="Arial"/>
                <a:cs typeface="Calibri" panose="020F0502020204030204" pitchFamily="34" charset="0"/>
                <a:sym typeface="Arial"/>
              </a:rPr>
              <a:t>C.Evaluating</a:t>
            </a:r>
            <a:r>
              <a:rPr lang="de-DE" sz="1200" dirty="0">
                <a:latin typeface="Calibri" panose="020F0502020204030204" pitchFamily="34" charset="0"/>
                <a:ea typeface="Arial"/>
                <a:cs typeface="Calibri" panose="020F0502020204030204" pitchFamily="34" charset="0"/>
                <a:sym typeface="Arial"/>
              </a:rPr>
              <a:t> Customer Experience </a:t>
            </a:r>
            <a:r>
              <a:rPr lang="de-DE" sz="1200" dirty="0" err="1">
                <a:latin typeface="Calibri" panose="020F0502020204030204" pitchFamily="34" charset="0"/>
                <a:ea typeface="Arial"/>
                <a:cs typeface="Calibri" panose="020F0502020204030204" pitchFamily="34" charset="0"/>
                <a:sym typeface="Arial"/>
              </a:rPr>
              <a:t>through</a:t>
            </a:r>
            <a:r>
              <a:rPr lang="de-DE" sz="1200" dirty="0">
                <a:latin typeface="Calibri" panose="020F0502020204030204" pitchFamily="34" charset="0"/>
                <a:ea typeface="Arial"/>
                <a:cs typeface="Calibri" panose="020F0502020204030204" pitchFamily="34" charset="0"/>
                <a:sym typeface="Arial"/>
              </a:rPr>
              <a:t> Customer Journey </a:t>
            </a:r>
            <a:r>
              <a:rPr lang="de-DE" sz="1200" dirty="0" err="1">
                <a:latin typeface="Calibri" panose="020F0502020204030204" pitchFamily="34" charset="0"/>
                <a:ea typeface="Arial"/>
                <a:cs typeface="Calibri" panose="020F0502020204030204" pitchFamily="34" charset="0"/>
                <a:sym typeface="Arial"/>
              </a:rPr>
              <a:t>Map</a:t>
            </a:r>
            <a:r>
              <a:rPr lang="de-DE" sz="1200" dirty="0">
                <a:latin typeface="Calibri" panose="020F0502020204030204" pitchFamily="34" charset="0"/>
                <a:ea typeface="Arial"/>
                <a:cs typeface="Calibri" panose="020F0502020204030204" pitchFamily="34" charset="0"/>
                <a:sym typeface="Arial"/>
              </a:rPr>
              <a:t>-ping and Service </a:t>
            </a:r>
            <a:r>
              <a:rPr lang="de-DE" sz="1200" dirty="0" err="1">
                <a:latin typeface="Calibri" panose="020F0502020204030204" pitchFamily="34" charset="0"/>
                <a:ea typeface="Arial"/>
                <a:cs typeface="Calibri" panose="020F0502020204030204" pitchFamily="34" charset="0"/>
                <a:sym typeface="Arial"/>
              </a:rPr>
              <a:t>Blueprinting</a:t>
            </a:r>
            <a:r>
              <a:rPr lang="de-DE" sz="1200" dirty="0">
                <a:latin typeface="Calibri" panose="020F0502020204030204" pitchFamily="34" charset="0"/>
                <a:ea typeface="Arial"/>
                <a:cs typeface="Calibri" panose="020F0502020204030204" pitchFamily="34" charset="0"/>
                <a:sym typeface="Arial"/>
              </a:rPr>
              <a:t> at Edmonton Public Library: An </a:t>
            </a:r>
            <a:r>
              <a:rPr lang="de-DE" sz="1200" dirty="0" err="1">
                <a:latin typeface="Calibri" panose="020F0502020204030204" pitchFamily="34" charset="0"/>
                <a:ea typeface="Arial"/>
                <a:cs typeface="Calibri" panose="020F0502020204030204" pitchFamily="34" charset="0"/>
                <a:sym typeface="Arial"/>
              </a:rPr>
              <a:t>Exploratory</a:t>
            </a:r>
            <a:r>
              <a:rPr lang="de-DE" sz="1200" dirty="0">
                <a:latin typeface="Calibri" panose="020F0502020204030204" pitchFamily="34" charset="0"/>
                <a:ea typeface="Arial"/>
                <a:cs typeface="Calibri" panose="020F0502020204030204" pitchFamily="34" charset="0"/>
                <a:sym typeface="Arial"/>
              </a:rPr>
              <a:t> </a:t>
            </a:r>
            <a:r>
              <a:rPr lang="de-DE" sz="1200" dirty="0" err="1">
                <a:latin typeface="Calibri" panose="020F0502020204030204" pitchFamily="34" charset="0"/>
                <a:ea typeface="Arial"/>
                <a:cs typeface="Calibri" panose="020F0502020204030204" pitchFamily="34" charset="0"/>
                <a:sym typeface="Arial"/>
              </a:rPr>
              <a:t>Study.Partnership:The</a:t>
            </a:r>
            <a:r>
              <a:rPr lang="de-DE" sz="1200" dirty="0">
                <a:latin typeface="Calibri" panose="020F0502020204030204" pitchFamily="34" charset="0"/>
                <a:ea typeface="Arial"/>
                <a:cs typeface="Calibri" panose="020F0502020204030204" pitchFamily="34" charset="0"/>
                <a:sym typeface="Arial"/>
              </a:rPr>
              <a:t> Canadian Journal </a:t>
            </a:r>
            <a:r>
              <a:rPr lang="de-DE" sz="1200" dirty="0" err="1">
                <a:latin typeface="Calibri" panose="020F0502020204030204" pitchFamily="34" charset="0"/>
                <a:ea typeface="Arial"/>
                <a:cs typeface="Calibri" panose="020F0502020204030204" pitchFamily="34" charset="0"/>
                <a:sym typeface="Arial"/>
              </a:rPr>
              <a:t>of</a:t>
            </a:r>
            <a:r>
              <a:rPr lang="de-DE" sz="1200" dirty="0">
                <a:latin typeface="Calibri" panose="020F0502020204030204" pitchFamily="34" charset="0"/>
                <a:ea typeface="Arial"/>
                <a:cs typeface="Calibri" panose="020F0502020204030204" pitchFamily="34" charset="0"/>
                <a:sym typeface="Arial"/>
              </a:rPr>
              <a:t> Library and Information Practice and Research, 14(1), May 2019.</a:t>
            </a:r>
            <a:endParaRPr sz="3200" dirty="0">
              <a:latin typeface="Calibri" panose="020F0502020204030204" pitchFamily="34" charset="0"/>
              <a:cs typeface="Calibri" panose="020F0502020204030204" pitchFamily="34" charset="0"/>
            </a:endParaRPr>
          </a:p>
          <a:p>
            <a:pPr marL="0" lvl="0" indent="0" algn="l" rtl="0">
              <a:lnSpc>
                <a:spcPct val="90000"/>
              </a:lnSpc>
              <a:spcBef>
                <a:spcPts val="1000"/>
              </a:spcBef>
              <a:spcAft>
                <a:spcPts val="0"/>
              </a:spcAft>
              <a:buClr>
                <a:srgbClr val="000000"/>
              </a:buClr>
              <a:buSzPts val="1100"/>
              <a:buNone/>
            </a:pPr>
            <a:r>
              <a:rPr lang="de-DE" sz="1200" b="0" i="0" dirty="0">
                <a:solidFill>
                  <a:srgbClr val="000000"/>
                </a:solidFill>
                <a:latin typeface="Calibri" panose="020F0502020204030204" pitchFamily="34" charset="0"/>
                <a:ea typeface="Arial"/>
                <a:cs typeface="Calibri" panose="020F0502020204030204" pitchFamily="34" charset="0"/>
                <a:sym typeface="Arial"/>
              </a:rPr>
              <a:t>Institut der deutschen Wirtschaft Datenwirtschaft   in   Deutschland   -   Wo   stehen die  Unternehmen  in  der  Datennutzung  und  was  sind  ihre  großen  </a:t>
            </a:r>
            <a:r>
              <a:rPr lang="de-DE" sz="1200" b="0" i="0" dirty="0" err="1">
                <a:solidFill>
                  <a:srgbClr val="000000"/>
                </a:solidFill>
                <a:latin typeface="Calibri" panose="020F0502020204030204" pitchFamily="34" charset="0"/>
                <a:ea typeface="Arial"/>
                <a:cs typeface="Calibri" panose="020F0502020204030204" pitchFamily="34" charset="0"/>
                <a:sym typeface="Arial"/>
              </a:rPr>
              <a:t>Hemmnisse?.https</a:t>
            </a:r>
            <a:r>
              <a:rPr lang="de-DE" sz="1200" b="0" i="0" dirty="0">
                <a:solidFill>
                  <a:srgbClr val="000000"/>
                </a:solidFill>
                <a:latin typeface="Calibri" panose="020F0502020204030204" pitchFamily="34" charset="0"/>
                <a:ea typeface="Arial"/>
                <a:cs typeface="Calibri" panose="020F0502020204030204" pitchFamily="34" charset="0"/>
                <a:sym typeface="Arial"/>
              </a:rPr>
              <a:t>://bdi.eu/</a:t>
            </a:r>
            <a:r>
              <a:rPr lang="de-DE" sz="1200" b="0" i="0" dirty="0" err="1">
                <a:solidFill>
                  <a:srgbClr val="000000"/>
                </a:solidFill>
                <a:latin typeface="Calibri" panose="020F0502020204030204" pitchFamily="34" charset="0"/>
                <a:ea typeface="Arial"/>
                <a:cs typeface="Calibri" panose="020F0502020204030204" pitchFamily="34" charset="0"/>
                <a:sym typeface="Arial"/>
              </a:rPr>
              <a:t>publikation</a:t>
            </a:r>
            <a:r>
              <a:rPr lang="de-DE" sz="1200" b="0" i="0" dirty="0">
                <a:solidFill>
                  <a:srgbClr val="000000"/>
                </a:solidFill>
                <a:latin typeface="Calibri" panose="020F0502020204030204" pitchFamily="34" charset="0"/>
                <a:ea typeface="Arial"/>
                <a:cs typeface="Calibri" panose="020F0502020204030204" pitchFamily="34" charset="0"/>
                <a:sym typeface="Arial"/>
              </a:rPr>
              <a:t>/</a:t>
            </a:r>
            <a:r>
              <a:rPr lang="de-DE" sz="1200" b="0" i="0" dirty="0" err="1">
                <a:solidFill>
                  <a:srgbClr val="000000"/>
                </a:solidFill>
                <a:latin typeface="Calibri" panose="020F0502020204030204" pitchFamily="34" charset="0"/>
                <a:ea typeface="Arial"/>
                <a:cs typeface="Calibri" panose="020F0502020204030204" pitchFamily="34" charset="0"/>
                <a:sym typeface="Arial"/>
              </a:rPr>
              <a:t>news</a:t>
            </a:r>
            <a:r>
              <a:rPr lang="de-DE" sz="1200" b="0" i="0" dirty="0">
                <a:solidFill>
                  <a:srgbClr val="000000"/>
                </a:solidFill>
                <a:latin typeface="Calibri" panose="020F0502020204030204" pitchFamily="34" charset="0"/>
                <a:ea typeface="Arial"/>
                <a:cs typeface="Calibri" panose="020F0502020204030204" pitchFamily="34" charset="0"/>
                <a:sym typeface="Arial"/>
              </a:rPr>
              <a:t>/</a:t>
            </a:r>
            <a:r>
              <a:rPr lang="de-DE" sz="1200" b="0" i="0" dirty="0" err="1">
                <a:solidFill>
                  <a:srgbClr val="000000"/>
                </a:solidFill>
                <a:latin typeface="Calibri" panose="020F0502020204030204" pitchFamily="34" charset="0"/>
                <a:ea typeface="Arial"/>
                <a:cs typeface="Calibri" panose="020F0502020204030204" pitchFamily="34" charset="0"/>
                <a:sym typeface="Arial"/>
              </a:rPr>
              <a:t>datenwirtschaft</a:t>
            </a:r>
            <a:r>
              <a:rPr lang="de-DE" sz="1200" b="0" i="0" dirty="0">
                <a:solidFill>
                  <a:srgbClr val="000000"/>
                </a:solidFill>
                <a:latin typeface="Calibri" panose="020F0502020204030204" pitchFamily="34" charset="0"/>
                <a:ea typeface="Arial"/>
                <a:cs typeface="Calibri" panose="020F0502020204030204" pitchFamily="34" charset="0"/>
                <a:sym typeface="Arial"/>
              </a:rPr>
              <a:t>-in-deutschland/, 2021.</a:t>
            </a:r>
            <a:endParaRPr sz="1200" dirty="0">
              <a:solidFill>
                <a:srgbClr val="000000"/>
              </a:solidFill>
              <a:latin typeface="Calibri" panose="020F0502020204030204" pitchFamily="34" charset="0"/>
              <a:ea typeface="Arial"/>
              <a:cs typeface="Calibri" panose="020F0502020204030204" pitchFamily="34" charset="0"/>
              <a:sym typeface="Arial"/>
            </a:endParaRPr>
          </a:p>
          <a:p>
            <a:pPr marL="0" lvl="0" indent="0" algn="l" rtl="0">
              <a:lnSpc>
                <a:spcPct val="90000"/>
              </a:lnSpc>
              <a:spcBef>
                <a:spcPts val="1000"/>
              </a:spcBef>
              <a:spcAft>
                <a:spcPts val="0"/>
              </a:spcAft>
              <a:buClr>
                <a:schemeClr val="dk1"/>
              </a:buClr>
              <a:buSzPts val="1100"/>
              <a:buNone/>
            </a:pPr>
            <a:r>
              <a:rPr lang="de-DE" sz="1200" b="0" i="0" dirty="0" err="1">
                <a:latin typeface="Calibri" panose="020F0502020204030204" pitchFamily="34" charset="0"/>
                <a:ea typeface="Arial"/>
                <a:cs typeface="Calibri" panose="020F0502020204030204" pitchFamily="34" charset="0"/>
                <a:sym typeface="Arial"/>
              </a:rPr>
              <a:t>Haugstveit</a:t>
            </a:r>
            <a:r>
              <a:rPr lang="de-DE" sz="1200" b="0" i="0" dirty="0">
                <a:latin typeface="Calibri" panose="020F0502020204030204" pitchFamily="34" charset="0"/>
                <a:ea typeface="Arial"/>
                <a:cs typeface="Calibri" panose="020F0502020204030204" pitchFamily="34" charset="0"/>
                <a:sym typeface="Arial"/>
              </a:rPr>
              <a:t>, I., </a:t>
            </a:r>
            <a:r>
              <a:rPr lang="de-DE" sz="1200" b="0" i="0" dirty="0" err="1">
                <a:latin typeface="Calibri" panose="020F0502020204030204" pitchFamily="34" charset="0"/>
                <a:ea typeface="Arial"/>
                <a:cs typeface="Calibri" panose="020F0502020204030204" pitchFamily="34" charset="0"/>
                <a:sym typeface="Arial"/>
              </a:rPr>
              <a:t>Halvorsrud</a:t>
            </a:r>
            <a:r>
              <a:rPr lang="de-DE" sz="1200" b="0" i="0" dirty="0">
                <a:latin typeface="Calibri" panose="020F0502020204030204" pitchFamily="34" charset="0"/>
                <a:ea typeface="Arial"/>
                <a:cs typeface="Calibri" panose="020F0502020204030204" pitchFamily="34" charset="0"/>
                <a:sym typeface="Arial"/>
              </a:rPr>
              <a:t>, R. and </a:t>
            </a:r>
            <a:r>
              <a:rPr lang="de-DE" sz="1200" b="0" i="0" dirty="0" err="1">
                <a:latin typeface="Calibri" panose="020F0502020204030204" pitchFamily="34" charset="0"/>
                <a:ea typeface="Arial"/>
                <a:cs typeface="Calibri" panose="020F0502020204030204" pitchFamily="34" charset="0"/>
                <a:sym typeface="Arial"/>
              </a:rPr>
              <a:t>Karahasanovic</a:t>
            </a:r>
            <a:r>
              <a:rPr lang="de-DE" sz="1200" b="0" i="0" dirty="0">
                <a:latin typeface="Calibri" panose="020F0502020204030204" pitchFamily="34" charset="0"/>
                <a:ea typeface="Arial"/>
                <a:cs typeface="Calibri" panose="020F0502020204030204" pitchFamily="34" charset="0"/>
                <a:sym typeface="Arial"/>
              </a:rPr>
              <a:t>, A. </a:t>
            </a:r>
            <a:r>
              <a:rPr lang="de-DE" sz="1200" b="0" i="0" dirty="0" err="1">
                <a:latin typeface="Calibri" panose="020F0502020204030204" pitchFamily="34" charset="0"/>
                <a:ea typeface="Arial"/>
                <a:cs typeface="Calibri" panose="020F0502020204030204" pitchFamily="34" charset="0"/>
                <a:sym typeface="Arial"/>
              </a:rPr>
              <a:t>Supporting</a:t>
            </a:r>
            <a:r>
              <a:rPr lang="de-DE" sz="1200" b="0" i="0" dirty="0">
                <a:latin typeface="Calibri" panose="020F0502020204030204" pitchFamily="34" charset="0"/>
                <a:ea typeface="Arial"/>
                <a:cs typeface="Calibri" panose="020F0502020204030204" pitchFamily="34" charset="0"/>
                <a:sym typeface="Arial"/>
              </a:rPr>
              <a:t> </a:t>
            </a:r>
            <a:r>
              <a:rPr lang="de-DE" sz="1200" b="0" i="0" dirty="0" err="1">
                <a:latin typeface="Calibri" panose="020F0502020204030204" pitchFamily="34" charset="0"/>
                <a:ea typeface="Arial"/>
                <a:cs typeface="Calibri" panose="020F0502020204030204" pitchFamily="34" charset="0"/>
                <a:sym typeface="Arial"/>
              </a:rPr>
              <a:t>redesign</a:t>
            </a:r>
            <a:r>
              <a:rPr lang="de-DE" sz="1200" b="0" i="0" dirty="0">
                <a:latin typeface="Calibri" panose="020F0502020204030204" pitchFamily="34" charset="0"/>
                <a:ea typeface="Arial"/>
                <a:cs typeface="Calibri" panose="020F0502020204030204" pitchFamily="34" charset="0"/>
                <a:sym typeface="Arial"/>
              </a:rPr>
              <a:t> </a:t>
            </a:r>
            <a:r>
              <a:rPr lang="de-DE" sz="1200" b="0" i="0" dirty="0" err="1">
                <a:latin typeface="Calibri" panose="020F0502020204030204" pitchFamily="34" charset="0"/>
                <a:ea typeface="Arial"/>
                <a:cs typeface="Calibri" panose="020F0502020204030204" pitchFamily="34" charset="0"/>
                <a:sym typeface="Arial"/>
              </a:rPr>
              <a:t>of</a:t>
            </a:r>
            <a:r>
              <a:rPr lang="de-DE" sz="1200" b="0" i="0" dirty="0">
                <a:latin typeface="Calibri" panose="020F0502020204030204" pitchFamily="34" charset="0"/>
                <a:ea typeface="Arial"/>
                <a:cs typeface="Calibri" panose="020F0502020204030204" pitchFamily="34" charset="0"/>
                <a:sym typeface="Arial"/>
              </a:rPr>
              <a:t> C2C </a:t>
            </a:r>
            <a:r>
              <a:rPr lang="de-DE" sz="1200" b="0" i="0" dirty="0" err="1">
                <a:latin typeface="Calibri" panose="020F0502020204030204" pitchFamily="34" charset="0"/>
                <a:ea typeface="Arial"/>
                <a:cs typeface="Calibri" panose="020F0502020204030204" pitchFamily="34" charset="0"/>
                <a:sym typeface="Arial"/>
              </a:rPr>
              <a:t>services</a:t>
            </a:r>
            <a:r>
              <a:rPr lang="de-DE" sz="1200" b="0" i="0" dirty="0">
                <a:latin typeface="Calibri" panose="020F0502020204030204" pitchFamily="34" charset="0"/>
                <a:ea typeface="Arial"/>
                <a:cs typeface="Calibri" panose="020F0502020204030204" pitchFamily="34" charset="0"/>
                <a:sym typeface="Arial"/>
              </a:rPr>
              <a:t> </a:t>
            </a:r>
            <a:r>
              <a:rPr lang="de-DE" sz="1200" b="0" i="0" dirty="0" err="1">
                <a:latin typeface="Calibri" panose="020F0502020204030204" pitchFamily="34" charset="0"/>
                <a:ea typeface="Arial"/>
                <a:cs typeface="Calibri" panose="020F0502020204030204" pitchFamily="34" charset="0"/>
                <a:sym typeface="Arial"/>
              </a:rPr>
              <a:t>through</a:t>
            </a:r>
            <a:r>
              <a:rPr lang="de-DE" sz="1200" b="0" i="0" dirty="0">
                <a:latin typeface="Calibri" panose="020F0502020204030204" pitchFamily="34" charset="0"/>
                <a:ea typeface="Arial"/>
                <a:cs typeface="Calibri" panose="020F0502020204030204" pitchFamily="34" charset="0"/>
                <a:sym typeface="Arial"/>
              </a:rPr>
              <a:t> </a:t>
            </a:r>
            <a:r>
              <a:rPr lang="de-DE" sz="1200" b="0" i="0" dirty="0" err="1">
                <a:latin typeface="Calibri" panose="020F0502020204030204" pitchFamily="34" charset="0"/>
                <a:ea typeface="Arial"/>
                <a:cs typeface="Calibri" panose="020F0502020204030204" pitchFamily="34" charset="0"/>
                <a:sym typeface="Arial"/>
              </a:rPr>
              <a:t>customer</a:t>
            </a:r>
            <a:r>
              <a:rPr lang="de-DE" sz="1200" b="0" i="0" dirty="0">
                <a:latin typeface="Calibri" panose="020F0502020204030204" pitchFamily="34" charset="0"/>
                <a:ea typeface="Arial"/>
                <a:cs typeface="Calibri" panose="020F0502020204030204" pitchFamily="34" charset="0"/>
                <a:sym typeface="Arial"/>
              </a:rPr>
              <a:t> </a:t>
            </a:r>
            <a:r>
              <a:rPr lang="de-DE" sz="1200" b="0" i="0" dirty="0" err="1">
                <a:latin typeface="Calibri" panose="020F0502020204030204" pitchFamily="34" charset="0"/>
                <a:ea typeface="Arial"/>
                <a:cs typeface="Calibri" panose="020F0502020204030204" pitchFamily="34" charset="0"/>
                <a:sym typeface="Arial"/>
              </a:rPr>
              <a:t>journey</a:t>
            </a:r>
            <a:r>
              <a:rPr lang="de-DE" sz="1200" b="0" i="0" dirty="0">
                <a:latin typeface="Calibri" panose="020F0502020204030204" pitchFamily="34" charset="0"/>
                <a:ea typeface="Arial"/>
                <a:cs typeface="Calibri" panose="020F0502020204030204" pitchFamily="34" charset="0"/>
                <a:sym typeface="Arial"/>
              </a:rPr>
              <a:t> </a:t>
            </a:r>
            <a:r>
              <a:rPr lang="de-DE" sz="1200" b="0" i="0" dirty="0" err="1">
                <a:latin typeface="Calibri" panose="020F0502020204030204" pitchFamily="34" charset="0"/>
                <a:ea typeface="Arial"/>
                <a:cs typeface="Calibri" panose="020F0502020204030204" pitchFamily="34" charset="0"/>
                <a:sym typeface="Arial"/>
              </a:rPr>
              <a:t>mapping</a:t>
            </a:r>
            <a:r>
              <a:rPr lang="de-DE" sz="1200" b="0" i="0" dirty="0">
                <a:latin typeface="Calibri" panose="020F0502020204030204" pitchFamily="34" charset="0"/>
                <a:ea typeface="Arial"/>
                <a:cs typeface="Calibri" panose="020F0502020204030204" pitchFamily="34" charset="0"/>
                <a:sym typeface="Arial"/>
              </a:rPr>
              <a:t>. In N. Morelli, A. de </a:t>
            </a:r>
            <a:r>
              <a:rPr lang="de-DE" sz="1200" b="0" i="0" dirty="0" err="1">
                <a:latin typeface="Calibri" panose="020F0502020204030204" pitchFamily="34" charset="0"/>
                <a:ea typeface="Arial"/>
                <a:cs typeface="Calibri" panose="020F0502020204030204" pitchFamily="34" charset="0"/>
                <a:sym typeface="Arial"/>
              </a:rPr>
              <a:t>Gotzen</a:t>
            </a:r>
            <a:r>
              <a:rPr lang="de-DE" sz="1200" b="0" i="0" dirty="0">
                <a:latin typeface="Calibri" panose="020F0502020204030204" pitchFamily="34" charset="0"/>
                <a:ea typeface="Arial"/>
                <a:cs typeface="Calibri" panose="020F0502020204030204" pitchFamily="34" charset="0"/>
                <a:sym typeface="Arial"/>
              </a:rPr>
              <a:t> and F. </a:t>
            </a:r>
            <a:r>
              <a:rPr lang="de-DE" sz="1200" b="0" i="0" dirty="0" err="1">
                <a:latin typeface="Calibri" panose="020F0502020204030204" pitchFamily="34" charset="0"/>
                <a:ea typeface="Arial"/>
                <a:cs typeface="Calibri" panose="020F0502020204030204" pitchFamily="34" charset="0"/>
                <a:sym typeface="Arial"/>
              </a:rPr>
              <a:t>Grani</a:t>
            </a:r>
            <a:r>
              <a:rPr lang="de-DE" sz="1200" b="0" i="0" dirty="0">
                <a:latin typeface="Calibri" panose="020F0502020204030204" pitchFamily="34" charset="0"/>
                <a:ea typeface="Arial"/>
                <a:cs typeface="Calibri" panose="020F0502020204030204" pitchFamily="34" charset="0"/>
                <a:sym typeface="Arial"/>
              </a:rPr>
              <a:t>, </a:t>
            </a:r>
            <a:r>
              <a:rPr lang="de-DE" sz="1200" b="0" i="0" dirty="0" err="1">
                <a:latin typeface="Calibri" panose="020F0502020204030204" pitchFamily="34" charset="0"/>
                <a:ea typeface="Arial"/>
                <a:cs typeface="Calibri" panose="020F0502020204030204" pitchFamily="34" charset="0"/>
                <a:sym typeface="Arial"/>
              </a:rPr>
              <a:t>eds</a:t>
            </a:r>
            <a:r>
              <a:rPr lang="de-DE" sz="1200" b="0" i="0" dirty="0">
                <a:latin typeface="Calibri" panose="020F0502020204030204" pitchFamily="34" charset="0"/>
                <a:ea typeface="Arial"/>
                <a:cs typeface="Calibri" panose="020F0502020204030204" pitchFamily="34" charset="0"/>
                <a:sym typeface="Arial"/>
              </a:rPr>
              <a:t>.,Service Design Ge-</a:t>
            </a:r>
            <a:r>
              <a:rPr lang="de-DE" sz="1200" b="0" i="0" dirty="0" err="1">
                <a:latin typeface="Calibri" panose="020F0502020204030204" pitchFamily="34" charset="0"/>
                <a:ea typeface="Arial"/>
                <a:cs typeface="Calibri" panose="020F0502020204030204" pitchFamily="34" charset="0"/>
                <a:sym typeface="Arial"/>
              </a:rPr>
              <a:t>ographies</a:t>
            </a:r>
            <a:r>
              <a:rPr lang="de-DE" sz="1200" b="0" i="0" dirty="0">
                <a:latin typeface="Calibri" panose="020F0502020204030204" pitchFamily="34" charset="0"/>
                <a:ea typeface="Arial"/>
                <a:cs typeface="Calibri" panose="020F0502020204030204" pitchFamily="34" charset="0"/>
                <a:sym typeface="Arial"/>
              </a:rPr>
              <a:t>. Proceedings </a:t>
            </a:r>
            <a:r>
              <a:rPr lang="de-DE" sz="1200" b="0" i="0" dirty="0" err="1">
                <a:latin typeface="Calibri" panose="020F0502020204030204" pitchFamily="34" charset="0"/>
                <a:ea typeface="Arial"/>
                <a:cs typeface="Calibri" panose="020F0502020204030204" pitchFamily="34" charset="0"/>
                <a:sym typeface="Arial"/>
              </a:rPr>
              <a:t>of</a:t>
            </a:r>
            <a:r>
              <a:rPr lang="de-DE" sz="1200" b="0" i="0" dirty="0">
                <a:latin typeface="Calibri" panose="020F0502020204030204" pitchFamily="34" charset="0"/>
                <a:ea typeface="Arial"/>
                <a:cs typeface="Calibri" panose="020F0502020204030204" pitchFamily="34" charset="0"/>
                <a:sym typeface="Arial"/>
              </a:rPr>
              <a:t> </a:t>
            </a:r>
            <a:r>
              <a:rPr lang="de-DE" sz="1200" b="0" i="0" dirty="0" err="1">
                <a:latin typeface="Calibri" panose="020F0502020204030204" pitchFamily="34" charset="0"/>
                <a:ea typeface="Arial"/>
                <a:cs typeface="Calibri" panose="020F0502020204030204" pitchFamily="34" charset="0"/>
                <a:sym typeface="Arial"/>
              </a:rPr>
              <a:t>the</a:t>
            </a:r>
            <a:r>
              <a:rPr lang="de-DE" sz="1200" b="0" i="0" dirty="0">
                <a:latin typeface="Calibri" panose="020F0502020204030204" pitchFamily="34" charset="0"/>
                <a:ea typeface="Arial"/>
                <a:cs typeface="Calibri" panose="020F0502020204030204" pitchFamily="34" charset="0"/>
                <a:sym typeface="Arial"/>
              </a:rPr>
              <a:t> ServDes2016 Conference, </a:t>
            </a:r>
            <a:r>
              <a:rPr lang="de-DE" sz="1200" b="0" i="0" dirty="0" err="1">
                <a:latin typeface="Calibri" panose="020F0502020204030204" pitchFamily="34" charset="0"/>
                <a:ea typeface="Arial"/>
                <a:cs typeface="Calibri" panose="020F0502020204030204" pitchFamily="34" charset="0"/>
                <a:sym typeface="Arial"/>
              </a:rPr>
              <a:t>Linkoping</a:t>
            </a:r>
            <a:r>
              <a:rPr lang="de-DE" sz="1200" b="0" i="0" dirty="0">
                <a:latin typeface="Calibri" panose="020F0502020204030204" pitchFamily="34" charset="0"/>
                <a:ea typeface="Arial"/>
                <a:cs typeface="Calibri" panose="020F0502020204030204" pitchFamily="34" charset="0"/>
                <a:sym typeface="Arial"/>
              </a:rPr>
              <a:t> Electronic Conference Pro-</a:t>
            </a:r>
            <a:r>
              <a:rPr lang="de-DE" sz="1200" b="0" i="0" dirty="0" err="1">
                <a:latin typeface="Calibri" panose="020F0502020204030204" pitchFamily="34" charset="0"/>
                <a:ea typeface="Arial"/>
                <a:cs typeface="Calibri" panose="020F0502020204030204" pitchFamily="34" charset="0"/>
                <a:sym typeface="Arial"/>
              </a:rPr>
              <a:t>ceedings</a:t>
            </a:r>
            <a:r>
              <a:rPr lang="de-DE" sz="1200" b="0" i="0" dirty="0">
                <a:latin typeface="Calibri" panose="020F0502020204030204" pitchFamily="34" charset="0"/>
                <a:ea typeface="Arial"/>
                <a:cs typeface="Calibri" panose="020F0502020204030204" pitchFamily="34" charset="0"/>
                <a:sym typeface="Arial"/>
              </a:rPr>
              <a:t>, </a:t>
            </a:r>
            <a:r>
              <a:rPr lang="de-DE" sz="1200" b="0" i="0" dirty="0" err="1">
                <a:latin typeface="Calibri" panose="020F0502020204030204" pitchFamily="34" charset="0"/>
                <a:ea typeface="Arial"/>
                <a:cs typeface="Calibri" panose="020F0502020204030204" pitchFamily="34" charset="0"/>
                <a:sym typeface="Arial"/>
              </a:rPr>
              <a:t>Linkoping</a:t>
            </a:r>
            <a:r>
              <a:rPr lang="de-DE" sz="1200" b="0" i="0" dirty="0">
                <a:latin typeface="Calibri" panose="020F0502020204030204" pitchFamily="34" charset="0"/>
                <a:ea typeface="Arial"/>
                <a:cs typeface="Calibri" panose="020F0502020204030204" pitchFamily="34" charset="0"/>
                <a:sym typeface="Arial"/>
              </a:rPr>
              <a:t> University Electronic Press, 05 2016, pp. 215 – 227.</a:t>
            </a:r>
            <a:endParaRPr sz="3200" dirty="0">
              <a:latin typeface="Calibri" panose="020F0502020204030204" pitchFamily="34" charset="0"/>
              <a:cs typeface="Calibri" panose="020F0502020204030204" pitchFamily="34" charset="0"/>
            </a:endParaRPr>
          </a:p>
          <a:p>
            <a:pPr marL="0" lvl="0" indent="0" algn="l" rtl="0">
              <a:lnSpc>
                <a:spcPct val="90000"/>
              </a:lnSpc>
              <a:spcBef>
                <a:spcPts val="1000"/>
              </a:spcBef>
              <a:spcAft>
                <a:spcPts val="0"/>
              </a:spcAft>
              <a:buClr>
                <a:srgbClr val="000000"/>
              </a:buClr>
              <a:buSzPts val="1100"/>
              <a:buNone/>
            </a:pPr>
            <a:r>
              <a:rPr lang="de-DE" sz="1200" b="0" i="0" dirty="0">
                <a:solidFill>
                  <a:srgbClr val="000000"/>
                </a:solidFill>
                <a:latin typeface="Calibri" panose="020F0502020204030204" pitchFamily="34" charset="0"/>
                <a:ea typeface="Arial"/>
                <a:cs typeface="Calibri" panose="020F0502020204030204" pitchFamily="34" charset="0"/>
                <a:sym typeface="Arial"/>
              </a:rPr>
              <a:t>Institut der deutschen Wirtschaft: Datenwirtschaft in Deutschland - Wo stehen die Unternehmen in der Datennutzung und was sind ihre größten Hemmnisse? 2021</a:t>
            </a:r>
            <a:endParaRPr sz="3200" dirty="0">
              <a:latin typeface="Calibri" panose="020F0502020204030204" pitchFamily="34" charset="0"/>
              <a:cs typeface="Calibri" panose="020F0502020204030204" pitchFamily="34" charset="0"/>
            </a:endParaRPr>
          </a:p>
          <a:p>
            <a:pPr marL="0" lvl="0" indent="0" algn="l" rtl="0">
              <a:lnSpc>
                <a:spcPct val="90000"/>
              </a:lnSpc>
              <a:spcBef>
                <a:spcPts val="1000"/>
              </a:spcBef>
              <a:spcAft>
                <a:spcPts val="0"/>
              </a:spcAft>
              <a:buClr>
                <a:srgbClr val="000000"/>
              </a:buClr>
              <a:buSzPts val="1100"/>
              <a:buNone/>
            </a:pPr>
            <a:r>
              <a:rPr lang="de-DE" sz="1200" b="0" i="0" dirty="0">
                <a:solidFill>
                  <a:srgbClr val="000000"/>
                </a:solidFill>
                <a:latin typeface="Calibri" panose="020F0502020204030204" pitchFamily="34" charset="0"/>
                <a:ea typeface="Arial"/>
                <a:cs typeface="Calibri" panose="020F0502020204030204" pitchFamily="34" charset="0"/>
                <a:sym typeface="Arial"/>
              </a:rPr>
              <a:t>Rosenbaum, M. S., </a:t>
            </a:r>
            <a:r>
              <a:rPr lang="de-DE" sz="1200" b="0" i="0" dirty="0" err="1">
                <a:solidFill>
                  <a:srgbClr val="000000"/>
                </a:solidFill>
                <a:latin typeface="Calibri" panose="020F0502020204030204" pitchFamily="34" charset="0"/>
                <a:ea typeface="Arial"/>
                <a:cs typeface="Calibri" panose="020F0502020204030204" pitchFamily="34" charset="0"/>
                <a:sym typeface="Arial"/>
              </a:rPr>
              <a:t>Otalora</a:t>
            </a:r>
            <a:r>
              <a:rPr lang="de-DE" sz="1200" b="0" i="0" dirty="0">
                <a:solidFill>
                  <a:srgbClr val="000000"/>
                </a:solidFill>
                <a:latin typeface="Calibri" panose="020F0502020204030204" pitchFamily="34" charset="0"/>
                <a:ea typeface="Arial"/>
                <a:cs typeface="Calibri" panose="020F0502020204030204" pitchFamily="34" charset="0"/>
                <a:sym typeface="Arial"/>
              </a:rPr>
              <a:t>, M. L. and Ramirez, G. </a:t>
            </a:r>
            <a:r>
              <a:rPr lang="de-DE" sz="1200" b="0" i="0" dirty="0" err="1">
                <a:solidFill>
                  <a:srgbClr val="000000"/>
                </a:solidFill>
                <a:latin typeface="Calibri" panose="020F0502020204030204" pitchFamily="34" charset="0"/>
                <a:ea typeface="Arial"/>
                <a:cs typeface="Calibri" panose="020F0502020204030204" pitchFamily="34" charset="0"/>
                <a:sym typeface="Arial"/>
              </a:rPr>
              <a:t>C.How</a:t>
            </a:r>
            <a:r>
              <a:rPr lang="de-DE" sz="1200" b="0" i="0" dirty="0">
                <a:solidFill>
                  <a:srgbClr val="000000"/>
                </a:solidFill>
                <a:latin typeface="Calibri" panose="020F0502020204030204" pitchFamily="34" charset="0"/>
                <a:ea typeface="Arial"/>
                <a:cs typeface="Calibri" panose="020F0502020204030204" pitchFamily="34" charset="0"/>
                <a:sym typeface="Arial"/>
              </a:rPr>
              <a:t> </a:t>
            </a:r>
            <a:r>
              <a:rPr lang="de-DE" sz="1200" b="0" i="0" dirty="0" err="1">
                <a:solidFill>
                  <a:srgbClr val="000000"/>
                </a:solidFill>
                <a:latin typeface="Calibri" panose="020F0502020204030204" pitchFamily="34" charset="0"/>
                <a:ea typeface="Arial"/>
                <a:cs typeface="Calibri" panose="020F0502020204030204" pitchFamily="34" charset="0"/>
                <a:sym typeface="Arial"/>
              </a:rPr>
              <a:t>to</a:t>
            </a:r>
            <a:r>
              <a:rPr lang="de-DE" sz="1200" b="0" i="0" dirty="0">
                <a:solidFill>
                  <a:srgbClr val="000000"/>
                </a:solidFill>
                <a:latin typeface="Calibri" panose="020F0502020204030204" pitchFamily="34" charset="0"/>
                <a:ea typeface="Arial"/>
                <a:cs typeface="Calibri" panose="020F0502020204030204" pitchFamily="34" charset="0"/>
                <a:sym typeface="Arial"/>
              </a:rPr>
              <a:t> </a:t>
            </a:r>
            <a:r>
              <a:rPr lang="de-DE" sz="1200" b="0" i="0" dirty="0" err="1">
                <a:solidFill>
                  <a:srgbClr val="000000"/>
                </a:solidFill>
                <a:latin typeface="Calibri" panose="020F0502020204030204" pitchFamily="34" charset="0"/>
                <a:ea typeface="Arial"/>
                <a:cs typeface="Calibri" panose="020F0502020204030204" pitchFamily="34" charset="0"/>
                <a:sym typeface="Arial"/>
              </a:rPr>
              <a:t>create</a:t>
            </a:r>
            <a:r>
              <a:rPr lang="de-DE" sz="1200" b="0" i="0" dirty="0">
                <a:solidFill>
                  <a:srgbClr val="000000"/>
                </a:solidFill>
                <a:latin typeface="Calibri" panose="020F0502020204030204" pitchFamily="34" charset="0"/>
                <a:ea typeface="Arial"/>
                <a:cs typeface="Calibri" panose="020F0502020204030204" pitchFamily="34" charset="0"/>
                <a:sym typeface="Arial"/>
              </a:rPr>
              <a:t> a </a:t>
            </a:r>
            <a:r>
              <a:rPr lang="de-DE" sz="1200" b="0" i="0" dirty="0" err="1">
                <a:solidFill>
                  <a:srgbClr val="000000"/>
                </a:solidFill>
                <a:latin typeface="Calibri" panose="020F0502020204030204" pitchFamily="34" charset="0"/>
                <a:ea typeface="Arial"/>
                <a:cs typeface="Calibri" panose="020F0502020204030204" pitchFamily="34" charset="0"/>
                <a:sym typeface="Arial"/>
              </a:rPr>
              <a:t>realistic</a:t>
            </a:r>
            <a:r>
              <a:rPr lang="de-DE" sz="1200" b="0" i="0" dirty="0">
                <a:solidFill>
                  <a:srgbClr val="000000"/>
                </a:solidFill>
                <a:latin typeface="Calibri" panose="020F0502020204030204" pitchFamily="34" charset="0"/>
                <a:ea typeface="Arial"/>
                <a:cs typeface="Calibri" panose="020F0502020204030204" pitchFamily="34" charset="0"/>
                <a:sym typeface="Arial"/>
              </a:rPr>
              <a:t> </a:t>
            </a:r>
            <a:r>
              <a:rPr lang="de-DE" sz="1200" b="0" i="0" dirty="0" err="1">
                <a:solidFill>
                  <a:srgbClr val="000000"/>
                </a:solidFill>
                <a:latin typeface="Calibri" panose="020F0502020204030204" pitchFamily="34" charset="0"/>
                <a:ea typeface="Arial"/>
                <a:cs typeface="Calibri" panose="020F0502020204030204" pitchFamily="34" charset="0"/>
                <a:sym typeface="Arial"/>
              </a:rPr>
              <a:t>customer</a:t>
            </a:r>
            <a:r>
              <a:rPr lang="de-DE" sz="1200" b="0" i="0" dirty="0">
                <a:solidFill>
                  <a:srgbClr val="000000"/>
                </a:solidFill>
                <a:latin typeface="Calibri" panose="020F0502020204030204" pitchFamily="34" charset="0"/>
                <a:ea typeface="Arial"/>
                <a:cs typeface="Calibri" panose="020F0502020204030204" pitchFamily="34" charset="0"/>
                <a:sym typeface="Arial"/>
              </a:rPr>
              <a:t> </a:t>
            </a:r>
            <a:r>
              <a:rPr lang="de-DE" sz="1200" b="0" i="0" dirty="0" err="1">
                <a:solidFill>
                  <a:srgbClr val="000000"/>
                </a:solidFill>
                <a:latin typeface="Calibri" panose="020F0502020204030204" pitchFamily="34" charset="0"/>
                <a:ea typeface="Arial"/>
                <a:cs typeface="Calibri" panose="020F0502020204030204" pitchFamily="34" charset="0"/>
                <a:sym typeface="Arial"/>
              </a:rPr>
              <a:t>journeymap.Business</a:t>
            </a:r>
            <a:r>
              <a:rPr lang="de-DE" sz="1200" b="0" i="0" dirty="0">
                <a:solidFill>
                  <a:srgbClr val="000000"/>
                </a:solidFill>
                <a:latin typeface="Calibri" panose="020F0502020204030204" pitchFamily="34" charset="0"/>
                <a:ea typeface="Arial"/>
                <a:cs typeface="Calibri" panose="020F0502020204030204" pitchFamily="34" charset="0"/>
                <a:sym typeface="Arial"/>
              </a:rPr>
              <a:t> Horizons, 60(1), 2017: pp.  143–150.</a:t>
            </a:r>
            <a:endParaRPr sz="1200" b="0" i="0" dirty="0">
              <a:solidFill>
                <a:srgbClr val="000000"/>
              </a:solidFill>
              <a:latin typeface="Calibri" panose="020F0502020204030204" pitchFamily="34" charset="0"/>
              <a:ea typeface="Arial"/>
              <a:cs typeface="Calibri" panose="020F0502020204030204" pitchFamily="34" charset="0"/>
              <a:sym typeface="Arial"/>
            </a:endParaRPr>
          </a:p>
          <a:p>
            <a:pPr marL="0" lvl="0" indent="0" algn="l" rtl="0">
              <a:lnSpc>
                <a:spcPct val="90000"/>
              </a:lnSpc>
              <a:spcBef>
                <a:spcPts val="1000"/>
              </a:spcBef>
              <a:spcAft>
                <a:spcPts val="0"/>
              </a:spcAft>
              <a:buClr>
                <a:srgbClr val="000000"/>
              </a:buClr>
              <a:buSzPts val="1100"/>
              <a:buNone/>
            </a:pPr>
            <a:r>
              <a:rPr lang="de-DE" sz="1200" dirty="0" err="1">
                <a:highlight>
                  <a:srgbClr val="FFFFFF"/>
                </a:highlight>
                <a:latin typeface="Calibri" panose="020F0502020204030204" pitchFamily="34" charset="0"/>
                <a:ea typeface="Georgia"/>
                <a:cs typeface="Calibri" panose="020F0502020204030204" pitchFamily="34" charset="0"/>
                <a:sym typeface="Georgia"/>
              </a:rPr>
              <a:t>Mucz</a:t>
            </a:r>
            <a:r>
              <a:rPr lang="de-DE" sz="1200" dirty="0">
                <a:highlight>
                  <a:srgbClr val="FFFFFF"/>
                </a:highlight>
                <a:latin typeface="Calibri" panose="020F0502020204030204" pitchFamily="34" charset="0"/>
                <a:ea typeface="Georgia"/>
                <a:cs typeface="Calibri" panose="020F0502020204030204" pitchFamily="34" charset="0"/>
                <a:sym typeface="Georgia"/>
              </a:rPr>
              <a:t>, D., and C. </a:t>
            </a:r>
            <a:r>
              <a:rPr lang="de-DE" sz="1200" dirty="0" err="1">
                <a:highlight>
                  <a:srgbClr val="FFFFFF"/>
                </a:highlight>
                <a:latin typeface="Calibri" panose="020F0502020204030204" pitchFamily="34" charset="0"/>
                <a:ea typeface="Georgia"/>
                <a:cs typeface="Calibri" panose="020F0502020204030204" pitchFamily="34" charset="0"/>
                <a:sym typeface="Georgia"/>
              </a:rPr>
              <a:t>Gareau</a:t>
            </a:r>
            <a:r>
              <a:rPr lang="de-DE" sz="1200" dirty="0">
                <a:highlight>
                  <a:srgbClr val="FFFFFF"/>
                </a:highlight>
                <a:latin typeface="Calibri" panose="020F0502020204030204" pitchFamily="34" charset="0"/>
                <a:ea typeface="Georgia"/>
                <a:cs typeface="Calibri" panose="020F0502020204030204" pitchFamily="34" charset="0"/>
                <a:sym typeface="Georgia"/>
              </a:rPr>
              <a:t>-Brennan. “</a:t>
            </a:r>
            <a:r>
              <a:rPr lang="de-DE" sz="1200" dirty="0" err="1">
                <a:highlight>
                  <a:srgbClr val="FFFFFF"/>
                </a:highlight>
                <a:latin typeface="Calibri" panose="020F0502020204030204" pitchFamily="34" charset="0"/>
                <a:ea typeface="Georgia"/>
                <a:cs typeface="Calibri" panose="020F0502020204030204" pitchFamily="34" charset="0"/>
                <a:sym typeface="Georgia"/>
              </a:rPr>
              <a:t>Evaluating</a:t>
            </a:r>
            <a:r>
              <a:rPr lang="de-DE" sz="1200" dirty="0">
                <a:highlight>
                  <a:srgbClr val="FFFFFF"/>
                </a:highlight>
                <a:latin typeface="Calibri" panose="020F0502020204030204" pitchFamily="34" charset="0"/>
                <a:ea typeface="Georgia"/>
                <a:cs typeface="Calibri" panose="020F0502020204030204" pitchFamily="34" charset="0"/>
                <a:sym typeface="Georgia"/>
              </a:rPr>
              <a:t> Customer Experience </a:t>
            </a:r>
            <a:r>
              <a:rPr lang="de-DE" sz="1200" dirty="0" err="1">
                <a:highlight>
                  <a:srgbClr val="FFFFFF"/>
                </a:highlight>
                <a:latin typeface="Calibri" panose="020F0502020204030204" pitchFamily="34" charset="0"/>
                <a:ea typeface="Georgia"/>
                <a:cs typeface="Calibri" panose="020F0502020204030204" pitchFamily="34" charset="0"/>
                <a:sym typeface="Georgia"/>
              </a:rPr>
              <a:t>through</a:t>
            </a:r>
            <a:r>
              <a:rPr lang="de-DE" sz="1200" dirty="0">
                <a:highlight>
                  <a:srgbClr val="FFFFFF"/>
                </a:highlight>
                <a:latin typeface="Calibri" panose="020F0502020204030204" pitchFamily="34" charset="0"/>
                <a:ea typeface="Georgia"/>
                <a:cs typeface="Calibri" panose="020F0502020204030204" pitchFamily="34" charset="0"/>
                <a:sym typeface="Georgia"/>
              </a:rPr>
              <a:t> Customer Journey Mapping and Service </a:t>
            </a:r>
            <a:r>
              <a:rPr lang="de-DE" sz="1200" dirty="0" err="1">
                <a:highlight>
                  <a:srgbClr val="FFFFFF"/>
                </a:highlight>
                <a:latin typeface="Calibri" panose="020F0502020204030204" pitchFamily="34" charset="0"/>
                <a:ea typeface="Georgia"/>
                <a:cs typeface="Calibri" panose="020F0502020204030204" pitchFamily="34" charset="0"/>
                <a:sym typeface="Georgia"/>
              </a:rPr>
              <a:t>Blueprinting</a:t>
            </a:r>
            <a:r>
              <a:rPr lang="de-DE" sz="1200" dirty="0">
                <a:highlight>
                  <a:srgbClr val="FFFFFF"/>
                </a:highlight>
                <a:latin typeface="Calibri" panose="020F0502020204030204" pitchFamily="34" charset="0"/>
                <a:ea typeface="Georgia"/>
                <a:cs typeface="Calibri" panose="020F0502020204030204" pitchFamily="34" charset="0"/>
                <a:sym typeface="Georgia"/>
              </a:rPr>
              <a:t> at Edmonton Public Library: An </a:t>
            </a:r>
            <a:r>
              <a:rPr lang="de-DE" sz="1200" dirty="0" err="1">
                <a:highlight>
                  <a:srgbClr val="FFFFFF"/>
                </a:highlight>
                <a:latin typeface="Calibri" panose="020F0502020204030204" pitchFamily="34" charset="0"/>
                <a:ea typeface="Georgia"/>
                <a:cs typeface="Calibri" panose="020F0502020204030204" pitchFamily="34" charset="0"/>
                <a:sym typeface="Georgia"/>
              </a:rPr>
              <a:t>Exploratory</a:t>
            </a:r>
            <a:r>
              <a:rPr lang="de-DE" sz="1200" dirty="0">
                <a:highlight>
                  <a:srgbClr val="FFFFFF"/>
                </a:highlight>
                <a:latin typeface="Calibri" panose="020F0502020204030204" pitchFamily="34" charset="0"/>
                <a:ea typeface="Georgia"/>
                <a:cs typeface="Calibri" panose="020F0502020204030204" pitchFamily="34" charset="0"/>
                <a:sym typeface="Georgia"/>
              </a:rPr>
              <a:t> Study”. </a:t>
            </a:r>
            <a:r>
              <a:rPr lang="de-DE" sz="1200" i="1" dirty="0">
                <a:highlight>
                  <a:srgbClr val="FFFFFF"/>
                </a:highlight>
                <a:latin typeface="Calibri" panose="020F0502020204030204" pitchFamily="34" charset="0"/>
                <a:ea typeface="Georgia"/>
                <a:cs typeface="Calibri" panose="020F0502020204030204" pitchFamily="34" charset="0"/>
                <a:sym typeface="Georgia"/>
              </a:rPr>
              <a:t>Partnership: The Canadian Journal </a:t>
            </a:r>
            <a:r>
              <a:rPr lang="de-DE" sz="1200" i="1" dirty="0" err="1">
                <a:highlight>
                  <a:srgbClr val="FFFFFF"/>
                </a:highlight>
                <a:latin typeface="Calibri" panose="020F0502020204030204" pitchFamily="34" charset="0"/>
                <a:ea typeface="Georgia"/>
                <a:cs typeface="Calibri" panose="020F0502020204030204" pitchFamily="34" charset="0"/>
                <a:sym typeface="Georgia"/>
              </a:rPr>
              <a:t>of</a:t>
            </a:r>
            <a:r>
              <a:rPr lang="de-DE" sz="1200" i="1" dirty="0">
                <a:highlight>
                  <a:srgbClr val="FFFFFF"/>
                </a:highlight>
                <a:latin typeface="Calibri" panose="020F0502020204030204" pitchFamily="34" charset="0"/>
                <a:ea typeface="Georgia"/>
                <a:cs typeface="Calibri" panose="020F0502020204030204" pitchFamily="34" charset="0"/>
                <a:sym typeface="Georgia"/>
              </a:rPr>
              <a:t> Library and Information Practice and Research</a:t>
            </a:r>
            <a:r>
              <a:rPr lang="de-DE" sz="1200" dirty="0">
                <a:highlight>
                  <a:srgbClr val="FFFFFF"/>
                </a:highlight>
                <a:latin typeface="Calibri" panose="020F0502020204030204" pitchFamily="34" charset="0"/>
                <a:ea typeface="Georgia"/>
                <a:cs typeface="Calibri" panose="020F0502020204030204" pitchFamily="34" charset="0"/>
                <a:sym typeface="Georgia"/>
              </a:rPr>
              <a:t>, vol. 14, </a:t>
            </a:r>
            <a:r>
              <a:rPr lang="de-DE" sz="1200" dirty="0" err="1">
                <a:highlight>
                  <a:srgbClr val="FFFFFF"/>
                </a:highlight>
                <a:latin typeface="Calibri" panose="020F0502020204030204" pitchFamily="34" charset="0"/>
                <a:ea typeface="Georgia"/>
                <a:cs typeface="Calibri" panose="020F0502020204030204" pitchFamily="34" charset="0"/>
                <a:sym typeface="Georgia"/>
              </a:rPr>
              <a:t>no</a:t>
            </a:r>
            <a:r>
              <a:rPr lang="de-DE" sz="1200" dirty="0">
                <a:highlight>
                  <a:srgbClr val="FFFFFF"/>
                </a:highlight>
                <a:latin typeface="Calibri" panose="020F0502020204030204" pitchFamily="34" charset="0"/>
                <a:ea typeface="Georgia"/>
                <a:cs typeface="Calibri" panose="020F0502020204030204" pitchFamily="34" charset="0"/>
                <a:sym typeface="Georgia"/>
              </a:rPr>
              <a:t>. 1, May 2019,</a:t>
            </a:r>
            <a:br>
              <a:rPr lang="de-DE" sz="1100" b="0" i="0" dirty="0">
                <a:solidFill>
                  <a:srgbClr val="000000"/>
                </a:solidFill>
                <a:latin typeface="Arial"/>
                <a:ea typeface="Arial"/>
                <a:cs typeface="Arial"/>
                <a:sym typeface="Arial"/>
              </a:rPr>
            </a:br>
            <a:endParaRPr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de-DE"/>
              <a:t>Bilderquellen</a:t>
            </a:r>
            <a:endParaRPr/>
          </a:p>
        </p:txBody>
      </p:sp>
      <p:sp>
        <p:nvSpPr>
          <p:cNvPr id="227" name="Google Shape;227;p30"/>
          <p:cNvSpPr txBox="1"/>
          <p:nvPr/>
        </p:nvSpPr>
        <p:spPr>
          <a:xfrm>
            <a:off x="478172" y="1862356"/>
            <a:ext cx="11559900" cy="535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e-DE" sz="1800">
                <a:solidFill>
                  <a:schemeClr val="dk1"/>
                </a:solidFill>
                <a:latin typeface="Calibri"/>
                <a:ea typeface="Calibri"/>
                <a:cs typeface="Calibri"/>
                <a:sym typeface="Calibri"/>
              </a:rPr>
              <a:t>Bild Folie 1: https://www.digitalradar-muensterland.de/eine-customer-journey-map-erstellen/, Zugriff: 04.06.21</a:t>
            </a:r>
            <a:endParaRPr/>
          </a:p>
          <a:p>
            <a:pPr marL="0" marR="0" lvl="0" indent="0" algn="l" rtl="0">
              <a:spcBef>
                <a:spcPts val="0"/>
              </a:spcBef>
              <a:spcAft>
                <a:spcPts val="0"/>
              </a:spcAft>
              <a:buNone/>
            </a:pPr>
            <a:r>
              <a:rPr lang="de-DE" sz="1800">
                <a:solidFill>
                  <a:schemeClr val="dk1"/>
                </a:solidFill>
                <a:latin typeface="Calibri"/>
                <a:ea typeface="Calibri"/>
                <a:cs typeface="Calibri"/>
                <a:sym typeface="Calibri"/>
              </a:rPr>
              <a:t>Bild Folie 3: https://miro.com/guides/customer-journey-mapping/ Zugriff: 04.06.21</a:t>
            </a:r>
            <a:endParaRPr/>
          </a:p>
          <a:p>
            <a:pPr marL="0" marR="0" lvl="0" indent="0" algn="l" rtl="0">
              <a:spcBef>
                <a:spcPts val="0"/>
              </a:spcBef>
              <a:spcAft>
                <a:spcPts val="0"/>
              </a:spcAft>
              <a:buNone/>
            </a:pPr>
            <a:r>
              <a:rPr lang="de-DE" sz="1800">
                <a:solidFill>
                  <a:schemeClr val="dk1"/>
                </a:solidFill>
                <a:latin typeface="Calibri"/>
                <a:ea typeface="Calibri"/>
                <a:cs typeface="Calibri"/>
                <a:sym typeface="Calibri"/>
              </a:rPr>
              <a:t>Bild Folie 4: http://blog.clickdimensions.com/how-to-create-a-customer-journey-map-and-why-you-need-one/ Zugriff: 04.06.21</a:t>
            </a:r>
            <a:endParaRPr/>
          </a:p>
          <a:p>
            <a:pPr marL="0" marR="0" lvl="0" indent="0" algn="l" rtl="0">
              <a:spcBef>
                <a:spcPts val="0"/>
              </a:spcBef>
              <a:spcAft>
                <a:spcPts val="0"/>
              </a:spcAft>
              <a:buNone/>
            </a:pPr>
            <a:r>
              <a:rPr lang="de-DE" sz="1800">
                <a:solidFill>
                  <a:schemeClr val="dk1"/>
                </a:solidFill>
                <a:latin typeface="Calibri"/>
                <a:ea typeface="Calibri"/>
                <a:cs typeface="Calibri"/>
                <a:sym typeface="Calibri"/>
              </a:rPr>
              <a:t>Bild Folie 5: https://uxstudioteam.com/ux-blog/ethnographic-research/ Zugriff: 04.06.21</a:t>
            </a:r>
            <a:endParaRPr/>
          </a:p>
          <a:p>
            <a:pPr marL="0" marR="0" lvl="0" indent="0" algn="l" rtl="0">
              <a:spcBef>
                <a:spcPts val="0"/>
              </a:spcBef>
              <a:spcAft>
                <a:spcPts val="0"/>
              </a:spcAft>
              <a:buNone/>
            </a:pPr>
            <a:r>
              <a:rPr lang="de-DE" sz="1800">
                <a:solidFill>
                  <a:schemeClr val="dk1"/>
                </a:solidFill>
                <a:latin typeface="Calibri"/>
                <a:ea typeface="Calibri"/>
                <a:cs typeface="Calibri"/>
                <a:sym typeface="Calibri"/>
              </a:rPr>
              <a:t>Bild Folie 14: https://de.freepik.com/vektoren-kostenlos/junge-leute-stehen-und-reden-miteinander-sprachblase-smartphone-flache-vektorillustration-des-maedchens-kommunikation-und-diskussion_10174094.htm#page=1&amp;query=Diskussion&amp;position=0 Zugriff: 06.06.21</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de-DE" sz="1800">
                <a:solidFill>
                  <a:schemeClr val="dk1"/>
                </a:solidFill>
                <a:latin typeface="Calibri"/>
                <a:ea typeface="Calibri"/>
                <a:cs typeface="Calibri"/>
                <a:sym typeface="Calibri"/>
              </a:rPr>
              <a:t>Bild Folie 9: </a:t>
            </a:r>
            <a:r>
              <a:rPr lang="de-DE" sz="1800" u="sng">
                <a:solidFill>
                  <a:schemeClr val="hlink"/>
                </a:solidFill>
                <a:latin typeface="Calibri"/>
                <a:ea typeface="Calibri"/>
                <a:cs typeface="Calibri"/>
                <a:sym typeface="Calibri"/>
                <a:hlinkClick r:id="rId3"/>
              </a:rPr>
              <a:t>https://www.istockphoto.com/de/vektor/gear-vektor-symbol-im-comic-stil-zahnrad-cartoon-illustration-auf-wei%C3%9Fem-gm1158099877-316232227</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de-DE" sz="1800">
                <a:solidFill>
                  <a:schemeClr val="dk1"/>
                </a:solidFill>
                <a:latin typeface="Calibri"/>
                <a:ea typeface="Calibri"/>
                <a:cs typeface="Calibri"/>
                <a:sym typeface="Calibri"/>
              </a:rPr>
              <a:t>Bild Folie 8 1: https://www.staerkundstaerk.de/wp-content/uploads/2014/01/Customer-Journey-by-Lego.jpg</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de-DE" sz="1800">
                <a:solidFill>
                  <a:schemeClr val="dk1"/>
                </a:solidFill>
                <a:latin typeface="Calibri"/>
                <a:ea typeface="Calibri"/>
                <a:cs typeface="Calibri"/>
                <a:sym typeface="Calibri"/>
              </a:rPr>
              <a:t>Bild folie 8 2: https://wearedrivedigital.de/wp-content/uploads/2019/07/starbucks-customer-journey-map-example-768x618-copy.jpg</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1"/>
        <p:cNvGrpSpPr/>
        <p:nvPr/>
      </p:nvGrpSpPr>
      <p:grpSpPr>
        <a:xfrm>
          <a:off x="0" y="0"/>
          <a:ext cx="0" cy="0"/>
          <a:chOff x="0" y="0"/>
          <a:chExt cx="0" cy="0"/>
        </a:xfrm>
      </p:grpSpPr>
      <p:sp>
        <p:nvSpPr>
          <p:cNvPr id="232" name="Google Shape;232;p31"/>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3" name="Google Shape;233;p31"/>
          <p:cNvSpPr txBox="1">
            <a:spLocks noGrp="1"/>
          </p:cNvSpPr>
          <p:nvPr>
            <p:ph type="title"/>
          </p:nvPr>
        </p:nvSpPr>
        <p:spPr>
          <a:xfrm>
            <a:off x="838200" y="365125"/>
            <a:ext cx="10515600" cy="130644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Calibri"/>
              <a:buNone/>
            </a:pPr>
            <a:r>
              <a:rPr lang="de-DE" sz="4000"/>
              <a:t>Diskussion</a:t>
            </a:r>
            <a:endParaRPr/>
          </a:p>
        </p:txBody>
      </p:sp>
      <p:sp>
        <p:nvSpPr>
          <p:cNvPr id="234" name="Google Shape;234;p31"/>
          <p:cNvSpPr txBox="1">
            <a:spLocks noGrp="1"/>
          </p:cNvSpPr>
          <p:nvPr>
            <p:ph type="body" idx="1"/>
          </p:nvPr>
        </p:nvSpPr>
        <p:spPr>
          <a:xfrm>
            <a:off x="838200" y="2667699"/>
            <a:ext cx="4152774" cy="28858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2000"/>
              <a:buNone/>
            </a:pPr>
            <a:r>
              <a:rPr lang="de-DE" sz="2000" dirty="0"/>
              <a:t>Welche Vor- bzw. Nachteile seht ihr bei der Nutzung von CJMs? Auch im Hinblick auf Design </a:t>
            </a:r>
            <a:r>
              <a:rPr lang="de-DE" sz="2000" dirty="0" err="1"/>
              <a:t>Thinking</a:t>
            </a:r>
            <a:r>
              <a:rPr lang="de-DE" sz="2000" dirty="0"/>
              <a:t>? </a:t>
            </a:r>
            <a:endParaRPr dirty="0"/>
          </a:p>
          <a:p>
            <a:pPr marL="0" lvl="0" indent="0" algn="l" rtl="0">
              <a:lnSpc>
                <a:spcPct val="90000"/>
              </a:lnSpc>
              <a:spcBef>
                <a:spcPts val="1000"/>
              </a:spcBef>
              <a:spcAft>
                <a:spcPts val="0"/>
              </a:spcAft>
              <a:buClr>
                <a:schemeClr val="dk1"/>
              </a:buClr>
              <a:buSzPts val="2000"/>
              <a:buNone/>
            </a:pPr>
            <a:endParaRPr sz="2000" dirty="0"/>
          </a:p>
        </p:txBody>
      </p:sp>
      <p:pic>
        <p:nvPicPr>
          <p:cNvPr id="235" name="Google Shape;235;p31" descr="Ein Bild, das Text enthält.&#10;&#10;Automatisch generierte Beschreibung"/>
          <p:cNvPicPr preferRelativeResize="0"/>
          <p:nvPr/>
        </p:nvPicPr>
        <p:blipFill rotWithShape="1">
          <a:blip r:embed="rId3">
            <a:alphaModFix/>
          </a:blip>
          <a:srcRect l="4333" r="11689" b="1"/>
          <a:stretch/>
        </p:blipFill>
        <p:spPr>
          <a:xfrm>
            <a:off x="5183500" y="1904282"/>
            <a:ext cx="6170299" cy="4224808"/>
          </a:xfrm>
          <a:prstGeom prst="rect">
            <a:avLst/>
          </a:prstGeom>
          <a:noFill/>
          <a:ln>
            <a:noFill/>
          </a:ln>
        </p:spPr>
      </p:pic>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973</Words>
  <Application>Microsoft Office PowerPoint</Application>
  <PresentationFormat>Breitbild</PresentationFormat>
  <Paragraphs>96</Paragraphs>
  <Slides>18</Slides>
  <Notes>18</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18</vt:i4>
      </vt:variant>
    </vt:vector>
  </HeadingPairs>
  <TitlesOfParts>
    <vt:vector size="21" baseType="lpstr">
      <vt:lpstr>Arial</vt:lpstr>
      <vt:lpstr>Calibri</vt:lpstr>
      <vt:lpstr>Office</vt:lpstr>
      <vt:lpstr>Customer Journey Maps</vt:lpstr>
      <vt:lpstr>Warum Customer Journey Maps?</vt:lpstr>
      <vt:lpstr>Ziel einer Customer Journey Map</vt:lpstr>
      <vt:lpstr>Aktueller Einsatz in der Industrie</vt:lpstr>
      <vt:lpstr>Bestandteile einer CJM</vt:lpstr>
      <vt:lpstr>Bestandteile einer CJM</vt:lpstr>
      <vt:lpstr>Die Phasen - Welche Schritte geht ein Kunde?</vt:lpstr>
      <vt:lpstr>Andere Beispiele</vt:lpstr>
      <vt:lpstr>Design Thinking und Customer Journey Map</vt:lpstr>
      <vt:lpstr>Methoden zur Erstellung einer CJM</vt:lpstr>
      <vt:lpstr>Fallbeispiel</vt:lpstr>
      <vt:lpstr>Pre-Service Period</vt:lpstr>
      <vt:lpstr>Vorteile für Unternehmen</vt:lpstr>
      <vt:lpstr>Vorteile für Kunden</vt:lpstr>
      <vt:lpstr>Schlusswort</vt:lpstr>
      <vt:lpstr>Literaturquellen</vt:lpstr>
      <vt:lpstr>Bilderquellen</vt:lpstr>
      <vt:lpstr>Diskussion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Journey Maps</dc:title>
  <cp:lastModifiedBy>Tim Böckel</cp:lastModifiedBy>
  <cp:revision>1</cp:revision>
  <dcterms:modified xsi:type="dcterms:W3CDTF">2021-06-08T08:10:29Z</dcterms:modified>
</cp:coreProperties>
</file>