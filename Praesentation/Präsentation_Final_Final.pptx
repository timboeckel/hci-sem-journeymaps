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5.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1-06-08T07:36:11.726">
    <p:pos x="6000" y="0"/>
    <p:text>-Tim Böckel</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1-06-08T07:36:11.730">
    <p:pos x="6000" y="0"/>
    <p:text>-Tim Böckel</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1-06-08T07:36:11.731">
    <p:pos x="6000" y="0"/>
    <p:text>-Tim Böckel</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1-06-08T07:36:11.731">
    <p:pos x="6000" y="0"/>
    <p:text>-Tim Böckel</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1-06-08T07:36:11.729">
    <p:pos x="6000" y="0"/>
    <p:text>-Tim Böckel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de-DE"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 name="Google Shape;9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Werbung: Zeitung vs. Social Media</a:t>
            </a:r>
            <a:endParaRPr/>
          </a:p>
        </p:txBody>
      </p:sp>
      <p:sp>
        <p:nvSpPr>
          <p:cNvPr id="109" name="Google Shape;10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 name="Google Shape;11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a:t>Bestandteile:</a:t>
            </a:r>
            <a:endParaRPr/>
          </a:p>
          <a:p>
            <a:pPr indent="0" lvl="0" marL="0" rtl="0" algn="l">
              <a:spcBef>
                <a:spcPts val="0"/>
              </a:spcBef>
              <a:spcAft>
                <a:spcPts val="0"/>
              </a:spcAft>
              <a:buNone/>
            </a:pPr>
            <a:r>
              <a:t/>
            </a:r>
            <a:endParaRPr/>
          </a:p>
          <a:p>
            <a:pPr indent="0" lvl="0" marL="0" rtl="0" algn="l">
              <a:spcBef>
                <a:spcPts val="0"/>
              </a:spcBef>
              <a:spcAft>
                <a:spcPts val="0"/>
              </a:spcAft>
              <a:buNone/>
            </a:pPr>
            <a:r>
              <a:rPr lang="de-DE"/>
              <a:t>Journey 🡪 Alles (Optimale vs. Wirkliche Journey)</a:t>
            </a:r>
            <a:endParaRPr/>
          </a:p>
          <a:p>
            <a:pPr indent="0" lvl="0" marL="0" rtl="0" algn="l">
              <a:spcBef>
                <a:spcPts val="0"/>
              </a:spcBef>
              <a:spcAft>
                <a:spcPts val="0"/>
              </a:spcAft>
              <a:buNone/>
            </a:pPr>
            <a:r>
              <a:rPr lang="de-DE"/>
              <a:t>Touchpoints 🡪 Berührungspunkt</a:t>
            </a:r>
            <a:endParaRPr/>
          </a:p>
          <a:p>
            <a:pPr indent="0" lvl="0" marL="0" rtl="0" algn="l">
              <a:spcBef>
                <a:spcPts val="0"/>
              </a:spcBef>
              <a:spcAft>
                <a:spcPts val="0"/>
              </a:spcAft>
              <a:buNone/>
            </a:pPr>
            <a:r>
              <a:rPr lang="de-DE"/>
              <a:t>Goal 🡪 Ziel</a:t>
            </a:r>
            <a:endParaRPr/>
          </a:p>
          <a:p>
            <a:pPr indent="0" lvl="0" marL="0" rtl="0" algn="l">
              <a:spcBef>
                <a:spcPts val="0"/>
              </a:spcBef>
              <a:spcAft>
                <a:spcPts val="0"/>
              </a:spcAft>
              <a:buNone/>
            </a:pPr>
            <a:r>
              <a:rPr lang="de-DE"/>
              <a:t>Experience 🡪 Emotionen des Users</a:t>
            </a:r>
            <a:endParaRPr/>
          </a:p>
          <a:p>
            <a:pPr indent="0" lvl="0" marL="0" rtl="0" algn="l">
              <a:spcBef>
                <a:spcPts val="0"/>
              </a:spcBef>
              <a:spcAft>
                <a:spcPts val="0"/>
              </a:spcAft>
              <a:buNone/>
            </a:pPr>
            <a:r>
              <a:rPr lang="de-DE"/>
              <a:t>Channel 🡪 Bsp. Werbekanäle</a:t>
            </a:r>
            <a:endParaRPr/>
          </a:p>
          <a:p>
            <a:pPr indent="0" lvl="0" marL="0" rtl="0" algn="l">
              <a:spcBef>
                <a:spcPts val="0"/>
              </a:spcBef>
              <a:spcAft>
                <a:spcPts val="0"/>
              </a:spcAft>
              <a:buNone/>
            </a:pPr>
            <a:r>
              <a:rPr lang="de-DE"/>
              <a:t>User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27" name="Google Shape;12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 name="Google Shape;13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 name="Google Shape;13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de-DE" sz="120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endParaRPr/>
          </a:p>
          <a:p>
            <a:pPr indent="0" lvl="0" marL="0" rtl="0" algn="l">
              <a:spcBef>
                <a:spcPts val="0"/>
              </a:spcBef>
              <a:spcAft>
                <a:spcPts val="0"/>
              </a:spcAft>
              <a:buNone/>
            </a:pPr>
            <a:r>
              <a:t/>
            </a:r>
            <a:endParaRPr>
              <a:solidFill>
                <a:srgbClr val="000000"/>
              </a:solidFill>
            </a:endParaRPr>
          </a:p>
          <a:p>
            <a:pPr indent="0" lvl="0" marL="0" rtl="0" algn="l">
              <a:spcBef>
                <a:spcPts val="0"/>
              </a:spcBef>
              <a:spcAft>
                <a:spcPts val="0"/>
              </a:spcAft>
              <a:buNone/>
            </a:pPr>
            <a:r>
              <a:rPr lang="de-DE" sz="1200">
                <a:solidFill>
                  <a:srgbClr val="000000"/>
                </a:solidFill>
              </a:rPr>
              <a:t>🡪 Focus Groups -&gt; Gruppeninterviews</a:t>
            </a:r>
            <a:endParaRPr sz="1200">
              <a:solidFill>
                <a:srgbClr val="000000"/>
              </a:solidFill>
            </a:endParaRPr>
          </a:p>
          <a:p>
            <a:pPr indent="0" lvl="0" marL="0" rtl="0" algn="l">
              <a:spcBef>
                <a:spcPts val="0"/>
              </a:spcBef>
              <a:spcAft>
                <a:spcPts val="0"/>
              </a:spcAft>
              <a:buNone/>
            </a:pPr>
            <a:r>
              <a:t/>
            </a:r>
            <a:endParaRPr/>
          </a:p>
        </p:txBody>
      </p:sp>
      <p:sp>
        <p:nvSpPr>
          <p:cNvPr id="166" name="Google Shape;166;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3" name="Google Shape;18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9" name="Google Shape;19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4" name="Google Shape;22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0" name="Google Shape;23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folie" type="title">
  <p:cSld name="TITLE">
    <p:spTree>
      <p:nvGrpSpPr>
        <p:cNvPr id="15" name="Shape 15"/>
        <p:cNvGrpSpPr/>
        <p:nvPr/>
      </p:nvGrpSpPr>
      <p:grpSpPr>
        <a:xfrm>
          <a:off x="0" y="0"/>
          <a:ext cx="0" cy="0"/>
          <a:chOff x="0" y="0"/>
          <a:chExt cx="0" cy="0"/>
        </a:xfrm>
      </p:grpSpPr>
      <p:sp>
        <p:nvSpPr>
          <p:cNvPr id="16" name="Google Shape;16;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und Inhalt" type="obj">
  <p:cSld name="OBJECT">
    <p:spTree>
      <p:nvGrpSpPr>
        <p:cNvPr id="21" name="Shape 21"/>
        <p:cNvGrpSpPr/>
        <p:nvPr/>
      </p:nvGrpSpPr>
      <p:grpSpPr>
        <a:xfrm>
          <a:off x="0" y="0"/>
          <a:ext cx="0" cy="0"/>
          <a:chOff x="0" y="0"/>
          <a:chExt cx="0" cy="0"/>
        </a:xfrm>
      </p:grpSpPr>
      <p:sp>
        <p:nvSpPr>
          <p:cNvPr id="22" name="Google Shape;22;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7" name="Shape 27"/>
        <p:cNvGrpSpPr/>
        <p:nvPr/>
      </p:nvGrpSpPr>
      <p:grpSpPr>
        <a:xfrm>
          <a:off x="0" y="0"/>
          <a:ext cx="0" cy="0"/>
          <a:chOff x="0" y="0"/>
          <a:chExt cx="0" cy="0"/>
        </a:xfrm>
      </p:grpSpPr>
      <p:sp>
        <p:nvSpPr>
          <p:cNvPr id="28" name="Google Shape;28;p4"/>
          <p:cNvSpPr txBox="1"/>
          <p:nvPr>
            <p:ph type="title"/>
          </p:nvPr>
        </p:nvSpPr>
        <p:spPr>
          <a:xfrm>
            <a:off x="415600" y="593367"/>
            <a:ext cx="11360800" cy="763600"/>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Calibri"/>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9" name="Google Shape;29;p4"/>
          <p:cNvSpPr txBox="1"/>
          <p:nvPr>
            <p:ph idx="1" type="body"/>
          </p:nvPr>
        </p:nvSpPr>
        <p:spPr>
          <a:xfrm>
            <a:off x="415600" y="1536633"/>
            <a:ext cx="11360800" cy="4555200"/>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dk1"/>
              </a:buClr>
              <a:buSzPts val="1800"/>
              <a:buChar char="●"/>
              <a:defRPr/>
            </a:lvl1pPr>
            <a:lvl2pPr indent="-317500" lvl="1" marL="914400" algn="l">
              <a:lnSpc>
                <a:spcPct val="90000"/>
              </a:lnSpc>
              <a:spcBef>
                <a:spcPts val="0"/>
              </a:spcBef>
              <a:spcAft>
                <a:spcPts val="0"/>
              </a:spcAft>
              <a:buClr>
                <a:schemeClr val="dk1"/>
              </a:buClr>
              <a:buSzPts val="1400"/>
              <a:buChar char="○"/>
              <a:defRPr/>
            </a:lvl2pPr>
            <a:lvl3pPr indent="-317500" lvl="2" marL="1371600" algn="l">
              <a:lnSpc>
                <a:spcPct val="90000"/>
              </a:lnSpc>
              <a:spcBef>
                <a:spcPts val="0"/>
              </a:spcBef>
              <a:spcAft>
                <a:spcPts val="0"/>
              </a:spcAft>
              <a:buClr>
                <a:schemeClr val="dk1"/>
              </a:buClr>
              <a:buSzPts val="1400"/>
              <a:buChar char="■"/>
              <a:defRPr/>
            </a:lvl3pPr>
            <a:lvl4pPr indent="-317500" lvl="3" marL="1828800" algn="l">
              <a:lnSpc>
                <a:spcPct val="90000"/>
              </a:lnSpc>
              <a:spcBef>
                <a:spcPts val="0"/>
              </a:spcBef>
              <a:spcAft>
                <a:spcPts val="0"/>
              </a:spcAft>
              <a:buClr>
                <a:schemeClr val="dk1"/>
              </a:buClr>
              <a:buSzPts val="1400"/>
              <a:buChar char="●"/>
              <a:defRPr/>
            </a:lvl4pPr>
            <a:lvl5pPr indent="-317500" lvl="4" marL="2286000" algn="l">
              <a:lnSpc>
                <a:spcPct val="90000"/>
              </a:lnSpc>
              <a:spcBef>
                <a:spcPts val="0"/>
              </a:spcBef>
              <a:spcAft>
                <a:spcPts val="0"/>
              </a:spcAft>
              <a:buClr>
                <a:schemeClr val="dk1"/>
              </a:buClr>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30" name="Google Shape;30;p4"/>
          <p:cNvSpPr txBox="1"/>
          <p:nvPr>
            <p:ph idx="12" type="sldNum"/>
          </p:nvPr>
        </p:nvSpPr>
        <p:spPr>
          <a:xfrm>
            <a:off x="11296611" y="6217623"/>
            <a:ext cx="731600" cy="524800"/>
          </a:xfrm>
          <a:prstGeom prst="rect">
            <a:avLst/>
          </a:prstGeom>
          <a:noFill/>
          <a:ln>
            <a:noFill/>
          </a:ln>
        </p:spPr>
        <p:txBody>
          <a:bodyPr anchorCtr="0" anchor="ctr" bIns="91425" lIns="91425" spcFirstLastPara="1" rIns="91425" wrap="square" tIns="91425">
            <a:normAutofit/>
          </a:bodyPr>
          <a:lstStyle>
            <a:lvl1pPr indent="0" lvl="0" marL="0" algn="r">
              <a:buClr>
                <a:srgbClr val="888888"/>
              </a:buClr>
              <a:buSzPts val="1200"/>
              <a:buFont typeface="Calibri"/>
              <a:buNone/>
              <a:defRPr sz="1200">
                <a:solidFill>
                  <a:srgbClr val="888888"/>
                </a:solidFill>
                <a:latin typeface="Calibri"/>
                <a:ea typeface="Calibri"/>
                <a:cs typeface="Calibri"/>
                <a:sym typeface="Calibri"/>
              </a:defRPr>
            </a:lvl1pPr>
            <a:lvl2pPr indent="0" lvl="1" marL="0" algn="r">
              <a:buClr>
                <a:srgbClr val="888888"/>
              </a:buClr>
              <a:buSzPts val="1200"/>
              <a:buFont typeface="Calibri"/>
              <a:buNone/>
              <a:defRPr sz="1200">
                <a:solidFill>
                  <a:srgbClr val="888888"/>
                </a:solidFill>
                <a:latin typeface="Calibri"/>
                <a:ea typeface="Calibri"/>
                <a:cs typeface="Calibri"/>
                <a:sym typeface="Calibri"/>
              </a:defRPr>
            </a:lvl2pPr>
            <a:lvl3pPr indent="0" lvl="2" marL="0" algn="r">
              <a:buClr>
                <a:srgbClr val="888888"/>
              </a:buClr>
              <a:buSzPts val="1200"/>
              <a:buFont typeface="Calibri"/>
              <a:buNone/>
              <a:defRPr sz="1200">
                <a:solidFill>
                  <a:srgbClr val="888888"/>
                </a:solidFill>
                <a:latin typeface="Calibri"/>
                <a:ea typeface="Calibri"/>
                <a:cs typeface="Calibri"/>
                <a:sym typeface="Calibri"/>
              </a:defRPr>
            </a:lvl3pPr>
            <a:lvl4pPr indent="0" lvl="3" marL="0" algn="r">
              <a:buClr>
                <a:srgbClr val="888888"/>
              </a:buClr>
              <a:buSzPts val="1200"/>
              <a:buFont typeface="Calibri"/>
              <a:buNone/>
              <a:defRPr sz="1200">
                <a:solidFill>
                  <a:srgbClr val="888888"/>
                </a:solidFill>
                <a:latin typeface="Calibri"/>
                <a:ea typeface="Calibri"/>
                <a:cs typeface="Calibri"/>
                <a:sym typeface="Calibri"/>
              </a:defRPr>
            </a:lvl4pPr>
            <a:lvl5pPr indent="0" lvl="4" marL="0" algn="r">
              <a:buClr>
                <a:srgbClr val="888888"/>
              </a:buClr>
              <a:buSzPts val="1200"/>
              <a:buFont typeface="Calibri"/>
              <a:buNone/>
              <a:defRPr sz="1200">
                <a:solidFill>
                  <a:srgbClr val="888888"/>
                </a:solidFill>
                <a:latin typeface="Calibri"/>
                <a:ea typeface="Calibri"/>
                <a:cs typeface="Calibri"/>
                <a:sym typeface="Calibri"/>
              </a:defRPr>
            </a:lvl5pPr>
            <a:lvl6pPr indent="0" lvl="5" marL="0" algn="r">
              <a:buClr>
                <a:srgbClr val="888888"/>
              </a:buClr>
              <a:buSzPts val="1200"/>
              <a:buFont typeface="Calibri"/>
              <a:buNone/>
              <a:defRPr sz="1200">
                <a:solidFill>
                  <a:srgbClr val="888888"/>
                </a:solidFill>
                <a:latin typeface="Calibri"/>
                <a:ea typeface="Calibri"/>
                <a:cs typeface="Calibri"/>
                <a:sym typeface="Calibri"/>
              </a:defRPr>
            </a:lvl6pPr>
            <a:lvl7pPr indent="0" lvl="6" marL="0" algn="r">
              <a:buClr>
                <a:srgbClr val="888888"/>
              </a:buClr>
              <a:buSzPts val="1200"/>
              <a:buFont typeface="Calibri"/>
              <a:buNone/>
              <a:defRPr sz="1200">
                <a:solidFill>
                  <a:srgbClr val="888888"/>
                </a:solidFill>
                <a:latin typeface="Calibri"/>
                <a:ea typeface="Calibri"/>
                <a:cs typeface="Calibri"/>
                <a:sym typeface="Calibri"/>
              </a:defRPr>
            </a:lvl7pPr>
            <a:lvl8pPr indent="0" lvl="7" marL="0" algn="r">
              <a:buClr>
                <a:srgbClr val="888888"/>
              </a:buClr>
              <a:buSzPts val="1200"/>
              <a:buFont typeface="Calibri"/>
              <a:buNone/>
              <a:defRPr sz="1200">
                <a:solidFill>
                  <a:srgbClr val="888888"/>
                </a:solidFill>
                <a:latin typeface="Calibri"/>
                <a:ea typeface="Calibri"/>
                <a:cs typeface="Calibri"/>
                <a:sym typeface="Calibri"/>
              </a:defRPr>
            </a:lvl8pPr>
            <a:lvl9pPr indent="0" lvl="8" marL="0" algn="r">
              <a:buClr>
                <a:srgbClr val="888888"/>
              </a:buClr>
              <a:buSzPts val="1200"/>
              <a:buFont typeface="Calibri"/>
              <a:buNone/>
              <a:defRPr sz="1200">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bschnitts-&#10;überschrift" type="secHead">
  <p:cSld name="SECTION_HEADER">
    <p:spTree>
      <p:nvGrpSpPr>
        <p:cNvPr id="31" name="Shape 31"/>
        <p:cNvGrpSpPr/>
        <p:nvPr/>
      </p:nvGrpSpPr>
      <p:grpSpPr>
        <a:xfrm>
          <a:off x="0" y="0"/>
          <a:ext cx="0" cy="0"/>
          <a:chOff x="0" y="0"/>
          <a:chExt cx="0" cy="0"/>
        </a:xfrm>
      </p:grpSpPr>
      <p:sp>
        <p:nvSpPr>
          <p:cNvPr id="32" name="Google Shape;32;p5"/>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5"/>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4" name="Google Shape;34;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Zwei Inhalte" type="twoObj">
  <p:cSld name="TWO_OBJECTS">
    <p:spTree>
      <p:nvGrpSpPr>
        <p:cNvPr id="37" name="Shape 37"/>
        <p:cNvGrpSpPr/>
        <p:nvPr/>
      </p:nvGrpSpPr>
      <p:grpSpPr>
        <a:xfrm>
          <a:off x="0" y="0"/>
          <a:ext cx="0" cy="0"/>
          <a:chOff x="0" y="0"/>
          <a:chExt cx="0" cy="0"/>
        </a:xfrm>
      </p:grpSpPr>
      <p:sp>
        <p:nvSpPr>
          <p:cNvPr id="38" name="Google Shape;38;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6"/>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gleich" type="twoTxTwoObj">
  <p:cSld name="TWO_OBJECTS_WITH_TEXT">
    <p:spTree>
      <p:nvGrpSpPr>
        <p:cNvPr id="44" name="Shape 44"/>
        <p:cNvGrpSpPr/>
        <p:nvPr/>
      </p:nvGrpSpPr>
      <p:grpSpPr>
        <a:xfrm>
          <a:off x="0" y="0"/>
          <a:ext cx="0" cy="0"/>
          <a:chOff x="0" y="0"/>
          <a:chExt cx="0" cy="0"/>
        </a:xfrm>
      </p:grpSpPr>
      <p:sp>
        <p:nvSpPr>
          <p:cNvPr id="45" name="Google Shape;45;p7"/>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 name="Google Shape;46;p7"/>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7" name="Google Shape;47;p7"/>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7"/>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9" name="Google Shape;49;p7"/>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r Titel" type="titleOnly">
  <p:cSld name="TITLE_ONLY">
    <p:spTree>
      <p:nvGrpSpPr>
        <p:cNvPr id="53" name="Shape 53"/>
        <p:cNvGrpSpPr/>
        <p:nvPr/>
      </p:nvGrpSpPr>
      <p:grpSpPr>
        <a:xfrm>
          <a:off x="0" y="0"/>
          <a:ext cx="0" cy="0"/>
          <a:chOff x="0" y="0"/>
          <a:chExt cx="0" cy="0"/>
        </a:xfrm>
      </p:grpSpPr>
      <p:sp>
        <p:nvSpPr>
          <p:cNvPr id="54" name="Google Shape;54;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er" type="blank">
  <p:cSld name="BLANK">
    <p:spTree>
      <p:nvGrpSpPr>
        <p:cNvPr id="58" name="Shape 58"/>
        <p:cNvGrpSpPr/>
        <p:nvPr/>
      </p:nvGrpSpPr>
      <p:grpSpPr>
        <a:xfrm>
          <a:off x="0" y="0"/>
          <a:ext cx="0" cy="0"/>
          <a:chOff x="0" y="0"/>
          <a:chExt cx="0" cy="0"/>
        </a:xfrm>
      </p:grpSpPr>
      <p:sp>
        <p:nvSpPr>
          <p:cNvPr id="59" name="Google Shape;59;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halt mit Überschrift" type="objTx">
  <p:cSld name="OBJECT_WITH_CAPTION_TEXT">
    <p:spTree>
      <p:nvGrpSpPr>
        <p:cNvPr id="62" name="Shape 62"/>
        <p:cNvGrpSpPr/>
        <p:nvPr/>
      </p:nvGrpSpPr>
      <p:grpSpPr>
        <a:xfrm>
          <a:off x="0" y="0"/>
          <a:ext cx="0" cy="0"/>
          <a:chOff x="0" y="0"/>
          <a:chExt cx="0" cy="0"/>
        </a:xfrm>
      </p:grpSpPr>
      <p:sp>
        <p:nvSpPr>
          <p:cNvPr id="63" name="Google Shape;63;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1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5" name="Google Shape;65;p1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6" name="Google Shape;66;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ld mit Überschrift" type="picTx">
  <p:cSld name="PICTURE_WITH_CAPTION_TEXT">
    <p:spTree>
      <p:nvGrpSpPr>
        <p:cNvPr id="69" name="Shape 69"/>
        <p:cNvGrpSpPr/>
        <p:nvPr/>
      </p:nvGrpSpPr>
      <p:grpSpPr>
        <a:xfrm>
          <a:off x="0" y="0"/>
          <a:ext cx="0" cy="0"/>
          <a:chOff x="0" y="0"/>
          <a:chExt cx="0" cy="0"/>
        </a:xfrm>
      </p:grpSpPr>
      <p:sp>
        <p:nvSpPr>
          <p:cNvPr id="70" name="Google Shape;70;p1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1" name="Google Shape;71;p11"/>
          <p:cNvSpPr/>
          <p:nvPr>
            <p:ph idx="2" type="pic"/>
          </p:nvPr>
        </p:nvSpPr>
        <p:spPr>
          <a:xfrm>
            <a:off x="5183188" y="987425"/>
            <a:ext cx="6172200" cy="4873625"/>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3200"/>
              <a:buFont typeface="Arial"/>
              <a:buNone/>
              <a:defRPr b="0" i="0" sz="32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800"/>
              <a:buFont typeface="Arial"/>
              <a:buNone/>
              <a:defRPr b="0" i="0" sz="28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400"/>
              <a:buFont typeface="Arial"/>
              <a:buNone/>
              <a:defRPr b="0" i="0" sz="24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Calibri"/>
                <a:ea typeface="Calibri"/>
                <a:cs typeface="Calibri"/>
                <a:sym typeface="Calibri"/>
              </a:defRPr>
            </a:lvl9pPr>
          </a:lstStyle>
          <a:p/>
        </p:txBody>
      </p:sp>
      <p:sp>
        <p:nvSpPr>
          <p:cNvPr id="72" name="Google Shape;72;p1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3" name="Google Shape;73;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und vertikaler Text" type="vertTx">
  <p:cSld name="VERTICAL_TEXT">
    <p:spTree>
      <p:nvGrpSpPr>
        <p:cNvPr id="76" name="Shape 76"/>
        <p:cNvGrpSpPr/>
        <p:nvPr/>
      </p:nvGrpSpPr>
      <p:grpSpPr>
        <a:xfrm>
          <a:off x="0" y="0"/>
          <a:ext cx="0" cy="0"/>
          <a:chOff x="0" y="0"/>
          <a:chExt cx="0" cy="0"/>
        </a:xfrm>
      </p:grpSpPr>
      <p:sp>
        <p:nvSpPr>
          <p:cNvPr id="77" name="Google Shape;77;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 name="Google Shape;78;p12"/>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9" name="Google Shape;79;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kaler Titel und Text" type="vertTitleAndTx">
  <p:cSld name="VERTICAL_TITLE_AND_VERTICAL_TEXT">
    <p:spTree>
      <p:nvGrpSpPr>
        <p:cNvPr id="82" name="Shape 82"/>
        <p:cNvGrpSpPr/>
        <p:nvPr/>
      </p:nvGrpSpPr>
      <p:grpSpPr>
        <a:xfrm>
          <a:off x="0" y="0"/>
          <a:ext cx="0" cy="0"/>
          <a:chOff x="0" y="0"/>
          <a:chExt cx="0" cy="0"/>
        </a:xfrm>
      </p:grpSpPr>
      <p:sp>
        <p:nvSpPr>
          <p:cNvPr id="83" name="Google Shape;83;p13"/>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5" name="Google Shape;85;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de-D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de-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omments" Target="../comments/comment3.xml"/><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omments" Target="../comments/comment4.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comments" Target="../comments/comment5.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istockphoto.com/de/vektor/gear-vektor-symbol-im-comic-stil-zahnrad-cartoon-illustration-auf-wei%C3%9Fem-gm1158099877-31623222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1" name="Shape 91"/>
        <p:cNvGrpSpPr/>
        <p:nvPr/>
      </p:nvGrpSpPr>
      <p:grpSpPr>
        <a:xfrm>
          <a:off x="0" y="0"/>
          <a:ext cx="0" cy="0"/>
          <a:chOff x="0" y="0"/>
          <a:chExt cx="0" cy="0"/>
        </a:xfrm>
      </p:grpSpPr>
      <p:sp>
        <p:nvSpPr>
          <p:cNvPr id="92" name="Google Shape;92;p14"/>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93" name="Google Shape;93;p14"/>
          <p:cNvPicPr preferRelativeResize="0"/>
          <p:nvPr/>
        </p:nvPicPr>
        <p:blipFill rotWithShape="1">
          <a:blip r:embed="rId4">
            <a:alphaModFix/>
          </a:blip>
          <a:srcRect b="0" l="9397" r="10233" t="0"/>
          <a:stretch/>
        </p:blipFill>
        <p:spPr>
          <a:xfrm>
            <a:off x="2522358" y="10"/>
            <a:ext cx="9669642" cy="6857990"/>
          </a:xfrm>
          <a:prstGeom prst="rect">
            <a:avLst/>
          </a:prstGeom>
          <a:noFill/>
          <a:ln>
            <a:noFill/>
          </a:ln>
        </p:spPr>
      </p:pic>
      <p:sp>
        <p:nvSpPr>
          <p:cNvPr id="94" name="Google Shape;94;p14"/>
          <p:cNvSpPr/>
          <p:nvPr/>
        </p:nvSpPr>
        <p:spPr>
          <a:xfrm>
            <a:off x="0" y="0"/>
            <a:ext cx="7066978" cy="6858000"/>
          </a:xfrm>
          <a:prstGeom prst="rect">
            <a:avLst/>
          </a:prstGeom>
          <a:gradFill>
            <a:gsLst>
              <a:gs pos="0">
                <a:srgbClr val="FFFFFF">
                  <a:alpha val="0"/>
                </a:srgbClr>
              </a:gs>
              <a:gs pos="19000">
                <a:srgbClr val="FFFFFF">
                  <a:alpha val="37647"/>
                </a:srgbClr>
              </a:gs>
              <a:gs pos="35000">
                <a:srgbClr val="FFFFFF">
                  <a:alpha val="76862"/>
                </a:srgbClr>
              </a:gs>
              <a:gs pos="48000">
                <a:schemeClr val="lt1"/>
              </a:gs>
              <a:gs pos="100000">
                <a:schemeClr val="lt1"/>
              </a:gs>
            </a:gsLst>
            <a:lin ang="108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4"/>
          <p:cNvSpPr txBox="1"/>
          <p:nvPr>
            <p:ph type="ctrTitle"/>
          </p:nvPr>
        </p:nvSpPr>
        <p:spPr>
          <a:xfrm>
            <a:off x="717336" y="626001"/>
            <a:ext cx="3973385" cy="1907474"/>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200"/>
              <a:buFont typeface="Calibri"/>
              <a:buNone/>
            </a:pPr>
            <a:r>
              <a:rPr lang="de-DE" sz="5200"/>
              <a:t>Customer Journey Maps</a:t>
            </a:r>
            <a:endParaRPr/>
          </a:p>
        </p:txBody>
      </p:sp>
      <p:sp>
        <p:nvSpPr>
          <p:cNvPr id="96" name="Google Shape;96;p14"/>
          <p:cNvSpPr txBox="1"/>
          <p:nvPr>
            <p:ph idx="1" type="subTitle"/>
          </p:nvPr>
        </p:nvSpPr>
        <p:spPr>
          <a:xfrm>
            <a:off x="426608" y="3394358"/>
            <a:ext cx="4690676" cy="3004747"/>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1800"/>
              <a:buNone/>
            </a:pPr>
            <a:r>
              <a:rPr b="0" i="0" lang="de-DE" sz="1800" u="none" strike="noStrike"/>
              <a:t>Die Customer Journey Map (CJM) visuelle Darstellung der User Journey und der Erfahrung bei der Nutzung eines Dienstes oder Bereichs.</a:t>
            </a:r>
            <a:endParaRPr/>
          </a:p>
          <a:p>
            <a:pPr indent="0" lvl="0" marL="0" rtl="0" algn="l">
              <a:lnSpc>
                <a:spcPct val="90000"/>
              </a:lnSpc>
              <a:spcBef>
                <a:spcPts val="1000"/>
              </a:spcBef>
              <a:spcAft>
                <a:spcPts val="0"/>
              </a:spcAft>
              <a:buClr>
                <a:schemeClr val="dk1"/>
              </a:buClr>
              <a:buSzPts val="1800"/>
              <a:buNone/>
            </a:pPr>
            <a:r>
              <a:rPr b="0" i="0" lang="de-DE" sz="1800" u="none" strike="noStrike"/>
              <a:t>Die CJM visualisiert die User Journey von Anfang bis Ende einer Aufgabe, um die verschiedenen Phasen, Schritte und Touchpoints, die ein Benutzer durchlaufen muss, um eine Aufgabe zu erledigen, hervorzuheben und zu verstehen.</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0" name="Shape 100"/>
        <p:cNvGrpSpPr/>
        <p:nvPr/>
      </p:nvGrpSpPr>
      <p:grpSpPr>
        <a:xfrm>
          <a:off x="0" y="0"/>
          <a:ext cx="0" cy="0"/>
          <a:chOff x="0" y="0"/>
          <a:chExt cx="0" cy="0"/>
        </a:xfrm>
      </p:grpSpPr>
      <p:sp>
        <p:nvSpPr>
          <p:cNvPr id="101" name="Google Shape;101;p15"/>
          <p:cNvSpPr txBox="1"/>
          <p:nvPr>
            <p:ph type="ctrTitle"/>
          </p:nvPr>
        </p:nvSpPr>
        <p:spPr>
          <a:xfrm>
            <a:off x="590206" y="1669500"/>
            <a:ext cx="3505495" cy="162232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3700"/>
              <a:buFont typeface="Calibri"/>
              <a:buNone/>
            </a:pPr>
            <a:r>
              <a:rPr lang="de-DE" sz="3700">
                <a:solidFill>
                  <a:schemeClr val="dk1"/>
                </a:solidFill>
                <a:latin typeface="Calibri"/>
                <a:ea typeface="Calibri"/>
                <a:cs typeface="Calibri"/>
                <a:sym typeface="Calibri"/>
              </a:rPr>
              <a:t>Warum Customer Journey Maps?</a:t>
            </a:r>
            <a:endParaRPr/>
          </a:p>
        </p:txBody>
      </p:sp>
      <p:sp>
        <p:nvSpPr>
          <p:cNvPr id="102" name="Google Shape;102;p15"/>
          <p:cNvSpPr/>
          <p:nvPr/>
        </p:nvSpPr>
        <p:spPr>
          <a:xfrm>
            <a:off x="4639056" y="0"/>
            <a:ext cx="7552944" cy="6858000"/>
          </a:xfrm>
          <a:prstGeom prst="rect">
            <a:avLst/>
          </a:prstGeom>
          <a:solidFill>
            <a:srgbClr val="C8CAC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5"/>
          <p:cNvSpPr txBox="1"/>
          <p:nvPr/>
        </p:nvSpPr>
        <p:spPr>
          <a:xfrm>
            <a:off x="5235777" y="6400800"/>
            <a:ext cx="6357807" cy="3774234"/>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None/>
            </a:pPr>
            <a:r>
              <a:rPr b="0" i="0" lang="de-DE" sz="900" u="none" cap="none" strike="noStrike">
                <a:solidFill>
                  <a:schemeClr val="dk1"/>
                </a:solidFill>
                <a:latin typeface="Arial"/>
                <a:ea typeface="Arial"/>
                <a:cs typeface="Arial"/>
                <a:sym typeface="Arial"/>
              </a:rPr>
              <a:t>[Institut der deutschen Wirtschaft 2021] </a:t>
            </a:r>
            <a:endParaRPr b="0" i="0" sz="2000" u="none" cap="none" strike="noStrike">
              <a:solidFill>
                <a:schemeClr val="dk1"/>
              </a:solidFill>
              <a:latin typeface="Calibri"/>
              <a:ea typeface="Calibri"/>
              <a:cs typeface="Calibri"/>
              <a:sym typeface="Calibri"/>
            </a:endParaRPr>
          </a:p>
        </p:txBody>
      </p:sp>
      <p:sp>
        <p:nvSpPr>
          <p:cNvPr id="104" name="Google Shape;104;p15"/>
          <p:cNvSpPr/>
          <p:nvPr/>
        </p:nvSpPr>
        <p:spPr>
          <a:xfrm>
            <a:off x="5123688" y="557784"/>
            <a:ext cx="6584098" cy="5739187"/>
          </a:xfrm>
          <a:prstGeom prst="roundRect">
            <a:avLst>
              <a:gd fmla="val 0" name="adj"/>
            </a:avLst>
          </a:prstGeom>
          <a:solidFill>
            <a:srgbClr val="FFFFFF"/>
          </a:solidFill>
          <a:ln cap="flat" cmpd="sng" w="9525">
            <a:solidFill>
              <a:srgbClr val="C8CACA"/>
            </a:solidFill>
            <a:prstDash val="solid"/>
            <a:miter lim="800000"/>
            <a:headEnd len="sm" w="sm" type="none"/>
            <a:tailEnd len="sm" w="sm" type="none"/>
          </a:ln>
          <a:effectLst>
            <a:outerShdw blurRad="57150" rotWithShape="0" algn="t" dir="5400000" dist="19050">
              <a:srgbClr val="000000">
                <a:alpha val="62745"/>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105" name="Google Shape;105;p15"/>
          <p:cNvPicPr preferRelativeResize="0"/>
          <p:nvPr/>
        </p:nvPicPr>
        <p:blipFill rotWithShape="1">
          <a:blip r:embed="rId4">
            <a:alphaModFix/>
          </a:blip>
          <a:srcRect b="0" l="0" r="0" t="0"/>
          <a:stretch/>
        </p:blipFill>
        <p:spPr>
          <a:xfrm>
            <a:off x="5405862" y="1049741"/>
            <a:ext cx="6019331" cy="475527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0" name="Shape 110"/>
        <p:cNvGrpSpPr/>
        <p:nvPr/>
      </p:nvGrpSpPr>
      <p:grpSpPr>
        <a:xfrm>
          <a:off x="0" y="0"/>
          <a:ext cx="0" cy="0"/>
          <a:chOff x="0" y="0"/>
          <a:chExt cx="0" cy="0"/>
        </a:xfrm>
      </p:grpSpPr>
      <p:sp>
        <p:nvSpPr>
          <p:cNvPr id="111" name="Google Shape;111;p16"/>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2" name="Google Shape;112;p16"/>
          <p:cNvSpPr txBox="1"/>
          <p:nvPr>
            <p:ph type="title"/>
          </p:nvPr>
        </p:nvSpPr>
        <p:spPr>
          <a:xfrm>
            <a:off x="838199" y="537883"/>
            <a:ext cx="4783697" cy="194281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4000"/>
              <a:buFont typeface="Calibri"/>
              <a:buNone/>
            </a:pPr>
            <a:r>
              <a:rPr lang="de-DE" sz="4000"/>
              <a:t>Ziel einer Customer Journey Map</a:t>
            </a:r>
            <a:endParaRPr/>
          </a:p>
        </p:txBody>
      </p:sp>
      <p:sp>
        <p:nvSpPr>
          <p:cNvPr id="113" name="Google Shape;113;p16"/>
          <p:cNvSpPr txBox="1"/>
          <p:nvPr>
            <p:ph idx="1" type="body"/>
          </p:nvPr>
        </p:nvSpPr>
        <p:spPr>
          <a:xfrm>
            <a:off x="838199" y="2686323"/>
            <a:ext cx="4783697" cy="3433583"/>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1700"/>
              <a:buNone/>
            </a:pPr>
            <a:r>
              <a:t/>
            </a:r>
            <a:endParaRPr sz="1700"/>
          </a:p>
          <a:p>
            <a:pPr indent="-228600" lvl="0" marL="228600" rtl="0" algn="l">
              <a:lnSpc>
                <a:spcPct val="90000"/>
              </a:lnSpc>
              <a:spcBef>
                <a:spcPts val="1000"/>
              </a:spcBef>
              <a:spcAft>
                <a:spcPts val="0"/>
              </a:spcAft>
              <a:buClr>
                <a:schemeClr val="dk1"/>
              </a:buClr>
              <a:buSzPts val="1700"/>
              <a:buChar char="•"/>
            </a:pPr>
            <a:r>
              <a:rPr lang="de-DE" sz="1700"/>
              <a:t>Analyse welche Berührungspunkte mit dem Produkt besonders ausschlaggebend für den Kauf/die Nutzung waren </a:t>
            </a:r>
            <a:endParaRPr/>
          </a:p>
          <a:p>
            <a:pPr indent="-120650" lvl="0" marL="228600" rtl="0" algn="l">
              <a:lnSpc>
                <a:spcPct val="90000"/>
              </a:lnSpc>
              <a:spcBef>
                <a:spcPts val="1000"/>
              </a:spcBef>
              <a:spcAft>
                <a:spcPts val="0"/>
              </a:spcAft>
              <a:buClr>
                <a:schemeClr val="dk1"/>
              </a:buClr>
              <a:buSzPts val="1700"/>
              <a:buNone/>
            </a:pPr>
            <a:r>
              <a:t/>
            </a:r>
            <a:endParaRPr sz="1700"/>
          </a:p>
          <a:p>
            <a:pPr indent="-228600" lvl="0" marL="228600" rtl="0" algn="l">
              <a:lnSpc>
                <a:spcPct val="90000"/>
              </a:lnSpc>
              <a:spcBef>
                <a:spcPts val="1000"/>
              </a:spcBef>
              <a:spcAft>
                <a:spcPts val="0"/>
              </a:spcAft>
              <a:buClr>
                <a:schemeClr val="dk1"/>
              </a:buClr>
              <a:buSzPts val="1700"/>
              <a:buChar char="•"/>
            </a:pPr>
            <a:r>
              <a:rPr lang="de-DE" sz="1700"/>
              <a:t>Möglichkeit die Wirkung verschiedener Kanäle aufeinander zu observieren </a:t>
            </a:r>
            <a:endParaRPr/>
          </a:p>
          <a:p>
            <a:pPr indent="-120650" lvl="0" marL="228600" rtl="0" algn="l">
              <a:lnSpc>
                <a:spcPct val="90000"/>
              </a:lnSpc>
              <a:spcBef>
                <a:spcPts val="1000"/>
              </a:spcBef>
              <a:spcAft>
                <a:spcPts val="0"/>
              </a:spcAft>
              <a:buClr>
                <a:schemeClr val="dk1"/>
              </a:buClr>
              <a:buSzPts val="1700"/>
              <a:buNone/>
            </a:pPr>
            <a:r>
              <a:t/>
            </a:r>
            <a:endParaRPr sz="1700"/>
          </a:p>
          <a:p>
            <a:pPr indent="-228600" lvl="0" marL="228600" rtl="0" algn="l">
              <a:lnSpc>
                <a:spcPct val="90000"/>
              </a:lnSpc>
              <a:spcBef>
                <a:spcPts val="1000"/>
              </a:spcBef>
              <a:spcAft>
                <a:spcPts val="0"/>
              </a:spcAft>
              <a:buClr>
                <a:schemeClr val="dk1"/>
              </a:buClr>
              <a:buSzPts val="1700"/>
              <a:buChar char="•"/>
            </a:pPr>
            <a:r>
              <a:rPr lang="de-DE" sz="1700"/>
              <a:t>Gewinnung von Erkenntnissen über das Verhalten und die Präferenzen der Zielgruppe bezüglich der Nutzung und Reaktionen auf Werbung gewonnen</a:t>
            </a:r>
            <a:endParaRPr/>
          </a:p>
        </p:txBody>
      </p:sp>
      <p:pic>
        <p:nvPicPr>
          <p:cNvPr descr="Ein Bild, das Pfeil enthält.&#10;&#10;Automatisch generierte Beschreibung" id="114" name="Google Shape;114;p16"/>
          <p:cNvPicPr preferRelativeResize="0"/>
          <p:nvPr/>
        </p:nvPicPr>
        <p:blipFill rotWithShape="1">
          <a:blip r:embed="rId4">
            <a:alphaModFix/>
          </a:blip>
          <a:srcRect b="0" l="0" r="0" t="0"/>
          <a:stretch/>
        </p:blipFill>
        <p:spPr>
          <a:xfrm>
            <a:off x="5988424" y="2211106"/>
            <a:ext cx="5706413" cy="237767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9" name="Shape 119"/>
        <p:cNvGrpSpPr/>
        <p:nvPr/>
      </p:nvGrpSpPr>
      <p:grpSpPr>
        <a:xfrm>
          <a:off x="0" y="0"/>
          <a:ext cx="0" cy="0"/>
          <a:chOff x="0" y="0"/>
          <a:chExt cx="0" cy="0"/>
        </a:xfrm>
      </p:grpSpPr>
      <p:sp>
        <p:nvSpPr>
          <p:cNvPr id="120" name="Google Shape;120;p17"/>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21" name="Google Shape;121;p17"/>
          <p:cNvSpPr txBox="1"/>
          <p:nvPr>
            <p:ph type="title"/>
          </p:nvPr>
        </p:nvSpPr>
        <p:spPr>
          <a:xfrm>
            <a:off x="838199" y="573741"/>
            <a:ext cx="3785554" cy="2199341"/>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4000"/>
              <a:buFont typeface="Calibri"/>
              <a:buNone/>
            </a:pPr>
            <a:r>
              <a:rPr lang="de-DE" sz="4000"/>
              <a:t>Aktueller Einsatz in der Industrie</a:t>
            </a:r>
            <a:endParaRPr/>
          </a:p>
        </p:txBody>
      </p:sp>
      <p:sp>
        <p:nvSpPr>
          <p:cNvPr id="122" name="Google Shape;122;p17"/>
          <p:cNvSpPr txBox="1"/>
          <p:nvPr>
            <p:ph idx="1" type="body"/>
          </p:nvPr>
        </p:nvSpPr>
        <p:spPr>
          <a:xfrm>
            <a:off x="838199" y="2982260"/>
            <a:ext cx="3748441" cy="31496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Char char="•"/>
            </a:pPr>
            <a:r>
              <a:rPr lang="de-DE" sz="2000"/>
              <a:t>Datengetriebene Analyse der Kunden nimmt in der Industrie immer weiter zu</a:t>
            </a:r>
            <a:endParaRPr/>
          </a:p>
          <a:p>
            <a:pPr indent="0" lvl="0" marL="0" rtl="0" algn="l">
              <a:lnSpc>
                <a:spcPct val="90000"/>
              </a:lnSpc>
              <a:spcBef>
                <a:spcPts val="1000"/>
              </a:spcBef>
              <a:spcAft>
                <a:spcPts val="0"/>
              </a:spcAft>
              <a:buClr>
                <a:schemeClr val="dk1"/>
              </a:buClr>
              <a:buSzPts val="2000"/>
              <a:buNone/>
            </a:pPr>
            <a:r>
              <a:t/>
            </a:r>
            <a:endParaRPr sz="2000"/>
          </a:p>
          <a:p>
            <a:pPr indent="-228600" lvl="0" marL="228600" rtl="0" algn="l">
              <a:lnSpc>
                <a:spcPct val="90000"/>
              </a:lnSpc>
              <a:spcBef>
                <a:spcPts val="1000"/>
              </a:spcBef>
              <a:spcAft>
                <a:spcPts val="0"/>
              </a:spcAft>
              <a:buClr>
                <a:schemeClr val="dk1"/>
              </a:buClr>
              <a:buSzPts val="2000"/>
              <a:buChar char="•"/>
            </a:pPr>
            <a:r>
              <a:rPr lang="de-DE" sz="2000"/>
              <a:t>Zusätzlich erlauben verschiedenste digitale Kanäle der Industrie Daten auf unterschiedle Weise zu sammeln und zu verbreiten</a:t>
            </a:r>
            <a:endParaRPr/>
          </a:p>
        </p:txBody>
      </p:sp>
      <p:pic>
        <p:nvPicPr>
          <p:cNvPr id="123" name="Google Shape;123;p17"/>
          <p:cNvPicPr preferRelativeResize="0"/>
          <p:nvPr/>
        </p:nvPicPr>
        <p:blipFill rotWithShape="1">
          <a:blip r:embed="rId3">
            <a:alphaModFix/>
          </a:blip>
          <a:srcRect b="0" l="0" r="0" t="0"/>
          <a:stretch/>
        </p:blipFill>
        <p:spPr>
          <a:xfrm>
            <a:off x="4991801" y="1838500"/>
            <a:ext cx="6362000" cy="3181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Calibri"/>
              <a:buNone/>
            </a:pPr>
            <a:r>
              <a:rPr lang="de-DE"/>
              <a:t>Bestandteile einer CJM</a:t>
            </a:r>
            <a:endParaRPr/>
          </a:p>
        </p:txBody>
      </p:sp>
      <p:sp>
        <p:nvSpPr>
          <p:cNvPr id="130" name="Google Shape;130;p18"/>
          <p:cNvSpPr txBox="1"/>
          <p:nvPr/>
        </p:nvSpPr>
        <p:spPr>
          <a:xfrm>
            <a:off x="218900" y="6488668"/>
            <a:ext cx="1038225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e-DE" sz="1000" u="none" cap="none" strike="noStrike">
                <a:solidFill>
                  <a:schemeClr val="dk1"/>
                </a:solidFill>
                <a:latin typeface="Arial"/>
                <a:ea typeface="Arial"/>
                <a:cs typeface="Arial"/>
                <a:sym typeface="Arial"/>
              </a:rPr>
              <a:t>[Haugstveitet al.2016]</a:t>
            </a:r>
            <a:br>
              <a:rPr b="0" i="0" lang="de-DE" sz="1800" u="none" cap="none" strike="noStrike">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p:txBody>
      </p:sp>
      <p:pic>
        <p:nvPicPr>
          <p:cNvPr id="131" name="Google Shape;131;p18"/>
          <p:cNvPicPr preferRelativeResize="0"/>
          <p:nvPr/>
        </p:nvPicPr>
        <p:blipFill rotWithShape="1">
          <a:blip r:embed="rId4">
            <a:alphaModFix/>
          </a:blip>
          <a:srcRect b="0" l="0" r="0" t="0"/>
          <a:stretch/>
        </p:blipFill>
        <p:spPr>
          <a:xfrm>
            <a:off x="1982992" y="1516388"/>
            <a:ext cx="8226016" cy="507934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Calibri"/>
              <a:buNone/>
            </a:pPr>
            <a:r>
              <a:rPr lang="de-DE"/>
              <a:t>Bestandteile einer CJM</a:t>
            </a:r>
            <a:endParaRPr/>
          </a:p>
        </p:txBody>
      </p:sp>
      <p:pic>
        <p:nvPicPr>
          <p:cNvPr id="138" name="Google Shape;138;p19"/>
          <p:cNvPicPr preferRelativeResize="0"/>
          <p:nvPr/>
        </p:nvPicPr>
        <p:blipFill rotWithShape="1">
          <a:blip r:embed="rId3">
            <a:alphaModFix/>
          </a:blip>
          <a:srcRect b="0" l="0" r="0" t="0"/>
          <a:stretch/>
        </p:blipFill>
        <p:spPr>
          <a:xfrm>
            <a:off x="1515041" y="1796663"/>
            <a:ext cx="8792802" cy="4086795"/>
          </a:xfrm>
          <a:prstGeom prst="rect">
            <a:avLst/>
          </a:prstGeom>
          <a:noFill/>
          <a:ln>
            <a:noFill/>
          </a:ln>
        </p:spPr>
      </p:pic>
      <p:sp>
        <p:nvSpPr>
          <p:cNvPr id="139" name="Google Shape;139;p19"/>
          <p:cNvSpPr txBox="1"/>
          <p:nvPr/>
        </p:nvSpPr>
        <p:spPr>
          <a:xfrm>
            <a:off x="218900" y="6488668"/>
            <a:ext cx="1038225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de-DE" sz="1000">
                <a:solidFill>
                  <a:schemeClr val="dk1"/>
                </a:solidFill>
                <a:latin typeface="Arial"/>
                <a:ea typeface="Arial"/>
                <a:cs typeface="Arial"/>
                <a:sym typeface="Arial"/>
              </a:rPr>
              <a:t>[Haugstveitet al.2016]</a:t>
            </a:r>
            <a:br>
              <a:rPr lang="de-DE" sz="1800">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0"/>
          <p:cNvSpPr txBox="1"/>
          <p:nvPr>
            <p:ph type="title"/>
          </p:nvPr>
        </p:nvSpPr>
        <p:spPr>
          <a:xfrm>
            <a:off x="415600" y="593367"/>
            <a:ext cx="11360800" cy="763600"/>
          </a:xfrm>
          <a:prstGeom prst="rect">
            <a:avLst/>
          </a:prstGeom>
          <a:noFill/>
          <a:ln>
            <a:noFill/>
          </a:ln>
        </p:spPr>
        <p:txBody>
          <a:bodyPr anchorCtr="0" anchor="t" bIns="121900" lIns="121900" spcFirstLastPara="1" rIns="121900" wrap="square" tIns="121900">
            <a:normAutofit fontScale="90000"/>
          </a:bodyPr>
          <a:lstStyle/>
          <a:p>
            <a:pPr indent="0" lvl="0" marL="0" rtl="0" algn="ctr">
              <a:lnSpc>
                <a:spcPct val="90000"/>
              </a:lnSpc>
              <a:spcBef>
                <a:spcPts val="0"/>
              </a:spcBef>
              <a:spcAft>
                <a:spcPts val="0"/>
              </a:spcAft>
              <a:buClr>
                <a:schemeClr val="dk1"/>
              </a:buClr>
              <a:buSzPct val="70707"/>
              <a:buFont typeface="Calibri"/>
              <a:buNone/>
            </a:pPr>
            <a:r>
              <a:rPr lang="de-DE"/>
              <a:t>Die Phasen - Welche Schritte geht ein Kunde?</a:t>
            </a:r>
            <a:endParaRPr/>
          </a:p>
        </p:txBody>
      </p:sp>
      <p:sp>
        <p:nvSpPr>
          <p:cNvPr id="145" name="Google Shape;145;p20"/>
          <p:cNvSpPr txBox="1"/>
          <p:nvPr>
            <p:ph idx="1" type="body"/>
          </p:nvPr>
        </p:nvSpPr>
        <p:spPr>
          <a:xfrm>
            <a:off x="332567" y="2225100"/>
            <a:ext cx="4690400" cy="3163200"/>
          </a:xfrm>
          <a:prstGeom prst="rect">
            <a:avLst/>
          </a:prstGeom>
          <a:noFill/>
          <a:ln>
            <a:noFill/>
          </a:ln>
        </p:spPr>
        <p:txBody>
          <a:bodyPr anchorCtr="0" anchor="t" bIns="121900" lIns="121900" spcFirstLastPara="1" rIns="121900" wrap="square" tIns="121900">
            <a:normAutofit fontScale="92500" lnSpcReduction="20000"/>
          </a:bodyPr>
          <a:lstStyle/>
          <a:p>
            <a:pPr indent="0" lvl="0" marL="0" rtl="0" algn="l">
              <a:lnSpc>
                <a:spcPct val="90000"/>
              </a:lnSpc>
              <a:spcBef>
                <a:spcPts val="0"/>
              </a:spcBef>
              <a:spcAft>
                <a:spcPts val="0"/>
              </a:spcAft>
              <a:buClr>
                <a:schemeClr val="dk1"/>
              </a:buClr>
              <a:buSzPct val="132647"/>
              <a:buNone/>
            </a:pPr>
            <a:r>
              <a:rPr lang="de-DE" sz="1467">
                <a:solidFill>
                  <a:schemeClr val="dk1"/>
                </a:solidFill>
              </a:rPr>
              <a:t>Phasen: </a:t>
            </a:r>
            <a:br>
              <a:rPr lang="de-DE" sz="1467">
                <a:solidFill>
                  <a:schemeClr val="dk1"/>
                </a:solidFill>
              </a:rPr>
            </a:br>
            <a:r>
              <a:rPr lang="de-DE" sz="1467">
                <a:solidFill>
                  <a:schemeClr val="dk1"/>
                </a:solidFill>
              </a:rPr>
              <a:t>Pre-Touch, First Touch, Core Touch, Last Touch in Touch </a:t>
            </a:r>
            <a:endParaRPr sz="1467">
              <a:solidFill>
                <a:schemeClr val="dk1"/>
              </a:solidFill>
            </a:endParaRPr>
          </a:p>
          <a:p>
            <a:pPr indent="0" lvl="0" marL="0" rtl="0" algn="l">
              <a:lnSpc>
                <a:spcPct val="90000"/>
              </a:lnSpc>
              <a:spcBef>
                <a:spcPts val="1600"/>
              </a:spcBef>
              <a:spcAft>
                <a:spcPts val="0"/>
              </a:spcAft>
              <a:buClr>
                <a:schemeClr val="dk1"/>
              </a:buClr>
              <a:buSzPct val="132647"/>
              <a:buNone/>
            </a:pPr>
            <a:r>
              <a:rPr lang="de-DE" sz="1467">
                <a:solidFill>
                  <a:schemeClr val="dk1"/>
                </a:solidFill>
              </a:rPr>
              <a:t>Feelings:</a:t>
            </a:r>
            <a:br>
              <a:rPr lang="de-DE" sz="1467">
                <a:solidFill>
                  <a:schemeClr val="dk1"/>
                </a:solidFill>
              </a:rPr>
            </a:br>
            <a:r>
              <a:rPr lang="de-DE" sz="1467">
                <a:solidFill>
                  <a:schemeClr val="dk1"/>
                </a:solidFill>
              </a:rPr>
              <a:t>Eine Form der Gewichtung der Touchpoints</a:t>
            </a:r>
            <a:endParaRPr sz="1467">
              <a:solidFill>
                <a:schemeClr val="dk1"/>
              </a:solidFill>
            </a:endParaRPr>
          </a:p>
          <a:p>
            <a:pPr indent="0" lvl="0" marL="0" rtl="0" algn="l">
              <a:lnSpc>
                <a:spcPct val="90000"/>
              </a:lnSpc>
              <a:spcBef>
                <a:spcPts val="1600"/>
              </a:spcBef>
              <a:spcAft>
                <a:spcPts val="0"/>
              </a:spcAft>
              <a:buClr>
                <a:schemeClr val="dk1"/>
              </a:buClr>
              <a:buSzPct val="132647"/>
              <a:buNone/>
            </a:pPr>
            <a:r>
              <a:rPr lang="de-DE" sz="1467">
                <a:solidFill>
                  <a:schemeClr val="dk1"/>
                </a:solidFill>
              </a:rPr>
              <a:t>Channels:</a:t>
            </a:r>
            <a:br>
              <a:rPr lang="de-DE" sz="1467">
                <a:solidFill>
                  <a:schemeClr val="dk1"/>
                </a:solidFill>
              </a:rPr>
            </a:br>
            <a:r>
              <a:rPr lang="de-DE" sz="1467">
                <a:solidFill>
                  <a:schemeClr val="dk1"/>
                </a:solidFill>
              </a:rPr>
              <a:t>Die Form der Interaktion mit dem Unternehmen</a:t>
            </a:r>
            <a:endParaRPr sz="1467">
              <a:solidFill>
                <a:schemeClr val="dk1"/>
              </a:solidFill>
            </a:endParaRPr>
          </a:p>
          <a:p>
            <a:pPr indent="0" lvl="0" marL="0" rtl="0" algn="l">
              <a:lnSpc>
                <a:spcPct val="90000"/>
              </a:lnSpc>
              <a:spcBef>
                <a:spcPts val="1600"/>
              </a:spcBef>
              <a:spcAft>
                <a:spcPts val="1600"/>
              </a:spcAft>
              <a:buClr>
                <a:schemeClr val="dk1"/>
              </a:buClr>
              <a:buSzPct val="132647"/>
              <a:buNone/>
            </a:pPr>
            <a:r>
              <a:rPr lang="de-DE" sz="1467">
                <a:solidFill>
                  <a:schemeClr val="dk1"/>
                </a:solidFill>
              </a:rPr>
              <a:t>Doing &amp; Saying:</a:t>
            </a:r>
            <a:br>
              <a:rPr lang="de-DE" sz="1467">
                <a:solidFill>
                  <a:schemeClr val="dk1"/>
                </a:solidFill>
              </a:rPr>
            </a:br>
            <a:r>
              <a:rPr lang="de-DE" sz="1467">
                <a:solidFill>
                  <a:schemeClr val="dk1"/>
                </a:solidFill>
              </a:rPr>
              <a:t>Beschreibung dessen was der Kunde bei der jeweiligen Interaktion denkt</a:t>
            </a:r>
            <a:br>
              <a:rPr lang="de-DE" sz="1467">
                <a:solidFill>
                  <a:schemeClr val="dk1"/>
                </a:solidFill>
              </a:rPr>
            </a:br>
            <a:br>
              <a:rPr lang="de-DE" sz="1467">
                <a:solidFill>
                  <a:schemeClr val="dk1"/>
                </a:solidFill>
              </a:rPr>
            </a:br>
            <a:r>
              <a:rPr lang="de-DE" sz="1467">
                <a:solidFill>
                  <a:schemeClr val="dk1"/>
                </a:solidFill>
              </a:rPr>
              <a:t>Thinking</a:t>
            </a:r>
            <a:r>
              <a:rPr lang="de-DE" sz="1611">
                <a:solidFill>
                  <a:schemeClr val="dk1"/>
                </a:solidFill>
              </a:rPr>
              <a:t>:</a:t>
            </a:r>
            <a:br>
              <a:rPr lang="de-DE" sz="1611">
                <a:solidFill>
                  <a:schemeClr val="dk1"/>
                </a:solidFill>
              </a:rPr>
            </a:br>
            <a:r>
              <a:rPr lang="de-DE" sz="1611">
                <a:solidFill>
                  <a:schemeClr val="dk1"/>
                </a:solidFill>
              </a:rPr>
              <a:t>Was ist der Gedanke des Kunden während der einzelnen Phasen</a:t>
            </a:r>
            <a:endParaRPr sz="1611">
              <a:solidFill>
                <a:schemeClr val="dk1"/>
              </a:solidFill>
            </a:endParaRPr>
          </a:p>
        </p:txBody>
      </p:sp>
      <p:pic>
        <p:nvPicPr>
          <p:cNvPr id="146" name="Google Shape;146;p20"/>
          <p:cNvPicPr preferRelativeResize="0"/>
          <p:nvPr/>
        </p:nvPicPr>
        <p:blipFill rotWithShape="1">
          <a:blip r:embed="rId3">
            <a:alphaModFix/>
          </a:blip>
          <a:srcRect b="0" l="0" r="0" t="0"/>
          <a:stretch/>
        </p:blipFill>
        <p:spPr>
          <a:xfrm>
            <a:off x="5022967" y="1751867"/>
            <a:ext cx="6753435" cy="3518360"/>
          </a:xfrm>
          <a:prstGeom prst="rect">
            <a:avLst/>
          </a:prstGeom>
          <a:noFill/>
          <a:ln>
            <a:noFill/>
          </a:ln>
        </p:spPr>
      </p:pic>
      <p:sp>
        <p:nvSpPr>
          <p:cNvPr id="147" name="Google Shape;147;p20"/>
          <p:cNvSpPr txBox="1"/>
          <p:nvPr/>
        </p:nvSpPr>
        <p:spPr>
          <a:xfrm>
            <a:off x="5060000" y="5250933"/>
            <a:ext cx="6546300" cy="369300"/>
          </a:xfrm>
          <a:prstGeom prst="rect">
            <a:avLst/>
          </a:prstGeom>
          <a:noFill/>
          <a:ln>
            <a:noFill/>
          </a:ln>
        </p:spPr>
        <p:txBody>
          <a:bodyPr anchorCtr="0" anchor="t" bIns="121900" lIns="121900" spcFirstLastPara="1" rIns="121900" wrap="square" tIns="121900">
            <a:spAutoFit/>
          </a:bodyPr>
          <a:lstStyle/>
          <a:p>
            <a:pPr indent="0" lvl="0" marL="0" rtl="0" algn="r">
              <a:spcBef>
                <a:spcPts val="0"/>
              </a:spcBef>
              <a:spcAft>
                <a:spcPts val="0"/>
              </a:spcAft>
              <a:buClr>
                <a:schemeClr val="dk1"/>
              </a:buClr>
              <a:buFont typeface="Arial"/>
              <a:buNone/>
            </a:pPr>
            <a:r>
              <a:rPr lang="de-DE" sz="800">
                <a:solidFill>
                  <a:schemeClr val="dk1"/>
                </a:solidFill>
                <a:latin typeface="Calibri"/>
                <a:ea typeface="Calibri"/>
                <a:cs typeface="Calibri"/>
                <a:sym typeface="Calibri"/>
              </a:rPr>
              <a:t>[</a:t>
            </a:r>
            <a:r>
              <a:rPr lang="de-DE" sz="800">
                <a:solidFill>
                  <a:schemeClr val="dk1"/>
                </a:solidFill>
                <a:highlight>
                  <a:srgbClr val="FFFFFF"/>
                </a:highlight>
                <a:latin typeface="Georgia"/>
                <a:ea typeface="Georgia"/>
                <a:cs typeface="Georgia"/>
                <a:sym typeface="Georgia"/>
              </a:rPr>
              <a:t>Mucz, D., and C. Gareau-Brennan</a:t>
            </a:r>
            <a:r>
              <a:rPr lang="de-DE" sz="800">
                <a:solidFill>
                  <a:schemeClr val="dk1"/>
                </a:solidFill>
                <a:latin typeface="Calibri"/>
                <a:ea typeface="Calibri"/>
                <a:cs typeface="Calibri"/>
                <a:sym typeface="Calibri"/>
              </a:rPr>
              <a:t> al.2019]</a:t>
            </a:r>
            <a:endParaRPr sz="733">
              <a:solidFill>
                <a:schemeClr val="dk1"/>
              </a:solidFill>
              <a:latin typeface="Calibri"/>
              <a:ea typeface="Calibri"/>
              <a:cs typeface="Calibri"/>
              <a:sym typeface="Calibri"/>
            </a:endParaRPr>
          </a:p>
        </p:txBody>
      </p:sp>
      <p:sp>
        <p:nvSpPr>
          <p:cNvPr id="148" name="Google Shape;148;p20"/>
          <p:cNvSpPr txBox="1"/>
          <p:nvPr/>
        </p:nvSpPr>
        <p:spPr>
          <a:xfrm>
            <a:off x="403900" y="5621034"/>
            <a:ext cx="4064400" cy="984845"/>
          </a:xfrm>
          <a:prstGeom prst="rect">
            <a:avLst/>
          </a:prstGeom>
          <a:noFill/>
          <a:ln>
            <a:noFill/>
          </a:ln>
        </p:spPr>
        <p:txBody>
          <a:bodyPr anchorCtr="0" anchor="t" bIns="121900" lIns="121900" spcFirstLastPara="1" rIns="121900" wrap="square" tIns="121900">
            <a:spAutoFit/>
          </a:bodyPr>
          <a:lstStyle/>
          <a:p>
            <a:pPr indent="0" lvl="0" marL="0" marR="0" rtl="0" algn="l">
              <a:spcBef>
                <a:spcPts val="0"/>
              </a:spcBef>
              <a:spcAft>
                <a:spcPts val="0"/>
              </a:spcAft>
              <a:buNone/>
            </a:pPr>
            <a:r>
              <a:rPr lang="de-DE" sz="2400" u="sng">
                <a:solidFill>
                  <a:schemeClr val="dk1"/>
                </a:solidFill>
                <a:latin typeface="Calibri"/>
                <a:ea typeface="Calibri"/>
                <a:cs typeface="Calibri"/>
                <a:sym typeface="Calibri"/>
              </a:rPr>
              <a:t>Nur eine von vielen möglichen Repräsentation!!!</a:t>
            </a:r>
            <a:endParaRPr sz="2400" u="sng">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1"/>
          <p:cNvSpPr txBox="1"/>
          <p:nvPr>
            <p:ph type="title"/>
          </p:nvPr>
        </p:nvSpPr>
        <p:spPr>
          <a:xfrm>
            <a:off x="415600" y="593367"/>
            <a:ext cx="11360800" cy="763600"/>
          </a:xfrm>
          <a:prstGeom prst="rect">
            <a:avLst/>
          </a:prstGeom>
          <a:noFill/>
          <a:ln>
            <a:noFill/>
          </a:ln>
        </p:spPr>
        <p:txBody>
          <a:bodyPr anchorCtr="0" anchor="t" bIns="121900" lIns="121900" spcFirstLastPara="1" rIns="121900" wrap="square" tIns="121900">
            <a:normAutofit fontScale="90000"/>
          </a:bodyPr>
          <a:lstStyle/>
          <a:p>
            <a:pPr indent="0" lvl="0" marL="0" rtl="0" algn="ctr">
              <a:lnSpc>
                <a:spcPct val="90000"/>
              </a:lnSpc>
              <a:spcBef>
                <a:spcPts val="0"/>
              </a:spcBef>
              <a:spcAft>
                <a:spcPts val="0"/>
              </a:spcAft>
              <a:buClr>
                <a:schemeClr val="dk1"/>
              </a:buClr>
              <a:buSzPct val="70707"/>
              <a:buFont typeface="Calibri"/>
              <a:buNone/>
            </a:pPr>
            <a:r>
              <a:rPr lang="de-DE"/>
              <a:t>Andere Beispiele</a:t>
            </a:r>
            <a:endParaRPr/>
          </a:p>
        </p:txBody>
      </p:sp>
      <p:pic>
        <p:nvPicPr>
          <p:cNvPr id="154" name="Google Shape;154;p21"/>
          <p:cNvPicPr preferRelativeResize="0"/>
          <p:nvPr/>
        </p:nvPicPr>
        <p:blipFill rotWithShape="1">
          <a:blip r:embed="rId3">
            <a:alphaModFix/>
          </a:blip>
          <a:srcRect b="0" l="0" r="0" t="0"/>
          <a:stretch/>
        </p:blipFill>
        <p:spPr>
          <a:xfrm>
            <a:off x="6225601" y="1356967"/>
            <a:ext cx="5550801" cy="4163099"/>
          </a:xfrm>
          <a:prstGeom prst="rect">
            <a:avLst/>
          </a:prstGeom>
          <a:noFill/>
          <a:ln>
            <a:noFill/>
          </a:ln>
        </p:spPr>
      </p:pic>
      <p:pic>
        <p:nvPicPr>
          <p:cNvPr id="155" name="Google Shape;155;p21"/>
          <p:cNvPicPr preferRelativeResize="0"/>
          <p:nvPr/>
        </p:nvPicPr>
        <p:blipFill rotWithShape="1">
          <a:blip r:embed="rId4">
            <a:alphaModFix/>
          </a:blip>
          <a:srcRect b="0" l="0" r="0" t="0"/>
          <a:stretch/>
        </p:blipFill>
        <p:spPr>
          <a:xfrm>
            <a:off x="415600" y="2694901"/>
            <a:ext cx="4848933" cy="361613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415600" y="593367"/>
            <a:ext cx="11360800" cy="763600"/>
          </a:xfrm>
          <a:prstGeom prst="rect">
            <a:avLst/>
          </a:prstGeom>
          <a:noFill/>
          <a:ln>
            <a:noFill/>
          </a:ln>
        </p:spPr>
        <p:txBody>
          <a:bodyPr anchorCtr="0" anchor="t" bIns="121900" lIns="121900" spcFirstLastPara="1" rIns="121900" wrap="square" tIns="121900">
            <a:normAutofit fontScale="90000"/>
          </a:bodyPr>
          <a:lstStyle/>
          <a:p>
            <a:pPr indent="0" lvl="0" marL="0" rtl="0" algn="ctr">
              <a:lnSpc>
                <a:spcPct val="90000"/>
              </a:lnSpc>
              <a:spcBef>
                <a:spcPts val="0"/>
              </a:spcBef>
              <a:spcAft>
                <a:spcPts val="0"/>
              </a:spcAft>
              <a:buClr>
                <a:schemeClr val="dk1"/>
              </a:buClr>
              <a:buSzPct val="70707"/>
              <a:buFont typeface="Calibri"/>
              <a:buNone/>
            </a:pPr>
            <a:r>
              <a:rPr lang="de-DE"/>
              <a:t>Design Thinking und Customer Journey Map</a:t>
            </a:r>
            <a:endParaRPr/>
          </a:p>
        </p:txBody>
      </p:sp>
      <p:sp>
        <p:nvSpPr>
          <p:cNvPr id="161" name="Google Shape;161;p22"/>
          <p:cNvSpPr txBox="1"/>
          <p:nvPr>
            <p:ph idx="1" type="body"/>
          </p:nvPr>
        </p:nvSpPr>
        <p:spPr>
          <a:xfrm>
            <a:off x="663175" y="2409192"/>
            <a:ext cx="5407500" cy="2039700"/>
          </a:xfrm>
          <a:prstGeom prst="rect">
            <a:avLst/>
          </a:prstGeom>
          <a:noFill/>
          <a:ln>
            <a:noFill/>
          </a:ln>
        </p:spPr>
        <p:txBody>
          <a:bodyPr anchorCtr="0" anchor="t" bIns="121900" lIns="121900" spcFirstLastPara="1" rIns="121900" wrap="square" tIns="121900">
            <a:normAutofit lnSpcReduction="20000"/>
          </a:bodyPr>
          <a:lstStyle/>
          <a:p>
            <a:pPr indent="0" lvl="0" marL="0" rtl="0" algn="l">
              <a:lnSpc>
                <a:spcPct val="90000"/>
              </a:lnSpc>
              <a:spcBef>
                <a:spcPts val="0"/>
              </a:spcBef>
              <a:spcAft>
                <a:spcPts val="1600"/>
              </a:spcAft>
              <a:buClr>
                <a:schemeClr val="dk1"/>
              </a:buClr>
              <a:buSzPts val="2118"/>
              <a:buNone/>
            </a:pPr>
            <a:r>
              <a:rPr lang="de-DE">
                <a:solidFill>
                  <a:schemeClr val="dk1"/>
                </a:solidFill>
              </a:rPr>
              <a:t>Customer Journey Map</a:t>
            </a:r>
            <a:br>
              <a:rPr lang="de-DE">
                <a:solidFill>
                  <a:schemeClr val="dk1"/>
                </a:solidFill>
              </a:rPr>
            </a:br>
            <a:r>
              <a:rPr lang="de-DE">
                <a:solidFill>
                  <a:schemeClr val="dk1"/>
                </a:solidFill>
              </a:rPr>
              <a:t>	-Kunden Verstehen</a:t>
            </a:r>
            <a:br>
              <a:rPr lang="de-DE">
                <a:solidFill>
                  <a:schemeClr val="dk1"/>
                </a:solidFill>
              </a:rPr>
            </a:br>
            <a:r>
              <a:rPr lang="de-DE">
                <a:solidFill>
                  <a:schemeClr val="dk1"/>
                </a:solidFill>
              </a:rPr>
              <a:t>	-Prozess Anpassen</a:t>
            </a:r>
            <a:br>
              <a:rPr lang="de-DE">
                <a:solidFill>
                  <a:schemeClr val="dk1"/>
                </a:solidFill>
              </a:rPr>
            </a:br>
            <a:r>
              <a:rPr lang="de-DE">
                <a:solidFill>
                  <a:schemeClr val="dk1"/>
                </a:solidFill>
              </a:rPr>
              <a:t>	-Erfahrung Verbessern</a:t>
            </a:r>
            <a:br>
              <a:rPr lang="de-DE">
                <a:solidFill>
                  <a:schemeClr val="dk1"/>
                </a:solidFill>
              </a:rPr>
            </a:br>
            <a:r>
              <a:rPr lang="de-DE">
                <a:solidFill>
                  <a:schemeClr val="dk1"/>
                </a:solidFill>
              </a:rPr>
              <a:t>	-Flexible/Präzise einsatzmöglichkeit</a:t>
            </a:r>
            <a:endParaRPr>
              <a:solidFill>
                <a:schemeClr val="dk1"/>
              </a:solidFill>
            </a:endParaRPr>
          </a:p>
        </p:txBody>
      </p:sp>
      <p:pic>
        <p:nvPicPr>
          <p:cNvPr id="162" name="Google Shape;162;p22"/>
          <p:cNvPicPr preferRelativeResize="0"/>
          <p:nvPr/>
        </p:nvPicPr>
        <p:blipFill>
          <a:blip r:embed="rId3">
            <a:alphaModFix/>
          </a:blip>
          <a:stretch>
            <a:fillRect/>
          </a:stretch>
        </p:blipFill>
        <p:spPr>
          <a:xfrm>
            <a:off x="5629450" y="1356976"/>
            <a:ext cx="4446700" cy="44467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7" name="Shape 167"/>
        <p:cNvGrpSpPr/>
        <p:nvPr/>
      </p:nvGrpSpPr>
      <p:grpSpPr>
        <a:xfrm>
          <a:off x="0" y="0"/>
          <a:ext cx="0" cy="0"/>
          <a:chOff x="0" y="0"/>
          <a:chExt cx="0" cy="0"/>
        </a:xfrm>
      </p:grpSpPr>
      <p:sp>
        <p:nvSpPr>
          <p:cNvPr id="168" name="Google Shape;168;p23"/>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9" name="Google Shape;169;p23"/>
          <p:cNvSpPr txBox="1"/>
          <p:nvPr>
            <p:ph type="title"/>
          </p:nvPr>
        </p:nvSpPr>
        <p:spPr>
          <a:xfrm>
            <a:off x="838199" y="573741"/>
            <a:ext cx="3785554" cy="1557063"/>
          </a:xfrm>
          <a:prstGeom prst="rect">
            <a:avLst/>
          </a:prstGeom>
          <a:no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1"/>
              </a:buClr>
              <a:buSzPct val="100000"/>
              <a:buFont typeface="Calibri"/>
              <a:buNone/>
            </a:pPr>
            <a:r>
              <a:rPr lang="de-DE" sz="4000"/>
              <a:t>Methoden zur Erstellung einer CJM</a:t>
            </a:r>
            <a:endParaRPr/>
          </a:p>
        </p:txBody>
      </p:sp>
      <p:sp>
        <p:nvSpPr>
          <p:cNvPr id="170" name="Google Shape;170;p23"/>
          <p:cNvSpPr txBox="1"/>
          <p:nvPr>
            <p:ph idx="1" type="body"/>
          </p:nvPr>
        </p:nvSpPr>
        <p:spPr>
          <a:xfrm>
            <a:off x="771087" y="2704545"/>
            <a:ext cx="3748441" cy="314960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1400"/>
              <a:buChar char="•"/>
            </a:pPr>
            <a:r>
              <a:rPr i="0" lang="de-DE" sz="1400" u="none" strike="noStrike"/>
              <a:t>User Tagebuch</a:t>
            </a:r>
            <a:endParaRPr/>
          </a:p>
          <a:p>
            <a:pPr indent="-228600" lvl="0" marL="228600" rtl="0" algn="l">
              <a:lnSpc>
                <a:spcPct val="90000"/>
              </a:lnSpc>
              <a:spcBef>
                <a:spcPts val="1000"/>
              </a:spcBef>
              <a:spcAft>
                <a:spcPts val="0"/>
              </a:spcAft>
              <a:buClr>
                <a:schemeClr val="dk1"/>
              </a:buClr>
              <a:buSzPts val="1400"/>
              <a:buChar char="•"/>
            </a:pPr>
            <a:r>
              <a:rPr i="0" lang="de-DE" sz="1400" u="none" strike="noStrike"/>
              <a:t>Hierarchischen Aufgaben-Analyse</a:t>
            </a:r>
            <a:endParaRPr/>
          </a:p>
          <a:p>
            <a:pPr indent="-228600" lvl="0" marL="228600" rtl="0" algn="l">
              <a:lnSpc>
                <a:spcPct val="90000"/>
              </a:lnSpc>
              <a:spcBef>
                <a:spcPts val="1000"/>
              </a:spcBef>
              <a:spcAft>
                <a:spcPts val="0"/>
              </a:spcAft>
              <a:buClr>
                <a:schemeClr val="dk1"/>
              </a:buClr>
              <a:buSzPts val="1400"/>
              <a:buChar char="•"/>
            </a:pPr>
            <a:r>
              <a:rPr lang="de-DE" sz="1400"/>
              <a:t>Fokusgruppen</a:t>
            </a:r>
            <a:endParaRPr b="0" i="0" sz="1400" u="none" strike="noStrike"/>
          </a:p>
          <a:p>
            <a:pPr indent="-228600" lvl="0" marL="228600" rtl="0" algn="l">
              <a:lnSpc>
                <a:spcPct val="90000"/>
              </a:lnSpc>
              <a:spcBef>
                <a:spcPts val="1000"/>
              </a:spcBef>
              <a:spcAft>
                <a:spcPts val="0"/>
              </a:spcAft>
              <a:buClr>
                <a:schemeClr val="dk1"/>
              </a:buClr>
              <a:buSzPts val="1400"/>
              <a:buChar char="•"/>
            </a:pPr>
            <a:r>
              <a:rPr b="0" i="0" lang="de-DE" sz="1400" u="none" strike="noStrike"/>
              <a:t>Individuelle Interviews (Meist Semi-Strukturiert)</a:t>
            </a:r>
            <a:endParaRPr/>
          </a:p>
          <a:p>
            <a:pPr indent="-228600" lvl="0" marL="228600" rtl="0" algn="l">
              <a:lnSpc>
                <a:spcPct val="90000"/>
              </a:lnSpc>
              <a:spcBef>
                <a:spcPts val="1000"/>
              </a:spcBef>
              <a:spcAft>
                <a:spcPts val="0"/>
              </a:spcAft>
              <a:buClr>
                <a:schemeClr val="dk1"/>
              </a:buClr>
              <a:buSzPts val="1400"/>
              <a:buChar char="•"/>
            </a:pPr>
            <a:r>
              <a:rPr b="0" i="0" lang="de-DE" sz="1400" u="none" strike="noStrike"/>
              <a:t>Beobachtung</a:t>
            </a:r>
            <a:endParaRPr/>
          </a:p>
          <a:p>
            <a:pPr indent="0" lvl="0" marL="0" rtl="0" algn="l">
              <a:lnSpc>
                <a:spcPct val="90000"/>
              </a:lnSpc>
              <a:spcBef>
                <a:spcPts val="1000"/>
              </a:spcBef>
              <a:spcAft>
                <a:spcPts val="0"/>
              </a:spcAft>
              <a:buClr>
                <a:schemeClr val="dk1"/>
              </a:buClr>
              <a:buSzPts val="1400"/>
              <a:buNone/>
            </a:pPr>
            <a:r>
              <a:t/>
            </a:r>
            <a:endParaRPr b="0" i="0" sz="1400" u="none" strike="noStrike"/>
          </a:p>
          <a:p>
            <a:pPr indent="-139700" lvl="0" marL="228600" rtl="0" algn="l">
              <a:lnSpc>
                <a:spcPct val="90000"/>
              </a:lnSpc>
              <a:spcBef>
                <a:spcPts val="1000"/>
              </a:spcBef>
              <a:spcAft>
                <a:spcPts val="0"/>
              </a:spcAft>
              <a:buClr>
                <a:schemeClr val="dk1"/>
              </a:buClr>
              <a:buSzPts val="1400"/>
              <a:buNone/>
            </a:pPr>
            <a:r>
              <a:t/>
            </a:r>
            <a:endParaRPr sz="1400"/>
          </a:p>
        </p:txBody>
      </p:sp>
      <p:pic>
        <p:nvPicPr>
          <p:cNvPr id="171" name="Google Shape;171;p23"/>
          <p:cNvPicPr preferRelativeResize="0"/>
          <p:nvPr/>
        </p:nvPicPr>
        <p:blipFill rotWithShape="1">
          <a:blip r:embed="rId3">
            <a:alphaModFix/>
          </a:blip>
          <a:srcRect b="0" l="0" r="0" t="0"/>
          <a:stretch/>
        </p:blipFill>
        <p:spPr>
          <a:xfrm>
            <a:off x="4991801" y="1576067"/>
            <a:ext cx="6362000" cy="370586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6" name="Shape 176"/>
        <p:cNvGrpSpPr/>
        <p:nvPr/>
      </p:nvGrpSpPr>
      <p:grpSpPr>
        <a:xfrm>
          <a:off x="0" y="0"/>
          <a:ext cx="0" cy="0"/>
          <a:chOff x="0" y="0"/>
          <a:chExt cx="0" cy="0"/>
        </a:xfrm>
      </p:grpSpPr>
      <p:sp>
        <p:nvSpPr>
          <p:cNvPr id="177" name="Google Shape;177;p24"/>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8" name="Google Shape;178;p24"/>
          <p:cNvSpPr txBox="1"/>
          <p:nvPr>
            <p:ph type="title"/>
          </p:nvPr>
        </p:nvSpPr>
        <p:spPr>
          <a:xfrm>
            <a:off x="143627" y="458818"/>
            <a:ext cx="3785554" cy="911109"/>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4000"/>
              <a:buFont typeface="Calibri"/>
              <a:buNone/>
            </a:pPr>
            <a:r>
              <a:rPr lang="de-DE" sz="4000">
                <a:solidFill>
                  <a:schemeClr val="dk1"/>
                </a:solidFill>
                <a:latin typeface="Calibri"/>
                <a:ea typeface="Calibri"/>
                <a:cs typeface="Calibri"/>
                <a:sym typeface="Calibri"/>
              </a:rPr>
              <a:t>Fallbeispiel</a:t>
            </a:r>
            <a:endParaRPr/>
          </a:p>
        </p:txBody>
      </p:sp>
      <p:sp>
        <p:nvSpPr>
          <p:cNvPr id="179" name="Google Shape;179;p24"/>
          <p:cNvSpPr txBox="1"/>
          <p:nvPr/>
        </p:nvSpPr>
        <p:spPr>
          <a:xfrm>
            <a:off x="334859" y="2327918"/>
            <a:ext cx="3339519" cy="3116537"/>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None/>
            </a:pPr>
            <a:r>
              <a:rPr lang="de-DE" sz="2000">
                <a:solidFill>
                  <a:schemeClr val="dk1"/>
                </a:solidFill>
                <a:latin typeface="Calibri"/>
                <a:ea typeface="Calibri"/>
                <a:cs typeface="Calibri"/>
                <a:sym typeface="Calibri"/>
              </a:rPr>
              <a:t>Im Fallbeispiel wird eines der weltweit größten Einkaufszentren analysiert. Dieses bietet den Kunden ein vielfältiges Angebot an Einkaufs-, Unterhaltungs- und Essen/Getränke-Optionen.</a:t>
            </a:r>
            <a:endParaRPr/>
          </a:p>
        </p:txBody>
      </p:sp>
      <p:pic>
        <p:nvPicPr>
          <p:cNvPr descr="Ein Bild, das Tisch enthält.&#10;&#10;Automatisch generierte Beschreibung" id="180" name="Google Shape;180;p24"/>
          <p:cNvPicPr preferRelativeResize="0"/>
          <p:nvPr/>
        </p:nvPicPr>
        <p:blipFill rotWithShape="1">
          <a:blip r:embed="rId4">
            <a:alphaModFix/>
          </a:blip>
          <a:srcRect b="0" l="0" r="0" t="0"/>
          <a:stretch/>
        </p:blipFill>
        <p:spPr>
          <a:xfrm>
            <a:off x="3929181" y="1130417"/>
            <a:ext cx="7995072" cy="459716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4" name="Shape 184"/>
        <p:cNvGrpSpPr/>
        <p:nvPr/>
      </p:nvGrpSpPr>
      <p:grpSpPr>
        <a:xfrm>
          <a:off x="0" y="0"/>
          <a:ext cx="0" cy="0"/>
          <a:chOff x="0" y="0"/>
          <a:chExt cx="0" cy="0"/>
        </a:xfrm>
      </p:grpSpPr>
      <p:sp>
        <p:nvSpPr>
          <p:cNvPr id="185" name="Google Shape;185;p25"/>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 name="Google Shape;186;p25"/>
          <p:cNvSpPr txBox="1"/>
          <p:nvPr>
            <p:ph type="title"/>
          </p:nvPr>
        </p:nvSpPr>
        <p:spPr>
          <a:xfrm>
            <a:off x="841248" y="552289"/>
            <a:ext cx="3976496" cy="3700929"/>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5200"/>
              <a:buFont typeface="Calibri"/>
              <a:buNone/>
            </a:pPr>
            <a:r>
              <a:rPr lang="de-DE" sz="5200">
                <a:solidFill>
                  <a:schemeClr val="dk1"/>
                </a:solidFill>
                <a:latin typeface="Calibri"/>
                <a:ea typeface="Calibri"/>
                <a:cs typeface="Calibri"/>
                <a:sym typeface="Calibri"/>
              </a:rPr>
              <a:t>Pre-Service Period</a:t>
            </a:r>
            <a:endParaRPr/>
          </a:p>
        </p:txBody>
      </p:sp>
      <p:pic>
        <p:nvPicPr>
          <p:cNvPr descr="Ein Bild, das Tisch enthält.&#10;&#10;Automatisch generierte Beschreibung" id="187" name="Google Shape;187;p25"/>
          <p:cNvPicPr preferRelativeResize="0"/>
          <p:nvPr/>
        </p:nvPicPr>
        <p:blipFill rotWithShape="1">
          <a:blip r:embed="rId3">
            <a:alphaModFix/>
          </a:blip>
          <a:srcRect b="0" l="0" r="0" t="0"/>
          <a:stretch/>
        </p:blipFill>
        <p:spPr>
          <a:xfrm>
            <a:off x="5476198" y="295904"/>
            <a:ext cx="5874554" cy="6266192"/>
          </a:xfrm>
          <a:prstGeom prst="rect">
            <a:avLst/>
          </a:prstGeom>
          <a:noFill/>
          <a:ln>
            <a:noFill/>
          </a:ln>
        </p:spPr>
      </p:pic>
      <p:sp>
        <p:nvSpPr>
          <p:cNvPr id="188" name="Google Shape;188;p25"/>
          <p:cNvSpPr txBox="1"/>
          <p:nvPr/>
        </p:nvSpPr>
        <p:spPr>
          <a:xfrm>
            <a:off x="8445267" y="6595643"/>
            <a:ext cx="3073866" cy="24622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de-DE" sz="1000">
                <a:solidFill>
                  <a:schemeClr val="dk1"/>
                </a:solidFill>
                <a:latin typeface="Calibri"/>
                <a:ea typeface="Calibri"/>
                <a:cs typeface="Calibri"/>
                <a:sym typeface="Calibri"/>
              </a:rPr>
              <a:t>[Rosenbaumet al.2017]</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2" name="Shape 192"/>
        <p:cNvGrpSpPr/>
        <p:nvPr/>
      </p:nvGrpSpPr>
      <p:grpSpPr>
        <a:xfrm>
          <a:off x="0" y="0"/>
          <a:ext cx="0" cy="0"/>
          <a:chOff x="0" y="0"/>
          <a:chExt cx="0" cy="0"/>
        </a:xfrm>
      </p:grpSpPr>
      <p:sp>
        <p:nvSpPr>
          <p:cNvPr id="193" name="Google Shape;193;p26"/>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26"/>
          <p:cNvSpPr txBox="1"/>
          <p:nvPr>
            <p:ph type="title"/>
          </p:nvPr>
        </p:nvSpPr>
        <p:spPr>
          <a:xfrm>
            <a:off x="838199" y="537883"/>
            <a:ext cx="4783697" cy="194281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4000"/>
              <a:buFont typeface="Calibri"/>
              <a:buNone/>
            </a:pPr>
            <a:r>
              <a:rPr lang="de-DE" sz="4000"/>
              <a:t>Vorteile für Unternehmen</a:t>
            </a:r>
            <a:endParaRPr sz="4000"/>
          </a:p>
        </p:txBody>
      </p:sp>
      <p:sp>
        <p:nvSpPr>
          <p:cNvPr id="195" name="Google Shape;195;p26"/>
          <p:cNvSpPr txBox="1"/>
          <p:nvPr>
            <p:ph idx="1" type="body"/>
          </p:nvPr>
        </p:nvSpPr>
        <p:spPr>
          <a:xfrm>
            <a:off x="838199" y="2660516"/>
            <a:ext cx="4783697" cy="3433583"/>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Char char="•"/>
            </a:pPr>
            <a:r>
              <a:rPr lang="de-DE" sz="2000">
                <a:latin typeface="Arial"/>
                <a:ea typeface="Arial"/>
                <a:cs typeface="Arial"/>
                <a:sym typeface="Arial"/>
              </a:rPr>
              <a:t>Kundengetriebener Designprozess</a:t>
            </a:r>
            <a:endParaRPr/>
          </a:p>
          <a:p>
            <a:pPr indent="-228600" lvl="0" marL="228600" rtl="0" algn="l">
              <a:lnSpc>
                <a:spcPct val="90000"/>
              </a:lnSpc>
              <a:spcBef>
                <a:spcPts val="1000"/>
              </a:spcBef>
              <a:spcAft>
                <a:spcPts val="0"/>
              </a:spcAft>
              <a:buClr>
                <a:schemeClr val="dk1"/>
              </a:buClr>
              <a:buSzPts val="2000"/>
              <a:buChar char="•"/>
            </a:pPr>
            <a:r>
              <a:rPr lang="de-DE" sz="2000">
                <a:latin typeface="Arial"/>
                <a:ea typeface="Arial"/>
                <a:cs typeface="Arial"/>
                <a:sym typeface="Arial"/>
              </a:rPr>
              <a:t>Sehr flexibel einsetzbar</a:t>
            </a:r>
            <a:endParaRPr/>
          </a:p>
          <a:p>
            <a:pPr indent="-228600" lvl="0" marL="228600" rtl="0" algn="l">
              <a:lnSpc>
                <a:spcPct val="90000"/>
              </a:lnSpc>
              <a:spcBef>
                <a:spcPts val="1000"/>
              </a:spcBef>
              <a:spcAft>
                <a:spcPts val="0"/>
              </a:spcAft>
              <a:buClr>
                <a:schemeClr val="dk1"/>
              </a:buClr>
              <a:buSzPts val="2000"/>
              <a:buChar char="•"/>
            </a:pPr>
            <a:r>
              <a:rPr lang="de-DE" sz="2000">
                <a:latin typeface="Arial"/>
                <a:ea typeface="Arial"/>
                <a:cs typeface="Arial"/>
                <a:sym typeface="Arial"/>
              </a:rPr>
              <a:t>CJMs ermöglichen ein besseres Verständnis für die Komplexität des Produkt-Ökosystems</a:t>
            </a:r>
            <a:endParaRPr/>
          </a:p>
          <a:p>
            <a:pPr indent="-228600" lvl="0" marL="228600" rtl="0" algn="l">
              <a:lnSpc>
                <a:spcPct val="90000"/>
              </a:lnSpc>
              <a:spcBef>
                <a:spcPts val="1000"/>
              </a:spcBef>
              <a:spcAft>
                <a:spcPts val="0"/>
              </a:spcAft>
              <a:buClr>
                <a:schemeClr val="dk1"/>
              </a:buClr>
              <a:buSzPts val="2000"/>
              <a:buChar char="•"/>
            </a:pPr>
            <a:r>
              <a:rPr lang="de-DE" sz="2000">
                <a:latin typeface="Arial"/>
                <a:ea typeface="Arial"/>
                <a:cs typeface="Arial"/>
                <a:sym typeface="Arial"/>
              </a:rPr>
              <a:t>Durch die Einbeziehung der Emotionen und Denkprozesse der tatsächlichen Kunden kann die Analyse über die übliche Analyse quantitativer Daten hinausgehen</a:t>
            </a:r>
            <a:endParaRPr/>
          </a:p>
        </p:txBody>
      </p:sp>
      <p:pic>
        <p:nvPicPr>
          <p:cNvPr id="196" name="Google Shape;196;p26"/>
          <p:cNvPicPr preferRelativeResize="0"/>
          <p:nvPr/>
        </p:nvPicPr>
        <p:blipFill rotWithShape="1">
          <a:blip r:embed="rId3">
            <a:alphaModFix/>
          </a:blip>
          <a:srcRect b="0" l="0" r="0" t="0"/>
          <a:stretch/>
        </p:blipFill>
        <p:spPr>
          <a:xfrm>
            <a:off x="5988424" y="1759521"/>
            <a:ext cx="5365375" cy="313874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0" name="Shape 200"/>
        <p:cNvGrpSpPr/>
        <p:nvPr/>
      </p:nvGrpSpPr>
      <p:grpSpPr>
        <a:xfrm>
          <a:off x="0" y="0"/>
          <a:ext cx="0" cy="0"/>
          <a:chOff x="0" y="0"/>
          <a:chExt cx="0" cy="0"/>
        </a:xfrm>
      </p:grpSpPr>
      <p:sp>
        <p:nvSpPr>
          <p:cNvPr id="201" name="Google Shape;201;p27"/>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27"/>
          <p:cNvSpPr txBox="1"/>
          <p:nvPr>
            <p:ph type="title"/>
          </p:nvPr>
        </p:nvSpPr>
        <p:spPr>
          <a:xfrm>
            <a:off x="838199" y="537883"/>
            <a:ext cx="4783697" cy="194281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4000"/>
              <a:buFont typeface="Calibri"/>
              <a:buNone/>
            </a:pPr>
            <a:r>
              <a:rPr lang="de-DE" sz="4000"/>
              <a:t>Vorteile für Kunden</a:t>
            </a:r>
            <a:endParaRPr/>
          </a:p>
        </p:txBody>
      </p:sp>
      <p:sp>
        <p:nvSpPr>
          <p:cNvPr id="203" name="Google Shape;203;p27"/>
          <p:cNvSpPr txBox="1"/>
          <p:nvPr>
            <p:ph idx="1" type="body"/>
          </p:nvPr>
        </p:nvSpPr>
        <p:spPr>
          <a:xfrm>
            <a:off x="838199" y="2686323"/>
            <a:ext cx="4783697" cy="3433583"/>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000"/>
              <a:buChar char="•"/>
            </a:pPr>
            <a:r>
              <a:rPr lang="de-DE" sz="2000"/>
              <a:t>Starke Einflussmöglichkeit des Kunden auf das Produkt</a:t>
            </a:r>
            <a:endParaRPr/>
          </a:p>
          <a:p>
            <a:pPr indent="0" lvl="0" marL="0" rtl="0" algn="l">
              <a:lnSpc>
                <a:spcPct val="90000"/>
              </a:lnSpc>
              <a:spcBef>
                <a:spcPts val="1000"/>
              </a:spcBef>
              <a:spcAft>
                <a:spcPts val="0"/>
              </a:spcAft>
              <a:buClr>
                <a:schemeClr val="dk1"/>
              </a:buClr>
              <a:buSzPts val="2000"/>
              <a:buNone/>
            </a:pPr>
            <a:r>
              <a:t/>
            </a:r>
            <a:endParaRPr sz="2000"/>
          </a:p>
          <a:p>
            <a:pPr indent="-228600" lvl="0" marL="228600" rtl="0" algn="l">
              <a:lnSpc>
                <a:spcPct val="90000"/>
              </a:lnSpc>
              <a:spcBef>
                <a:spcPts val="1000"/>
              </a:spcBef>
              <a:spcAft>
                <a:spcPts val="0"/>
              </a:spcAft>
              <a:buClr>
                <a:schemeClr val="dk1"/>
              </a:buClr>
              <a:buSzPts val="2000"/>
              <a:buChar char="•"/>
            </a:pPr>
            <a:r>
              <a:rPr lang="de-DE" sz="2000"/>
              <a:t>Auch individuelle Ansichten oder Emotionen des Kunden im Bezug auf das Produkt werden durch die ethnographischen Methoden berücksichtigt</a:t>
            </a:r>
            <a:endParaRPr/>
          </a:p>
        </p:txBody>
      </p:sp>
      <p:pic>
        <p:nvPicPr>
          <p:cNvPr id="204" name="Google Shape;204;p27"/>
          <p:cNvPicPr preferRelativeResize="0"/>
          <p:nvPr/>
        </p:nvPicPr>
        <p:blipFill rotWithShape="1">
          <a:blip r:embed="rId3">
            <a:alphaModFix/>
          </a:blip>
          <a:srcRect b="0" l="0" r="0" t="0"/>
          <a:stretch/>
        </p:blipFill>
        <p:spPr>
          <a:xfrm>
            <a:off x="5988424" y="1759521"/>
            <a:ext cx="5365375" cy="31387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8" name="Shape 208"/>
        <p:cNvGrpSpPr/>
        <p:nvPr/>
      </p:nvGrpSpPr>
      <p:grpSpPr>
        <a:xfrm>
          <a:off x="0" y="0"/>
          <a:ext cx="0" cy="0"/>
          <a:chOff x="0" y="0"/>
          <a:chExt cx="0" cy="0"/>
        </a:xfrm>
      </p:grpSpPr>
      <p:sp>
        <p:nvSpPr>
          <p:cNvPr id="209" name="Google Shape;209;p28"/>
          <p:cNvSpPr txBox="1"/>
          <p:nvPr>
            <p:ph type="title"/>
          </p:nvPr>
        </p:nvSpPr>
        <p:spPr>
          <a:xfrm>
            <a:off x="645859" y="640081"/>
            <a:ext cx="3494341" cy="1457167"/>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2800"/>
              <a:buFont typeface="Calibri"/>
              <a:buNone/>
            </a:pPr>
            <a:r>
              <a:rPr lang="de-DE" sz="4600">
                <a:solidFill>
                  <a:schemeClr val="dk1"/>
                </a:solidFill>
                <a:latin typeface="Calibri"/>
                <a:ea typeface="Calibri"/>
                <a:cs typeface="Calibri"/>
                <a:sym typeface="Calibri"/>
              </a:rPr>
              <a:t>Schlusswort</a:t>
            </a:r>
            <a:endParaRPr sz="4600">
              <a:solidFill>
                <a:schemeClr val="dk1"/>
              </a:solidFill>
              <a:latin typeface="Calibri"/>
              <a:ea typeface="Calibri"/>
              <a:cs typeface="Calibri"/>
              <a:sym typeface="Calibri"/>
            </a:endParaRPr>
          </a:p>
        </p:txBody>
      </p:sp>
      <p:sp>
        <p:nvSpPr>
          <p:cNvPr id="210" name="Google Shape;210;p28"/>
          <p:cNvSpPr txBox="1"/>
          <p:nvPr>
            <p:ph idx="1" type="body"/>
          </p:nvPr>
        </p:nvSpPr>
        <p:spPr>
          <a:xfrm>
            <a:off x="645859" y="2978091"/>
            <a:ext cx="3494342" cy="1645921"/>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1000"/>
              </a:spcBef>
              <a:spcAft>
                <a:spcPts val="1600"/>
              </a:spcAft>
              <a:buClr>
                <a:schemeClr val="dk1"/>
              </a:buClr>
              <a:buSzPts val="1800"/>
              <a:buNone/>
            </a:pPr>
            <a:r>
              <a:rPr lang="de-DE" sz="2200">
                <a:solidFill>
                  <a:schemeClr val="dk1"/>
                </a:solidFill>
                <a:latin typeface="Calibri"/>
                <a:ea typeface="Calibri"/>
                <a:cs typeface="Calibri"/>
                <a:sym typeface="Calibri"/>
              </a:rPr>
              <a:t>Umfrage zeigt Interesse an Kundendaten insbesondere bei Unternehmen mit Digitalem Fokus. </a:t>
            </a:r>
            <a:endParaRPr/>
          </a:p>
        </p:txBody>
      </p:sp>
      <p:sp>
        <p:nvSpPr>
          <p:cNvPr id="211" name="Google Shape;211;p28"/>
          <p:cNvSpPr/>
          <p:nvPr/>
        </p:nvSpPr>
        <p:spPr>
          <a:xfrm>
            <a:off x="4625926" y="0"/>
            <a:ext cx="7566074" cy="6858000"/>
          </a:xfrm>
          <a:prstGeom prst="rect">
            <a:avLst/>
          </a:prstGeom>
          <a:solidFill>
            <a:srgbClr val="C8CAC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Calibri"/>
              <a:buNone/>
            </a:pPr>
            <a:r>
              <a:t/>
            </a:r>
            <a:endParaRPr b="0" i="0" sz="1800" u="none" cap="none" strike="noStrike">
              <a:solidFill>
                <a:srgbClr val="FFFFFF"/>
              </a:solidFill>
              <a:latin typeface="Calibri"/>
              <a:ea typeface="Calibri"/>
              <a:cs typeface="Calibri"/>
              <a:sym typeface="Calibri"/>
            </a:endParaRPr>
          </a:p>
        </p:txBody>
      </p:sp>
      <p:sp>
        <p:nvSpPr>
          <p:cNvPr id="212" name="Google Shape;212;p28"/>
          <p:cNvSpPr/>
          <p:nvPr/>
        </p:nvSpPr>
        <p:spPr>
          <a:xfrm>
            <a:off x="5275903" y="640091"/>
            <a:ext cx="6266120" cy="5577818"/>
          </a:xfrm>
          <a:prstGeom prst="roundRect">
            <a:avLst>
              <a:gd fmla="val 0" name="adj"/>
            </a:avLst>
          </a:prstGeom>
          <a:solidFill>
            <a:srgbClr val="FFFFFF"/>
          </a:solidFill>
          <a:ln cap="flat" cmpd="sng" w="9525">
            <a:solidFill>
              <a:srgbClr val="C8CACA"/>
            </a:solidFill>
            <a:prstDash val="solid"/>
            <a:miter lim="800000"/>
            <a:headEnd len="sm" w="sm" type="none"/>
            <a:tailEnd len="sm" w="sm" type="none"/>
          </a:ln>
          <a:effectLst>
            <a:outerShdw blurRad="57150" rotWithShape="0" algn="t" dir="5400000" dist="19050">
              <a:srgbClr val="000000">
                <a:alpha val="62745"/>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lt1"/>
              </a:buClr>
              <a:buSzPts val="1800"/>
              <a:buFont typeface="Calibri"/>
              <a:buNone/>
            </a:pPr>
            <a:r>
              <a:t/>
            </a:r>
            <a:endParaRPr b="0" i="0" sz="1800" u="none" cap="none" strike="noStrike">
              <a:solidFill>
                <a:srgbClr val="FFFFFF"/>
              </a:solidFill>
              <a:latin typeface="Calibri"/>
              <a:ea typeface="Calibri"/>
              <a:cs typeface="Calibri"/>
              <a:sym typeface="Calibri"/>
            </a:endParaRPr>
          </a:p>
        </p:txBody>
      </p:sp>
      <p:pic>
        <p:nvPicPr>
          <p:cNvPr id="213" name="Google Shape;213;p28"/>
          <p:cNvPicPr preferRelativeResize="0"/>
          <p:nvPr/>
        </p:nvPicPr>
        <p:blipFill rotWithShape="1">
          <a:blip r:embed="rId3">
            <a:alphaModFix/>
          </a:blip>
          <a:srcRect b="0" l="0" r="0" t="0"/>
          <a:stretch/>
        </p:blipFill>
        <p:spPr>
          <a:xfrm>
            <a:off x="5441735" y="1181325"/>
            <a:ext cx="5934456" cy="4495350"/>
          </a:xfrm>
          <a:prstGeom prst="rect">
            <a:avLst/>
          </a:prstGeom>
          <a:noFill/>
          <a:ln>
            <a:noFill/>
          </a:ln>
        </p:spPr>
      </p:pic>
      <p:sp>
        <p:nvSpPr>
          <p:cNvPr id="214" name="Google Shape;214;p28"/>
          <p:cNvSpPr txBox="1"/>
          <p:nvPr/>
        </p:nvSpPr>
        <p:spPr>
          <a:xfrm>
            <a:off x="3046133" y="420733"/>
            <a:ext cx="4846800" cy="615513"/>
          </a:xfrm>
          <a:prstGeom prst="rect">
            <a:avLst/>
          </a:prstGeom>
          <a:noFill/>
          <a:ln>
            <a:noFill/>
          </a:ln>
        </p:spPr>
        <p:txBody>
          <a:bodyPr anchorCtr="0" anchor="t" bIns="121900" lIns="121900" spcFirstLastPara="1" rIns="121900" wrap="square" tIns="121900">
            <a:spAutoFit/>
          </a:bodyPr>
          <a:lstStyle/>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de-DE"/>
              <a:t>Literaturquellen</a:t>
            </a:r>
            <a:endParaRPr/>
          </a:p>
        </p:txBody>
      </p:sp>
      <p:sp>
        <p:nvSpPr>
          <p:cNvPr id="220" name="Google Shape;220;p2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1100"/>
              <a:buNone/>
            </a:pPr>
            <a:r>
              <a:rPr lang="de-DE" sz="1100">
                <a:latin typeface="Arial"/>
                <a:ea typeface="Arial"/>
                <a:cs typeface="Arial"/>
                <a:sym typeface="Arial"/>
              </a:rPr>
              <a:t>Mucz, D. and Gareau-Brennan, C.Evaluating Customer Experience through Customer Journey Map-ping and Service Blueprinting at Edmonton Public Library: An Exploratory Study.Partnership:The Canadian Journal of Library and Information Practice and Research, 14(1), May 2019.</a:t>
            </a:r>
            <a:endParaRPr/>
          </a:p>
          <a:p>
            <a:pPr indent="0" lvl="0" marL="0" rtl="0" algn="l">
              <a:lnSpc>
                <a:spcPct val="90000"/>
              </a:lnSpc>
              <a:spcBef>
                <a:spcPts val="1000"/>
              </a:spcBef>
              <a:spcAft>
                <a:spcPts val="0"/>
              </a:spcAft>
              <a:buClr>
                <a:srgbClr val="000000"/>
              </a:buClr>
              <a:buSzPts val="1100"/>
              <a:buNone/>
            </a:pPr>
            <a:r>
              <a:rPr b="0" i="0" lang="de-DE" sz="1100">
                <a:solidFill>
                  <a:srgbClr val="000000"/>
                </a:solidFill>
                <a:latin typeface="Arial"/>
                <a:ea typeface="Arial"/>
                <a:cs typeface="Arial"/>
                <a:sym typeface="Arial"/>
              </a:rPr>
              <a:t>Institut der deutschen Wirtschaft Datenwirtschaft   in   Deutschland   -   Wo   stehen die  Unternehmen  in  der  Datennutzung  und  was  sind  ihre  großen  Hemmnisse?.https://bdi.eu/publikation/news/datenwirtschaft-in-deutschland/, 2021.</a:t>
            </a:r>
            <a:endParaRPr sz="1100">
              <a:solidFill>
                <a:srgbClr val="000000"/>
              </a:solidFill>
              <a:latin typeface="Arial"/>
              <a:ea typeface="Arial"/>
              <a:cs typeface="Arial"/>
              <a:sym typeface="Arial"/>
            </a:endParaRPr>
          </a:p>
          <a:p>
            <a:pPr indent="0" lvl="0" marL="0" rtl="0" algn="l">
              <a:lnSpc>
                <a:spcPct val="90000"/>
              </a:lnSpc>
              <a:spcBef>
                <a:spcPts val="1000"/>
              </a:spcBef>
              <a:spcAft>
                <a:spcPts val="0"/>
              </a:spcAft>
              <a:buClr>
                <a:schemeClr val="dk1"/>
              </a:buClr>
              <a:buSzPts val="1100"/>
              <a:buNone/>
            </a:pPr>
            <a:r>
              <a:rPr b="0" i="0" lang="de-DE" sz="1100">
                <a:latin typeface="Arial"/>
                <a:ea typeface="Arial"/>
                <a:cs typeface="Arial"/>
                <a:sym typeface="Arial"/>
              </a:rPr>
              <a:t>Haugstveit, I., Halvorsrud, R. and Karahasanovic, A. Supporting redesign of C2C services through customer journey mapping. In N. Morelli, A. de Gotzen and F. Grani, eds.,Service Design Ge-ographies. Proceedings of the ServDes2016 Conference, Linkoping Electronic Conference Pro-ceedings, Linkoping University Electronic Press, 05 2016, pp. 215 – 227.</a:t>
            </a:r>
            <a:endParaRPr/>
          </a:p>
          <a:p>
            <a:pPr indent="0" lvl="0" marL="0" rtl="0" algn="l">
              <a:lnSpc>
                <a:spcPct val="90000"/>
              </a:lnSpc>
              <a:spcBef>
                <a:spcPts val="1000"/>
              </a:spcBef>
              <a:spcAft>
                <a:spcPts val="0"/>
              </a:spcAft>
              <a:buClr>
                <a:srgbClr val="000000"/>
              </a:buClr>
              <a:buSzPts val="1100"/>
              <a:buNone/>
            </a:pPr>
            <a:r>
              <a:rPr b="0" i="0" lang="de-DE" sz="1100">
                <a:solidFill>
                  <a:srgbClr val="000000"/>
                </a:solidFill>
                <a:latin typeface="Arial"/>
                <a:ea typeface="Arial"/>
                <a:cs typeface="Arial"/>
                <a:sym typeface="Arial"/>
              </a:rPr>
              <a:t>Institut der deutschen Wirtschaft: Datenwirtschaft in Deutschland - Wo stehen die Unternehmen in der Datennutzung und was sind ihre größten Hemmnisse? 2021</a:t>
            </a:r>
            <a:endParaRPr/>
          </a:p>
          <a:p>
            <a:pPr indent="0" lvl="0" marL="0" rtl="0" algn="l">
              <a:lnSpc>
                <a:spcPct val="90000"/>
              </a:lnSpc>
              <a:spcBef>
                <a:spcPts val="1000"/>
              </a:spcBef>
              <a:spcAft>
                <a:spcPts val="0"/>
              </a:spcAft>
              <a:buClr>
                <a:srgbClr val="000000"/>
              </a:buClr>
              <a:buSzPts val="1100"/>
              <a:buNone/>
            </a:pPr>
            <a:r>
              <a:rPr b="0" i="0" lang="de-DE" sz="1100">
                <a:solidFill>
                  <a:srgbClr val="000000"/>
                </a:solidFill>
                <a:latin typeface="Arial"/>
                <a:ea typeface="Arial"/>
                <a:cs typeface="Arial"/>
                <a:sym typeface="Arial"/>
              </a:rPr>
              <a:t>Rosenbaum, M. S., Otalora, M. L. and Ramirez, G. C.How to create a realistic customer journeymap.Business Horizons, 60(1), 2017: pp.  143–150.</a:t>
            </a:r>
            <a:endParaRPr b="0" i="0" sz="1100">
              <a:solidFill>
                <a:srgbClr val="000000"/>
              </a:solidFill>
              <a:latin typeface="Arial"/>
              <a:ea typeface="Arial"/>
              <a:cs typeface="Arial"/>
              <a:sym typeface="Arial"/>
            </a:endParaRPr>
          </a:p>
          <a:p>
            <a:pPr indent="0" lvl="0" marL="0" rtl="0" algn="l">
              <a:lnSpc>
                <a:spcPct val="90000"/>
              </a:lnSpc>
              <a:spcBef>
                <a:spcPts val="1000"/>
              </a:spcBef>
              <a:spcAft>
                <a:spcPts val="0"/>
              </a:spcAft>
              <a:buClr>
                <a:srgbClr val="000000"/>
              </a:buClr>
              <a:buSzPts val="1100"/>
              <a:buNone/>
            </a:pPr>
            <a:r>
              <a:rPr lang="de-DE" sz="1150">
                <a:highlight>
                  <a:srgbClr val="FFFFFF"/>
                </a:highlight>
                <a:latin typeface="Georgia"/>
                <a:ea typeface="Georgia"/>
                <a:cs typeface="Georgia"/>
                <a:sym typeface="Georgia"/>
              </a:rPr>
              <a:t>Mucz, D., and C. Gareau-Brennan. “Evaluating Customer Experience through Customer Journey Mapping and Service Blueprinting at Edmonton Public Library: An Exploratory Study”. </a:t>
            </a:r>
            <a:r>
              <a:rPr i="1" lang="de-DE" sz="1150">
                <a:highlight>
                  <a:srgbClr val="FFFFFF"/>
                </a:highlight>
                <a:latin typeface="Georgia"/>
                <a:ea typeface="Georgia"/>
                <a:cs typeface="Georgia"/>
                <a:sym typeface="Georgia"/>
              </a:rPr>
              <a:t>Partnership: The Canadian Journal of Library and Information Practice and Research</a:t>
            </a:r>
            <a:r>
              <a:rPr lang="de-DE" sz="1150">
                <a:highlight>
                  <a:srgbClr val="FFFFFF"/>
                </a:highlight>
                <a:latin typeface="Georgia"/>
                <a:ea typeface="Georgia"/>
                <a:cs typeface="Georgia"/>
                <a:sym typeface="Georgia"/>
              </a:rPr>
              <a:t>, vol. 14, no. 1, May 2019,</a:t>
            </a:r>
            <a:br>
              <a:rPr b="0" i="0" lang="de-DE" sz="1100">
                <a:solidFill>
                  <a:srgbClr val="000000"/>
                </a:solidFill>
                <a:latin typeface="Arial"/>
                <a:ea typeface="Arial"/>
                <a:cs typeface="Arial"/>
                <a:sym typeface="Arial"/>
              </a:rPr>
            </a:br>
            <a:endParaRPr sz="11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3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de-DE"/>
              <a:t>Bilderquellen</a:t>
            </a:r>
            <a:endParaRPr/>
          </a:p>
        </p:txBody>
      </p:sp>
      <p:sp>
        <p:nvSpPr>
          <p:cNvPr id="227" name="Google Shape;227;p30"/>
          <p:cNvSpPr txBox="1"/>
          <p:nvPr/>
        </p:nvSpPr>
        <p:spPr>
          <a:xfrm>
            <a:off x="478172" y="1862356"/>
            <a:ext cx="11559900" cy="535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1: https://www.digitalradar-muensterland.de/eine-customer-journey-map-erstellen/, Zugriff: 04.06.21</a:t>
            </a:r>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3: https://miro.com/guides/customer-journey-mapping/ Zugriff: 04.06.21</a:t>
            </a:r>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4: http://blog.clickdimensions.com/how-to-create-a-customer-journey-map-and-why-you-need-one/ Zugriff: 04.06.21</a:t>
            </a:r>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5: https://uxstudioteam.com/ux-blog/ethnographic-research/ Zugriff: 04.06.21</a:t>
            </a:r>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14: https://de.freepik.com/vektoren-kostenlos/junge-leute-stehen-und-reden-miteinander-sprachblase-smartphone-flache-vektorillustration-des-maedchens-kommunikation-und-diskussion_10174094.htm#page=1&amp;query=Diskussion&amp;position=0 Zugriff: 06.06.21</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9: </a:t>
            </a:r>
            <a:r>
              <a:rPr lang="de-DE" sz="1800" u="sng">
                <a:solidFill>
                  <a:schemeClr val="hlink"/>
                </a:solidFill>
                <a:latin typeface="Calibri"/>
                <a:ea typeface="Calibri"/>
                <a:cs typeface="Calibri"/>
                <a:sym typeface="Calibri"/>
                <a:hlinkClick r:id="rId3"/>
              </a:rPr>
              <a:t>https://www.istockphoto.com/de/vektor/gear-vektor-symbol-im-comic-stil-zahnrad-cartoon-illustration-auf-wei%C3%9Fem-gm1158099877-316232227</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8 1: </a:t>
            </a:r>
            <a:r>
              <a:rPr lang="de-DE" sz="1800">
                <a:solidFill>
                  <a:schemeClr val="dk1"/>
                </a:solidFill>
                <a:latin typeface="Calibri"/>
                <a:ea typeface="Calibri"/>
                <a:cs typeface="Calibri"/>
                <a:sym typeface="Calibri"/>
              </a:rPr>
              <a:t>https://www.staerkundstaerk.de/wp-content/uploads/2014/01/Customer-Journey-by-Lego.jpg</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rPr lang="de-DE" sz="1800">
                <a:solidFill>
                  <a:schemeClr val="dk1"/>
                </a:solidFill>
                <a:latin typeface="Calibri"/>
                <a:ea typeface="Calibri"/>
                <a:cs typeface="Calibri"/>
                <a:sym typeface="Calibri"/>
              </a:rPr>
              <a:t>Bild folie 8 2: https://wearedrivedigital.de/wp-content/uploads/2019/07/starbucks-customer-journey-map-example-768x618-copy.jpg</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1" name="Shape 231"/>
        <p:cNvGrpSpPr/>
        <p:nvPr/>
      </p:nvGrpSpPr>
      <p:grpSpPr>
        <a:xfrm>
          <a:off x="0" y="0"/>
          <a:ext cx="0" cy="0"/>
          <a:chOff x="0" y="0"/>
          <a:chExt cx="0" cy="0"/>
        </a:xfrm>
      </p:grpSpPr>
      <p:sp>
        <p:nvSpPr>
          <p:cNvPr id="232" name="Google Shape;232;p31"/>
          <p:cNvSpPr/>
          <p:nvPr/>
        </p:nvSpPr>
        <p:spPr>
          <a:xfrm>
            <a:off x="-1" y="0"/>
            <a:ext cx="12188952"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3" name="Google Shape;233;p31"/>
          <p:cNvSpPr txBox="1"/>
          <p:nvPr>
            <p:ph type="title"/>
          </p:nvPr>
        </p:nvSpPr>
        <p:spPr>
          <a:xfrm>
            <a:off x="838200" y="365125"/>
            <a:ext cx="10515600" cy="130644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000"/>
              <a:buFont typeface="Calibri"/>
              <a:buNone/>
            </a:pPr>
            <a:r>
              <a:rPr lang="de-DE" sz="4000"/>
              <a:t>Diskussion</a:t>
            </a:r>
            <a:endParaRPr/>
          </a:p>
        </p:txBody>
      </p:sp>
      <p:sp>
        <p:nvSpPr>
          <p:cNvPr id="234" name="Google Shape;234;p31"/>
          <p:cNvSpPr txBox="1"/>
          <p:nvPr>
            <p:ph idx="1" type="body"/>
          </p:nvPr>
        </p:nvSpPr>
        <p:spPr>
          <a:xfrm>
            <a:off x="838200" y="2667699"/>
            <a:ext cx="4152774" cy="2885813"/>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lang="de-DE" sz="2000"/>
              <a:t>Welche Vor- bzw. Nachteile seht ihr bei der Nutzung von CJMs im Hinblick auf Design Thinking? </a:t>
            </a:r>
            <a:endParaRPr/>
          </a:p>
          <a:p>
            <a:pPr indent="0" lvl="0" marL="0" rtl="0" algn="l">
              <a:lnSpc>
                <a:spcPct val="90000"/>
              </a:lnSpc>
              <a:spcBef>
                <a:spcPts val="1000"/>
              </a:spcBef>
              <a:spcAft>
                <a:spcPts val="0"/>
              </a:spcAft>
              <a:buClr>
                <a:schemeClr val="dk1"/>
              </a:buClr>
              <a:buSzPts val="2000"/>
              <a:buNone/>
            </a:pPr>
            <a:r>
              <a:t/>
            </a:r>
            <a:endParaRPr sz="2000"/>
          </a:p>
        </p:txBody>
      </p:sp>
      <p:pic>
        <p:nvPicPr>
          <p:cNvPr descr="Ein Bild, das Text enthält.&#10;&#10;Automatisch generierte Beschreibung" id="235" name="Google Shape;235;p31"/>
          <p:cNvPicPr preferRelativeResize="0"/>
          <p:nvPr/>
        </p:nvPicPr>
        <p:blipFill rotWithShape="1">
          <a:blip r:embed="rId3">
            <a:alphaModFix/>
          </a:blip>
          <a:srcRect b="1" l="4333" r="11689" t="0"/>
          <a:stretch/>
        </p:blipFill>
        <p:spPr>
          <a:xfrm>
            <a:off x="5183500" y="1904282"/>
            <a:ext cx="6170299" cy="422480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